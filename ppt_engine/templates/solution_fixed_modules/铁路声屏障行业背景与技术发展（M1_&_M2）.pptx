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7891109" y="285750"/>
            <a:ext cx="824266" cy="342900"/>
          </a:xfrm>
          <a:prstGeom prst="rect">
            <a:avLst/>
          </a:prstGeom>
        </p:spPr>
      </p:pic>
      <p:sp>
        <p:nvSpPr>
          <p:cNvPr id="4" name="Text 0"/>
          <p:cNvSpPr/>
          <p:nvPr/>
        </p:nvSpPr>
        <p:spPr>
          <a:xfrm>
            <a:off x="1421606" y="1625203"/>
            <a:ext cx="6300788" cy="662583"/>
          </a:xfrm>
          <a:prstGeom prst="rect">
            <a:avLst/>
          </a:prstGeom>
          <a:noFill/>
          <a:ln/>
        </p:spPr>
        <p:txBody>
          <a:bodyPr wrap="square" lIns="0" tIns="0" rIns="0" bIns="0" rtlCol="0" anchor="t">
            <a:spAutoFit/>
          </a:bodyPr>
          <a:lstStyle/>
          <a:p>
            <a:pPr algn="ctr" indent="0" marL="0">
              <a:buNone/>
            </a:pPr>
            <a:r>
              <a:rPr lang="en-US" sz="3300" b="1" spc="-1" kern="0" dirty="0">
                <a:solidFill>
                  <a:srgbClr val="1565C0"/>
                </a:solidFill>
                <a:latin typeface="Noto Sans SC Black" pitchFamily="34" charset="0"/>
                <a:ea typeface="Noto Sans SC Black" pitchFamily="34" charset="-122"/>
                <a:cs typeface="Noto Sans SC Black" pitchFamily="34" charset="-120"/>
              </a:rPr>
              <a:t>铁路声屏障行业背景与技术发展</a:t>
            </a:r>
            <a:endParaRPr lang="en-US" sz="3300" dirty="0"/>
          </a:p>
        </p:txBody>
      </p:sp>
      <p:sp>
        <p:nvSpPr>
          <p:cNvPr id="5" name="Text 1"/>
          <p:cNvSpPr/>
          <p:nvPr/>
        </p:nvSpPr>
        <p:spPr>
          <a:xfrm>
            <a:off x="1421606" y="2430661"/>
            <a:ext cx="6300788" cy="330398"/>
          </a:xfrm>
          <a:prstGeom prst="rect">
            <a:avLst/>
          </a:prstGeom>
          <a:noFill/>
          <a:ln/>
        </p:spPr>
        <p:txBody>
          <a:bodyPr wrap="square" lIns="0" tIns="0" rIns="0" bIns="0" rtlCol="0" anchor="t">
            <a:spAutoFit/>
          </a:bodyPr>
          <a:lstStyle/>
          <a:p>
            <a:pPr algn="ctr" indent="0" marL="0">
              <a:buNone/>
            </a:pPr>
            <a:r>
              <a:rPr lang="en-US" sz="1700" dirty="0">
                <a:solidFill>
                  <a:srgbClr val="1A3A6B"/>
                </a:solidFill>
                <a:latin typeface="Noto Sans SC Medium" pitchFamily="34" charset="0"/>
                <a:ea typeface="Noto Sans SC Medium" pitchFamily="34" charset="-122"/>
                <a:cs typeface="Noto Sans SC Medium" pitchFamily="34" charset="-120"/>
              </a:rPr>
              <a:t>技术发展历程 · 结构形式 · 标准与产品</a:t>
            </a:r>
            <a:endParaRPr lang="en-US" sz="1700" dirty="0"/>
          </a:p>
        </p:txBody>
      </p:sp>
      <p:sp>
        <p:nvSpPr>
          <p:cNvPr id="6" name="Shape 2"/>
          <p:cNvSpPr/>
          <p:nvPr/>
        </p:nvSpPr>
        <p:spPr>
          <a:xfrm>
            <a:off x="0" y="4143375"/>
            <a:ext cx="9144000" cy="1000125"/>
          </a:xfrm>
          <a:prstGeom prst="rect">
            <a:avLst/>
          </a:prstGeom>
          <a:solidFill>
            <a:srgbClr val="1A3A6B"/>
          </a:solidFill>
          <a:ln/>
        </p:spPr>
      </p:sp>
      <p:sp>
        <p:nvSpPr>
          <p:cNvPr id="7" name="Text 3"/>
          <p:cNvSpPr/>
          <p:nvPr/>
        </p:nvSpPr>
        <p:spPr>
          <a:xfrm>
            <a:off x="8258175" y="4563461"/>
            <a:ext cx="457200" cy="182863"/>
          </a:xfrm>
          <a:prstGeom prst="rect">
            <a:avLst/>
          </a:prstGeom>
          <a:noFill/>
          <a:ln/>
        </p:spPr>
        <p:txBody>
          <a:bodyPr wrap="none" lIns="0" tIns="0" rIns="0" bIns="0" rtlCol="0" anchor="t">
            <a:spAutoFit/>
          </a:bodyPr>
          <a:lstStyle/>
          <a:p>
            <a:pPr algn="r" indent="0" marL="0">
              <a:lnSpc>
                <a:spcPct val="128000"/>
              </a:lnSpc>
              <a:buNone/>
            </a:pPr>
            <a:r>
              <a:rPr lang="en-US" sz="850" dirty="0">
                <a:solidFill>
                  <a:srgbClr val="FFFFFF"/>
                </a:solidFill>
                <a:latin typeface="Noto Sans SC" pitchFamily="34" charset="0"/>
                <a:ea typeface="Noto Sans SC" pitchFamily="34" charset="-122"/>
                <a:cs typeface="Noto Sans SC" pitchFamily="34" charset="-120"/>
              </a:rPr>
              <a:t>中驰股份</a:t>
            </a:r>
            <a:endParaRPr lang="en-US" sz="850" dirty="0"/>
          </a:p>
        </p:txBody>
      </p:sp>
      <p:sp>
        <p:nvSpPr>
          <p:cNvPr id="8" name="Text 4"/>
          <p:cNvSpPr/>
          <p:nvPr/>
        </p:nvSpPr>
        <p:spPr>
          <a:xfrm>
            <a:off x="8258175" y="4746324"/>
            <a:ext cx="457200" cy="182863"/>
          </a:xfrm>
          <a:prstGeom prst="rect">
            <a:avLst/>
          </a:prstGeom>
          <a:noFill/>
          <a:ln/>
        </p:spPr>
        <p:txBody>
          <a:bodyPr wrap="none" lIns="0" tIns="0" rIns="0" bIns="0" rtlCol="0" anchor="t">
            <a:spAutoFit/>
          </a:bodyPr>
          <a:lstStyle/>
          <a:p>
            <a:pPr algn="r" indent="0" marL="0">
              <a:lnSpc>
                <a:spcPct val="128000"/>
              </a:lnSpc>
              <a:buNone/>
            </a:pPr>
            <a:r>
              <a:rPr lang="en-US" sz="850" dirty="0">
                <a:solidFill>
                  <a:srgbClr val="FFFFFF"/>
                </a:solidFill>
                <a:latin typeface="Noto Sans SC" pitchFamily="34" charset="0"/>
                <a:ea typeface="Noto Sans SC" pitchFamily="34" charset="-122"/>
                <a:cs typeface="Noto Sans SC" pitchFamily="34" charset="-120"/>
              </a:rPr>
              <a:t>2026年</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7891109" y="357188"/>
            <a:ext cx="824266" cy="342900"/>
          </a:xfrm>
          <a:prstGeom prst="rect">
            <a:avLst/>
          </a:prstGeom>
        </p:spPr>
      </p:pic>
      <p:sp>
        <p:nvSpPr>
          <p:cNvPr id="4" name="Text 0"/>
          <p:cNvSpPr/>
          <p:nvPr/>
        </p:nvSpPr>
        <p:spPr>
          <a:xfrm>
            <a:off x="428625" y="357188"/>
            <a:ext cx="203597" cy="248245"/>
          </a:xfrm>
          <a:prstGeom prst="rect">
            <a:avLst/>
          </a:prstGeom>
          <a:noFill/>
          <a:ln/>
        </p:spPr>
        <p:txBody>
          <a:bodyPr wrap="none" lIns="0" tIns="0" rIns="0" bIns="0" rtlCol="0" anchor="t">
            <a:spAutoFit/>
          </a:bodyPr>
          <a:lstStyle/>
          <a:p>
            <a:pPr algn="l" indent="0" marL="0">
              <a:buNone/>
            </a:pPr>
            <a:r>
              <a:rPr lang="en-US" sz="1200" b="1" dirty="0">
                <a:solidFill>
                  <a:srgbClr val="1565C0"/>
                </a:solidFill>
                <a:latin typeface="Noto Sans SC Bold" pitchFamily="34" charset="0"/>
                <a:ea typeface="Noto Sans SC Bold" pitchFamily="34" charset="-122"/>
                <a:cs typeface="Noto Sans SC Bold" pitchFamily="34" charset="-120"/>
              </a:rPr>
              <a:t>01</a:t>
            </a:r>
            <a:endParaRPr lang="en-US" sz="1200" dirty="0"/>
          </a:p>
        </p:txBody>
      </p:sp>
      <p:sp>
        <p:nvSpPr>
          <p:cNvPr id="5" name="Text 1"/>
          <p:cNvSpPr/>
          <p:nvPr/>
        </p:nvSpPr>
        <p:spPr>
          <a:xfrm>
            <a:off x="785813" y="357188"/>
            <a:ext cx="3214688" cy="248245"/>
          </a:xfrm>
          <a:prstGeom prst="rect">
            <a:avLst/>
          </a:prstGeom>
          <a:noFill/>
          <a:ln/>
        </p:spPr>
        <p:txBody>
          <a:bodyPr wrap="square" lIns="0" tIns="0" rIns="0" bIns="0" rtlCol="0" anchor="t">
            <a:spAutoFit/>
          </a:bodyPr>
          <a:lstStyle/>
          <a:p>
            <a:pPr algn="l" indent="0" marL="0">
              <a:buNone/>
            </a:pPr>
            <a:r>
              <a:rPr lang="en-US" sz="1200" b="1" dirty="0">
                <a:solidFill>
                  <a:srgbClr val="333333"/>
                </a:solidFill>
                <a:latin typeface="Noto Sans SC Bold" pitchFamily="34" charset="0"/>
                <a:ea typeface="Noto Sans SC Bold" pitchFamily="34" charset="-122"/>
                <a:cs typeface="Noto Sans SC Bold" pitchFamily="34" charset="-120"/>
              </a:rPr>
              <a:t>铁路声屏障技术发展历程（2007—2024）</a:t>
            </a:r>
            <a:endParaRPr lang="en-US" sz="1200" dirty="0"/>
          </a:p>
        </p:txBody>
      </p:sp>
      <p:sp>
        <p:nvSpPr>
          <p:cNvPr id="6" name="Shape 2"/>
          <p:cNvSpPr/>
          <p:nvPr/>
        </p:nvSpPr>
        <p:spPr>
          <a:xfrm>
            <a:off x="428625" y="2876252"/>
            <a:ext cx="1905930" cy="1285875"/>
          </a:xfrm>
          <a:prstGeom prst="rect">
            <a:avLst/>
          </a:prstGeom>
          <a:solidFill>
            <a:srgbClr val="F8F9FA"/>
          </a:solidFill>
          <a:ln/>
        </p:spPr>
      </p:sp>
      <p:sp>
        <p:nvSpPr>
          <p:cNvPr id="7" name="Shape 3"/>
          <p:cNvSpPr/>
          <p:nvPr/>
        </p:nvSpPr>
        <p:spPr>
          <a:xfrm>
            <a:off x="428625" y="2876252"/>
            <a:ext cx="1905930" cy="28575"/>
          </a:xfrm>
          <a:prstGeom prst="rect">
            <a:avLst/>
          </a:prstGeom>
          <a:solidFill>
            <a:srgbClr val="1A3A6B"/>
          </a:solidFill>
          <a:ln/>
        </p:spPr>
      </p:sp>
      <p:sp>
        <p:nvSpPr>
          <p:cNvPr id="8" name="Shape 4"/>
          <p:cNvSpPr/>
          <p:nvPr/>
        </p:nvSpPr>
        <p:spPr>
          <a:xfrm>
            <a:off x="2327411" y="2876252"/>
            <a:ext cx="7144" cy="1285875"/>
          </a:xfrm>
          <a:prstGeom prst="rect">
            <a:avLst/>
          </a:prstGeom>
          <a:solidFill>
            <a:srgbClr val="E0E0E0"/>
          </a:solidFill>
          <a:ln/>
        </p:spPr>
      </p:sp>
      <p:sp>
        <p:nvSpPr>
          <p:cNvPr id="9" name="Shape 5"/>
          <p:cNvSpPr/>
          <p:nvPr/>
        </p:nvSpPr>
        <p:spPr>
          <a:xfrm>
            <a:off x="428625" y="4154984"/>
            <a:ext cx="1905930" cy="7144"/>
          </a:xfrm>
          <a:prstGeom prst="rect">
            <a:avLst/>
          </a:prstGeom>
          <a:solidFill>
            <a:srgbClr val="E0E0E0"/>
          </a:solidFill>
          <a:ln/>
        </p:spPr>
      </p:sp>
      <p:sp>
        <p:nvSpPr>
          <p:cNvPr id="10" name="Shape 6"/>
          <p:cNvSpPr/>
          <p:nvPr/>
        </p:nvSpPr>
        <p:spPr>
          <a:xfrm>
            <a:off x="428625" y="2876252"/>
            <a:ext cx="7144" cy="1285875"/>
          </a:xfrm>
          <a:prstGeom prst="rect">
            <a:avLst/>
          </a:prstGeom>
          <a:solidFill>
            <a:srgbClr val="E0E0E0"/>
          </a:solidFill>
          <a:ln/>
        </p:spPr>
      </p:sp>
      <p:sp>
        <p:nvSpPr>
          <p:cNvPr id="11" name="Text 7"/>
          <p:cNvSpPr/>
          <p:nvPr/>
        </p:nvSpPr>
        <p:spPr>
          <a:xfrm>
            <a:off x="535781" y="2983409"/>
            <a:ext cx="1691618" cy="278606"/>
          </a:xfrm>
          <a:prstGeom prst="rect">
            <a:avLst/>
          </a:prstGeom>
          <a:noFill/>
          <a:ln/>
        </p:spPr>
        <p:txBody>
          <a:bodyPr wrap="square" lIns="102108"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发现问题</a:t>
            </a:r>
            <a:r>
              <a:rPr lang="en-US" sz="650" dirty="0">
                <a:solidFill>
                  <a:srgbClr val="333333"/>
                </a:solidFill>
                <a:latin typeface="Noto Sans SC" pitchFamily="34" charset="0"/>
                <a:ea typeface="Noto Sans SC" pitchFamily="34" charset="-122"/>
                <a:cs typeface="Noto Sans SC" pitchFamily="34" charset="-120"/>
              </a:rPr>
              <a:t>：京沪客专发现脉动力影响，预埋螺栓疲劳寿命短</a:t>
            </a:r>
            <a:endParaRPr lang="en-US" sz="650" dirty="0"/>
          </a:p>
        </p:txBody>
      </p:sp>
      <p:sp>
        <p:nvSpPr>
          <p:cNvPr id="12" name="Text 8"/>
          <p:cNvSpPr/>
          <p:nvPr/>
        </p:nvSpPr>
        <p:spPr>
          <a:xfrm>
            <a:off x="535781" y="3319165"/>
            <a:ext cx="1691618" cy="278606"/>
          </a:xfrm>
          <a:prstGeom prst="rect">
            <a:avLst/>
          </a:prstGeom>
          <a:noFill/>
          <a:ln/>
        </p:spPr>
        <p:txBody>
          <a:bodyPr wrap="square" lIns="102108"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通图发布</a:t>
            </a:r>
            <a:r>
              <a:rPr lang="en-US" sz="650" dirty="0">
                <a:solidFill>
                  <a:srgbClr val="333333"/>
                </a:solidFill>
                <a:latin typeface="Noto Sans SC" pitchFamily="34" charset="0"/>
                <a:ea typeface="Noto Sans SC" pitchFamily="34" charset="-122"/>
                <a:cs typeface="Noto Sans SC" pitchFamily="34" charset="-120"/>
              </a:rPr>
              <a:t>：发布8321、8322整体式混凝土声屏障通图</a:t>
            </a:r>
            <a:endParaRPr lang="en-US" sz="650" dirty="0"/>
          </a:p>
        </p:txBody>
      </p:sp>
      <p:sp>
        <p:nvSpPr>
          <p:cNvPr id="13" name="Text 9"/>
          <p:cNvSpPr/>
          <p:nvPr/>
        </p:nvSpPr>
        <p:spPr>
          <a:xfrm>
            <a:off x="535781" y="3654921"/>
            <a:ext cx="1691618" cy="278606"/>
          </a:xfrm>
          <a:prstGeom prst="rect">
            <a:avLst/>
          </a:prstGeom>
          <a:noFill/>
          <a:ln/>
        </p:spPr>
        <p:txBody>
          <a:bodyPr wrap="square" lIns="102108"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技术引进</a:t>
            </a:r>
            <a:r>
              <a:rPr lang="en-US" sz="650" dirty="0">
                <a:solidFill>
                  <a:srgbClr val="333333"/>
                </a:solidFill>
                <a:latin typeface="Noto Sans SC" pitchFamily="34" charset="0"/>
                <a:ea typeface="Noto Sans SC" pitchFamily="34" charset="-122"/>
                <a:cs typeface="Noto Sans SC" pitchFamily="34" charset="-120"/>
              </a:rPr>
              <a:t>：通图中金属、通透结构采用旭普林专利</a:t>
            </a:r>
            <a:endParaRPr lang="en-US" sz="650" dirty="0"/>
          </a:p>
        </p:txBody>
      </p:sp>
      <p:sp>
        <p:nvSpPr>
          <p:cNvPr id="14" name="Text 10"/>
          <p:cNvSpPr/>
          <p:nvPr/>
        </p:nvSpPr>
        <p:spPr>
          <a:xfrm>
            <a:off x="934213" y="4162127"/>
            <a:ext cx="894755" cy="248245"/>
          </a:xfrm>
          <a:prstGeom prst="rect">
            <a:avLst/>
          </a:prstGeom>
          <a:noFill/>
          <a:ln/>
        </p:spPr>
        <p:txBody>
          <a:bodyPr wrap="none" lIns="0" tIns="0" rIns="0" bIns="0" rtlCol="0" anchor="t">
            <a:spAutoFit/>
          </a:bodyPr>
          <a:lstStyle/>
          <a:p>
            <a:pPr algn="l" indent="0" marL="0">
              <a:buNone/>
            </a:pPr>
            <a:r>
              <a:rPr lang="en-US" sz="1200" b="1" dirty="0">
                <a:solidFill>
                  <a:srgbClr val="1565C0"/>
                </a:solidFill>
                <a:latin typeface="Noto Sans SC Black" pitchFamily="34" charset="0"/>
                <a:ea typeface="Noto Sans SC Black" pitchFamily="34" charset="-122"/>
                <a:cs typeface="Noto Sans SC Black" pitchFamily="34" charset="-120"/>
              </a:rPr>
              <a:t>2007-2009</a:t>
            </a:r>
            <a:endParaRPr lang="en-US" sz="1200" dirty="0"/>
          </a:p>
        </p:txBody>
      </p:sp>
      <p:sp>
        <p:nvSpPr>
          <p:cNvPr id="15" name="Text 11"/>
          <p:cNvSpPr/>
          <p:nvPr/>
        </p:nvSpPr>
        <p:spPr>
          <a:xfrm>
            <a:off x="535781" y="2983409"/>
            <a:ext cx="92869" cy="139303"/>
          </a:xfrm>
          <a:prstGeom prst="rect">
            <a:avLst/>
          </a:prstGeom>
          <a:noFill/>
          <a:ln/>
        </p:spPr>
        <p:txBody>
          <a:bodyPr wrap="none" lIns="0"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a:t>
            </a:r>
            <a:endParaRPr lang="en-US" sz="650" dirty="0"/>
          </a:p>
        </p:txBody>
      </p:sp>
      <p:sp>
        <p:nvSpPr>
          <p:cNvPr id="16" name="Text 12"/>
          <p:cNvSpPr/>
          <p:nvPr/>
        </p:nvSpPr>
        <p:spPr>
          <a:xfrm>
            <a:off x="535781" y="3319165"/>
            <a:ext cx="92869" cy="139303"/>
          </a:xfrm>
          <a:prstGeom prst="rect">
            <a:avLst/>
          </a:prstGeom>
          <a:noFill/>
          <a:ln/>
        </p:spPr>
        <p:txBody>
          <a:bodyPr wrap="none" lIns="0"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a:t>
            </a:r>
            <a:endParaRPr lang="en-US" sz="650" dirty="0"/>
          </a:p>
        </p:txBody>
      </p:sp>
      <p:sp>
        <p:nvSpPr>
          <p:cNvPr id="17" name="Text 13"/>
          <p:cNvSpPr/>
          <p:nvPr/>
        </p:nvSpPr>
        <p:spPr>
          <a:xfrm>
            <a:off x="535781" y="3654921"/>
            <a:ext cx="92869" cy="139303"/>
          </a:xfrm>
          <a:prstGeom prst="rect">
            <a:avLst/>
          </a:prstGeom>
          <a:noFill/>
          <a:ln/>
        </p:spPr>
        <p:txBody>
          <a:bodyPr wrap="none" lIns="0"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a:t>
            </a:r>
            <a:endParaRPr lang="en-US" sz="650" dirty="0"/>
          </a:p>
        </p:txBody>
      </p:sp>
      <p:sp>
        <p:nvSpPr>
          <p:cNvPr id="18" name="Text 14"/>
          <p:cNvSpPr/>
          <p:nvPr/>
        </p:nvSpPr>
        <p:spPr>
          <a:xfrm>
            <a:off x="3061153" y="3162002"/>
            <a:ext cx="894755" cy="248245"/>
          </a:xfrm>
          <a:prstGeom prst="rect">
            <a:avLst/>
          </a:prstGeom>
          <a:noFill/>
          <a:ln/>
        </p:spPr>
        <p:txBody>
          <a:bodyPr wrap="none" lIns="0" tIns="0" rIns="0" bIns="0" rtlCol="0" anchor="t">
            <a:spAutoFit/>
          </a:bodyPr>
          <a:lstStyle/>
          <a:p>
            <a:pPr algn="l" indent="0" marL="0">
              <a:buNone/>
            </a:pPr>
            <a:r>
              <a:rPr lang="en-US" sz="1200" b="1" dirty="0">
                <a:solidFill>
                  <a:srgbClr val="1565C0"/>
                </a:solidFill>
                <a:latin typeface="Noto Sans SC Black" pitchFamily="34" charset="0"/>
                <a:ea typeface="Noto Sans SC Black" pitchFamily="34" charset="-122"/>
                <a:cs typeface="Noto Sans SC Black" pitchFamily="34" charset="-120"/>
              </a:rPr>
              <a:t>2014-2016</a:t>
            </a:r>
            <a:endParaRPr lang="en-US" sz="1200" dirty="0"/>
          </a:p>
        </p:txBody>
      </p:sp>
      <p:sp>
        <p:nvSpPr>
          <p:cNvPr id="19" name="Shape 15"/>
          <p:cNvSpPr/>
          <p:nvPr/>
        </p:nvSpPr>
        <p:spPr>
          <a:xfrm>
            <a:off x="2555565" y="3410248"/>
            <a:ext cx="1905930" cy="1285875"/>
          </a:xfrm>
          <a:prstGeom prst="rect">
            <a:avLst/>
          </a:prstGeom>
          <a:solidFill>
            <a:srgbClr val="F8F9FA"/>
          </a:solidFill>
          <a:ln/>
        </p:spPr>
      </p:sp>
      <p:sp>
        <p:nvSpPr>
          <p:cNvPr id="20" name="Shape 16"/>
          <p:cNvSpPr/>
          <p:nvPr/>
        </p:nvSpPr>
        <p:spPr>
          <a:xfrm>
            <a:off x="4454351" y="3410248"/>
            <a:ext cx="7144" cy="1285875"/>
          </a:xfrm>
          <a:prstGeom prst="rect">
            <a:avLst/>
          </a:prstGeom>
          <a:solidFill>
            <a:srgbClr val="E0E0E0"/>
          </a:solidFill>
          <a:ln/>
        </p:spPr>
      </p:sp>
      <p:sp>
        <p:nvSpPr>
          <p:cNvPr id="21" name="Shape 17"/>
          <p:cNvSpPr/>
          <p:nvPr/>
        </p:nvSpPr>
        <p:spPr>
          <a:xfrm>
            <a:off x="2555565" y="4667548"/>
            <a:ext cx="1905930" cy="28575"/>
          </a:xfrm>
          <a:prstGeom prst="rect">
            <a:avLst/>
          </a:prstGeom>
          <a:solidFill>
            <a:srgbClr val="1A3A6B"/>
          </a:solidFill>
          <a:ln/>
        </p:spPr>
      </p:sp>
      <p:sp>
        <p:nvSpPr>
          <p:cNvPr id="22" name="Shape 18"/>
          <p:cNvSpPr/>
          <p:nvPr/>
        </p:nvSpPr>
        <p:spPr>
          <a:xfrm>
            <a:off x="2555565" y="3410248"/>
            <a:ext cx="7144" cy="1285875"/>
          </a:xfrm>
          <a:prstGeom prst="rect">
            <a:avLst/>
          </a:prstGeom>
          <a:solidFill>
            <a:srgbClr val="E0E0E0"/>
          </a:solidFill>
          <a:ln/>
        </p:spPr>
      </p:sp>
      <p:sp>
        <p:nvSpPr>
          <p:cNvPr id="23" name="Text 19"/>
          <p:cNvSpPr/>
          <p:nvPr/>
        </p:nvSpPr>
        <p:spPr>
          <a:xfrm>
            <a:off x="2662721" y="3517404"/>
            <a:ext cx="1691618" cy="139303"/>
          </a:xfrm>
          <a:prstGeom prst="rect">
            <a:avLst/>
          </a:prstGeom>
          <a:noFill/>
          <a:ln/>
        </p:spPr>
        <p:txBody>
          <a:bodyPr wrap="none" lIns="102108"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体系完善</a:t>
            </a:r>
            <a:r>
              <a:rPr lang="en-US" sz="650" dirty="0">
                <a:solidFill>
                  <a:srgbClr val="333333"/>
                </a:solidFill>
                <a:latin typeface="Noto Sans SC" pitchFamily="34" charset="0"/>
                <a:ea typeface="Noto Sans SC" pitchFamily="34" charset="-122"/>
                <a:cs typeface="Noto Sans SC" pitchFamily="34" charset="-120"/>
              </a:rPr>
              <a:t>：发布桥梁金属声屏障通图</a:t>
            </a:r>
            <a:endParaRPr lang="en-US" sz="650" dirty="0"/>
          </a:p>
        </p:txBody>
      </p:sp>
      <p:sp>
        <p:nvSpPr>
          <p:cNvPr id="24" name="Text 20"/>
          <p:cNvSpPr/>
          <p:nvPr/>
        </p:nvSpPr>
        <p:spPr>
          <a:xfrm>
            <a:off x="2662721" y="3713857"/>
            <a:ext cx="1691618" cy="278606"/>
          </a:xfrm>
          <a:prstGeom prst="rect">
            <a:avLst/>
          </a:prstGeom>
          <a:noFill/>
          <a:ln/>
        </p:spPr>
        <p:txBody>
          <a:bodyPr wrap="square" lIns="102108"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通图扩充</a:t>
            </a:r>
            <a:r>
              <a:rPr lang="en-US" sz="650" dirty="0">
                <a:solidFill>
                  <a:srgbClr val="333333"/>
                </a:solidFill>
                <a:latin typeface="Noto Sans SC" pitchFamily="34" charset="0"/>
                <a:ea typeface="Noto Sans SC" pitchFamily="34" charset="-122"/>
                <a:cs typeface="Noto Sans SC" pitchFamily="34" charset="-120"/>
              </a:rPr>
              <a:t>：发布(2016)8323/8325桥梁及路基金属通图</a:t>
            </a:r>
            <a:endParaRPr lang="en-US" sz="650" dirty="0"/>
          </a:p>
        </p:txBody>
      </p:sp>
      <p:sp>
        <p:nvSpPr>
          <p:cNvPr id="25" name="Text 21"/>
          <p:cNvSpPr/>
          <p:nvPr/>
        </p:nvSpPr>
        <p:spPr>
          <a:xfrm>
            <a:off x="2662721" y="4049613"/>
            <a:ext cx="1691618" cy="278606"/>
          </a:xfrm>
          <a:prstGeom prst="rect">
            <a:avLst/>
          </a:prstGeom>
          <a:noFill/>
          <a:ln/>
        </p:spPr>
        <p:txBody>
          <a:bodyPr wrap="square" lIns="102108"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新材料</a:t>
            </a:r>
            <a:r>
              <a:rPr lang="en-US" sz="650" dirty="0">
                <a:solidFill>
                  <a:srgbClr val="333333"/>
                </a:solidFill>
                <a:latin typeface="Noto Sans SC" pitchFamily="34" charset="0"/>
                <a:ea typeface="Noto Sans SC" pitchFamily="34" charset="-122"/>
                <a:cs typeface="Noto Sans SC" pitchFamily="34" charset="-120"/>
              </a:rPr>
              <a:t>：发布8328/8327超高强混凝土通图</a:t>
            </a:r>
            <a:endParaRPr lang="en-US" sz="650" dirty="0"/>
          </a:p>
        </p:txBody>
      </p:sp>
      <p:sp>
        <p:nvSpPr>
          <p:cNvPr id="26" name="Text 22"/>
          <p:cNvSpPr/>
          <p:nvPr/>
        </p:nvSpPr>
        <p:spPr>
          <a:xfrm>
            <a:off x="2662721" y="3517404"/>
            <a:ext cx="92869" cy="139303"/>
          </a:xfrm>
          <a:prstGeom prst="rect">
            <a:avLst/>
          </a:prstGeom>
          <a:noFill/>
          <a:ln/>
        </p:spPr>
        <p:txBody>
          <a:bodyPr wrap="none" lIns="0"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a:t>
            </a:r>
            <a:endParaRPr lang="en-US" sz="650" dirty="0"/>
          </a:p>
        </p:txBody>
      </p:sp>
      <p:sp>
        <p:nvSpPr>
          <p:cNvPr id="27" name="Text 23"/>
          <p:cNvSpPr/>
          <p:nvPr/>
        </p:nvSpPr>
        <p:spPr>
          <a:xfrm>
            <a:off x="2662721" y="3713857"/>
            <a:ext cx="92869" cy="139303"/>
          </a:xfrm>
          <a:prstGeom prst="rect">
            <a:avLst/>
          </a:prstGeom>
          <a:noFill/>
          <a:ln/>
        </p:spPr>
        <p:txBody>
          <a:bodyPr wrap="none" lIns="0"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a:t>
            </a:r>
            <a:endParaRPr lang="en-US" sz="650" dirty="0"/>
          </a:p>
        </p:txBody>
      </p:sp>
      <p:sp>
        <p:nvSpPr>
          <p:cNvPr id="28" name="Text 24"/>
          <p:cNvSpPr/>
          <p:nvPr/>
        </p:nvSpPr>
        <p:spPr>
          <a:xfrm>
            <a:off x="2662721" y="4049613"/>
            <a:ext cx="92869" cy="139303"/>
          </a:xfrm>
          <a:prstGeom prst="rect">
            <a:avLst/>
          </a:prstGeom>
          <a:noFill/>
          <a:ln/>
        </p:spPr>
        <p:txBody>
          <a:bodyPr wrap="none" lIns="0"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a:t>
            </a:r>
            <a:endParaRPr lang="en-US" sz="650" dirty="0"/>
          </a:p>
        </p:txBody>
      </p:sp>
      <p:sp>
        <p:nvSpPr>
          <p:cNvPr id="29" name="Shape 25"/>
          <p:cNvSpPr/>
          <p:nvPr/>
        </p:nvSpPr>
        <p:spPr>
          <a:xfrm>
            <a:off x="4682505" y="2876252"/>
            <a:ext cx="1905930" cy="1285875"/>
          </a:xfrm>
          <a:prstGeom prst="rect">
            <a:avLst/>
          </a:prstGeom>
          <a:solidFill>
            <a:srgbClr val="F8F9FA"/>
          </a:solidFill>
          <a:ln/>
        </p:spPr>
      </p:sp>
      <p:sp>
        <p:nvSpPr>
          <p:cNvPr id="30" name="Shape 26"/>
          <p:cNvSpPr/>
          <p:nvPr/>
        </p:nvSpPr>
        <p:spPr>
          <a:xfrm>
            <a:off x="4682505" y="2876252"/>
            <a:ext cx="1905930" cy="28575"/>
          </a:xfrm>
          <a:prstGeom prst="rect">
            <a:avLst/>
          </a:prstGeom>
          <a:solidFill>
            <a:srgbClr val="1A3A6B"/>
          </a:solidFill>
          <a:ln/>
        </p:spPr>
      </p:sp>
      <p:sp>
        <p:nvSpPr>
          <p:cNvPr id="31" name="Shape 27"/>
          <p:cNvSpPr/>
          <p:nvPr/>
        </p:nvSpPr>
        <p:spPr>
          <a:xfrm>
            <a:off x="6581291" y="2876252"/>
            <a:ext cx="7144" cy="1285875"/>
          </a:xfrm>
          <a:prstGeom prst="rect">
            <a:avLst/>
          </a:prstGeom>
          <a:solidFill>
            <a:srgbClr val="E0E0E0"/>
          </a:solidFill>
          <a:ln/>
        </p:spPr>
      </p:sp>
      <p:sp>
        <p:nvSpPr>
          <p:cNvPr id="32" name="Shape 28"/>
          <p:cNvSpPr/>
          <p:nvPr/>
        </p:nvSpPr>
        <p:spPr>
          <a:xfrm>
            <a:off x="4682505" y="4154984"/>
            <a:ext cx="1905930" cy="7144"/>
          </a:xfrm>
          <a:prstGeom prst="rect">
            <a:avLst/>
          </a:prstGeom>
          <a:solidFill>
            <a:srgbClr val="E0E0E0"/>
          </a:solidFill>
          <a:ln/>
        </p:spPr>
      </p:sp>
      <p:sp>
        <p:nvSpPr>
          <p:cNvPr id="33" name="Shape 29"/>
          <p:cNvSpPr/>
          <p:nvPr/>
        </p:nvSpPr>
        <p:spPr>
          <a:xfrm>
            <a:off x="4682505" y="2876252"/>
            <a:ext cx="7144" cy="1285875"/>
          </a:xfrm>
          <a:prstGeom prst="rect">
            <a:avLst/>
          </a:prstGeom>
          <a:solidFill>
            <a:srgbClr val="E0E0E0"/>
          </a:solidFill>
          <a:ln/>
        </p:spPr>
      </p:sp>
      <p:sp>
        <p:nvSpPr>
          <p:cNvPr id="34" name="Text 30"/>
          <p:cNvSpPr/>
          <p:nvPr/>
        </p:nvSpPr>
        <p:spPr>
          <a:xfrm>
            <a:off x="4789661" y="2983409"/>
            <a:ext cx="1691618" cy="278606"/>
          </a:xfrm>
          <a:prstGeom prst="rect">
            <a:avLst/>
          </a:prstGeom>
          <a:noFill/>
          <a:ln/>
        </p:spPr>
        <p:txBody>
          <a:bodyPr wrap="square" lIns="102108"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规范化</a:t>
            </a:r>
            <a:r>
              <a:rPr lang="en-US" sz="650" dirty="0">
                <a:solidFill>
                  <a:srgbClr val="333333"/>
                </a:solidFill>
                <a:latin typeface="Noto Sans SC" pitchFamily="34" charset="0"/>
                <a:ea typeface="Noto Sans SC" pitchFamily="34" charset="-122"/>
                <a:cs typeface="Noto Sans SC" pitchFamily="34" charset="-120"/>
              </a:rPr>
              <a:t>：桥梁与路基金属声屏障标准进一步统一</a:t>
            </a:r>
            <a:endParaRPr lang="en-US" sz="650" dirty="0"/>
          </a:p>
        </p:txBody>
      </p:sp>
      <p:sp>
        <p:nvSpPr>
          <p:cNvPr id="35" name="Text 31"/>
          <p:cNvSpPr/>
          <p:nvPr/>
        </p:nvSpPr>
        <p:spPr>
          <a:xfrm>
            <a:off x="4789661" y="3319165"/>
            <a:ext cx="1691618" cy="278606"/>
          </a:xfrm>
          <a:prstGeom prst="rect">
            <a:avLst/>
          </a:prstGeom>
          <a:noFill/>
          <a:ln/>
        </p:spPr>
        <p:txBody>
          <a:bodyPr wrap="square" lIns="102108"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设计规范</a:t>
            </a:r>
            <a:r>
              <a:rPr lang="en-US" sz="650" dirty="0">
                <a:solidFill>
                  <a:srgbClr val="333333"/>
                </a:solidFill>
                <a:latin typeface="Noto Sans SC" pitchFamily="34" charset="0"/>
                <a:ea typeface="Noto Sans SC" pitchFamily="34" charset="-122"/>
                <a:cs typeface="Noto Sans SC" pitchFamily="34" charset="-120"/>
              </a:rPr>
              <a:t>：TB10505-2019《铁路声屏障工程设计规范》发布</a:t>
            </a:r>
            <a:endParaRPr lang="en-US" sz="650" dirty="0"/>
          </a:p>
        </p:txBody>
      </p:sp>
      <p:sp>
        <p:nvSpPr>
          <p:cNvPr id="36" name="Text 32"/>
          <p:cNvSpPr/>
          <p:nvPr/>
        </p:nvSpPr>
        <p:spPr>
          <a:xfrm>
            <a:off x="4789661" y="3654921"/>
            <a:ext cx="1691618" cy="278606"/>
          </a:xfrm>
          <a:prstGeom prst="rect">
            <a:avLst/>
          </a:prstGeom>
          <a:noFill/>
          <a:ln/>
        </p:spPr>
        <p:txBody>
          <a:bodyPr wrap="square" lIns="102108"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产品标准</a:t>
            </a:r>
            <a:r>
              <a:rPr lang="en-US" sz="650" dirty="0">
                <a:solidFill>
                  <a:srgbClr val="333333"/>
                </a:solidFill>
                <a:latin typeface="Noto Sans SC" pitchFamily="34" charset="0"/>
                <a:ea typeface="Noto Sans SC" pitchFamily="34" charset="-122"/>
                <a:cs typeface="Noto Sans SC" pitchFamily="34" charset="-120"/>
              </a:rPr>
              <a:t>：发布Q/CR759-2020通用要求及Q/CR760 I型板标准</a:t>
            </a:r>
            <a:endParaRPr lang="en-US" sz="650" dirty="0"/>
          </a:p>
        </p:txBody>
      </p:sp>
      <p:sp>
        <p:nvSpPr>
          <p:cNvPr id="37" name="Text 33"/>
          <p:cNvSpPr/>
          <p:nvPr/>
        </p:nvSpPr>
        <p:spPr>
          <a:xfrm>
            <a:off x="5188093" y="4162127"/>
            <a:ext cx="894755" cy="248245"/>
          </a:xfrm>
          <a:prstGeom prst="rect">
            <a:avLst/>
          </a:prstGeom>
          <a:noFill/>
          <a:ln/>
        </p:spPr>
        <p:txBody>
          <a:bodyPr wrap="none" lIns="0" tIns="0" rIns="0" bIns="0" rtlCol="0" anchor="t">
            <a:spAutoFit/>
          </a:bodyPr>
          <a:lstStyle/>
          <a:p>
            <a:pPr algn="l" indent="0" marL="0">
              <a:buNone/>
            </a:pPr>
            <a:r>
              <a:rPr lang="en-US" sz="1200" b="1" dirty="0">
                <a:solidFill>
                  <a:srgbClr val="1565C0"/>
                </a:solidFill>
                <a:latin typeface="Noto Sans SC Black" pitchFamily="34" charset="0"/>
                <a:ea typeface="Noto Sans SC Black" pitchFamily="34" charset="-122"/>
                <a:cs typeface="Noto Sans SC Black" pitchFamily="34" charset="-120"/>
              </a:rPr>
              <a:t>2018-2020</a:t>
            </a:r>
            <a:endParaRPr lang="en-US" sz="1200" dirty="0"/>
          </a:p>
        </p:txBody>
      </p:sp>
      <p:sp>
        <p:nvSpPr>
          <p:cNvPr id="38" name="Text 34"/>
          <p:cNvSpPr/>
          <p:nvPr/>
        </p:nvSpPr>
        <p:spPr>
          <a:xfrm>
            <a:off x="4789661" y="2983409"/>
            <a:ext cx="92869" cy="139303"/>
          </a:xfrm>
          <a:prstGeom prst="rect">
            <a:avLst/>
          </a:prstGeom>
          <a:noFill/>
          <a:ln/>
        </p:spPr>
        <p:txBody>
          <a:bodyPr wrap="none" lIns="0"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a:t>
            </a:r>
            <a:endParaRPr lang="en-US" sz="650" dirty="0"/>
          </a:p>
        </p:txBody>
      </p:sp>
      <p:sp>
        <p:nvSpPr>
          <p:cNvPr id="39" name="Text 35"/>
          <p:cNvSpPr/>
          <p:nvPr/>
        </p:nvSpPr>
        <p:spPr>
          <a:xfrm>
            <a:off x="4789661" y="3319165"/>
            <a:ext cx="92869" cy="139303"/>
          </a:xfrm>
          <a:prstGeom prst="rect">
            <a:avLst/>
          </a:prstGeom>
          <a:noFill/>
          <a:ln/>
        </p:spPr>
        <p:txBody>
          <a:bodyPr wrap="none" lIns="0"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a:t>
            </a:r>
            <a:endParaRPr lang="en-US" sz="650" dirty="0"/>
          </a:p>
        </p:txBody>
      </p:sp>
      <p:sp>
        <p:nvSpPr>
          <p:cNvPr id="40" name="Text 36"/>
          <p:cNvSpPr/>
          <p:nvPr/>
        </p:nvSpPr>
        <p:spPr>
          <a:xfrm>
            <a:off x="4789661" y="3654921"/>
            <a:ext cx="92869" cy="139303"/>
          </a:xfrm>
          <a:prstGeom prst="rect">
            <a:avLst/>
          </a:prstGeom>
          <a:noFill/>
          <a:ln/>
        </p:spPr>
        <p:txBody>
          <a:bodyPr wrap="none" lIns="0"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a:t>
            </a:r>
            <a:endParaRPr lang="en-US" sz="650" dirty="0"/>
          </a:p>
        </p:txBody>
      </p:sp>
      <p:sp>
        <p:nvSpPr>
          <p:cNvPr id="41" name="Text 37"/>
          <p:cNvSpPr/>
          <p:nvPr/>
        </p:nvSpPr>
        <p:spPr>
          <a:xfrm>
            <a:off x="7315033" y="3162002"/>
            <a:ext cx="894755" cy="248245"/>
          </a:xfrm>
          <a:prstGeom prst="rect">
            <a:avLst/>
          </a:prstGeom>
          <a:noFill/>
          <a:ln/>
        </p:spPr>
        <p:txBody>
          <a:bodyPr wrap="none" lIns="0" tIns="0" rIns="0" bIns="0" rtlCol="0" anchor="t">
            <a:spAutoFit/>
          </a:bodyPr>
          <a:lstStyle/>
          <a:p>
            <a:pPr algn="l" indent="0" marL="0">
              <a:buNone/>
            </a:pPr>
            <a:r>
              <a:rPr lang="en-US" sz="1200" b="1" dirty="0">
                <a:solidFill>
                  <a:srgbClr val="1565C0"/>
                </a:solidFill>
                <a:latin typeface="Noto Sans SC Black" pitchFamily="34" charset="0"/>
                <a:ea typeface="Noto Sans SC Black" pitchFamily="34" charset="-122"/>
                <a:cs typeface="Noto Sans SC Black" pitchFamily="34" charset="-120"/>
              </a:rPr>
              <a:t>2022-2024</a:t>
            </a:r>
            <a:endParaRPr lang="en-US" sz="1200" dirty="0"/>
          </a:p>
        </p:txBody>
      </p:sp>
      <p:sp>
        <p:nvSpPr>
          <p:cNvPr id="42" name="Shape 38"/>
          <p:cNvSpPr/>
          <p:nvPr/>
        </p:nvSpPr>
        <p:spPr>
          <a:xfrm>
            <a:off x="6809445" y="3410248"/>
            <a:ext cx="1905930" cy="1285875"/>
          </a:xfrm>
          <a:prstGeom prst="rect">
            <a:avLst/>
          </a:prstGeom>
          <a:solidFill>
            <a:srgbClr val="F8F9FA"/>
          </a:solidFill>
          <a:ln/>
        </p:spPr>
      </p:sp>
      <p:sp>
        <p:nvSpPr>
          <p:cNvPr id="43" name="Shape 39"/>
          <p:cNvSpPr/>
          <p:nvPr/>
        </p:nvSpPr>
        <p:spPr>
          <a:xfrm>
            <a:off x="8708231" y="3410248"/>
            <a:ext cx="7144" cy="1285875"/>
          </a:xfrm>
          <a:prstGeom prst="rect">
            <a:avLst/>
          </a:prstGeom>
          <a:solidFill>
            <a:srgbClr val="E0E0E0"/>
          </a:solidFill>
          <a:ln/>
        </p:spPr>
      </p:sp>
      <p:sp>
        <p:nvSpPr>
          <p:cNvPr id="44" name="Shape 40"/>
          <p:cNvSpPr/>
          <p:nvPr/>
        </p:nvSpPr>
        <p:spPr>
          <a:xfrm>
            <a:off x="6809445" y="4667548"/>
            <a:ext cx="1905930" cy="28575"/>
          </a:xfrm>
          <a:prstGeom prst="rect">
            <a:avLst/>
          </a:prstGeom>
          <a:solidFill>
            <a:srgbClr val="1A3A6B"/>
          </a:solidFill>
          <a:ln/>
        </p:spPr>
      </p:sp>
      <p:sp>
        <p:nvSpPr>
          <p:cNvPr id="45" name="Shape 41"/>
          <p:cNvSpPr/>
          <p:nvPr/>
        </p:nvSpPr>
        <p:spPr>
          <a:xfrm>
            <a:off x="6809445" y="3410248"/>
            <a:ext cx="7144" cy="1285875"/>
          </a:xfrm>
          <a:prstGeom prst="rect">
            <a:avLst/>
          </a:prstGeom>
          <a:solidFill>
            <a:srgbClr val="E0E0E0"/>
          </a:solidFill>
          <a:ln/>
        </p:spPr>
      </p:sp>
      <p:sp>
        <p:nvSpPr>
          <p:cNvPr id="46" name="Text 42"/>
          <p:cNvSpPr/>
          <p:nvPr/>
        </p:nvSpPr>
        <p:spPr>
          <a:xfrm>
            <a:off x="6916601" y="3517404"/>
            <a:ext cx="1691618" cy="278606"/>
          </a:xfrm>
          <a:prstGeom prst="rect">
            <a:avLst/>
          </a:prstGeom>
          <a:noFill/>
          <a:ln/>
        </p:spPr>
        <p:txBody>
          <a:bodyPr wrap="square" lIns="102108"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新企标</a:t>
            </a:r>
            <a:r>
              <a:rPr lang="en-US" sz="650" dirty="0">
                <a:solidFill>
                  <a:srgbClr val="333333"/>
                </a:solidFill>
                <a:latin typeface="Noto Sans SC" pitchFamily="34" charset="0"/>
                <a:ea typeface="Noto Sans SC" pitchFamily="34" charset="-122"/>
                <a:cs typeface="Noto Sans SC" pitchFamily="34" charset="-120"/>
              </a:rPr>
              <a:t>：发布Q/CR870-2022《II型单元板》</a:t>
            </a:r>
            <a:endParaRPr lang="en-US" sz="650" dirty="0"/>
          </a:p>
        </p:txBody>
      </p:sp>
      <p:sp>
        <p:nvSpPr>
          <p:cNvPr id="47" name="Text 43"/>
          <p:cNvSpPr/>
          <p:nvPr/>
        </p:nvSpPr>
        <p:spPr>
          <a:xfrm>
            <a:off x="6916601" y="3853160"/>
            <a:ext cx="1691618" cy="278606"/>
          </a:xfrm>
          <a:prstGeom prst="rect">
            <a:avLst/>
          </a:prstGeom>
          <a:noFill/>
          <a:ln/>
        </p:spPr>
        <p:txBody>
          <a:bodyPr wrap="square" lIns="102108"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标准修编</a:t>
            </a:r>
            <a:r>
              <a:rPr lang="en-US" sz="650" dirty="0">
                <a:solidFill>
                  <a:srgbClr val="333333"/>
                </a:solidFill>
                <a:latin typeface="Noto Sans SC" pitchFamily="34" charset="0"/>
                <a:ea typeface="Noto Sans SC" pitchFamily="34" charset="-122"/>
                <a:cs typeface="Noto Sans SC" pitchFamily="34" charset="-120"/>
              </a:rPr>
              <a:t>：TB10428-2012修编，发布TB/T3122修改单</a:t>
            </a:r>
            <a:endParaRPr lang="en-US" sz="650" dirty="0"/>
          </a:p>
        </p:txBody>
      </p:sp>
      <p:sp>
        <p:nvSpPr>
          <p:cNvPr id="48" name="Text 44"/>
          <p:cNvSpPr/>
          <p:nvPr/>
        </p:nvSpPr>
        <p:spPr>
          <a:xfrm>
            <a:off x="6916601" y="4188916"/>
            <a:ext cx="1691618" cy="278606"/>
          </a:xfrm>
          <a:prstGeom prst="rect">
            <a:avLst/>
          </a:prstGeom>
          <a:noFill/>
          <a:ln/>
        </p:spPr>
        <p:txBody>
          <a:bodyPr wrap="square" lIns="102108"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体系更新</a:t>
            </a:r>
            <a:r>
              <a:rPr lang="en-US" sz="650" dirty="0">
                <a:solidFill>
                  <a:srgbClr val="333333"/>
                </a:solidFill>
                <a:latin typeface="Noto Sans SC" pitchFamily="34" charset="0"/>
                <a:ea typeface="Noto Sans SC" pitchFamily="34" charset="-122"/>
                <a:cs typeface="Noto Sans SC" pitchFamily="34" charset="-120"/>
              </a:rPr>
              <a:t>：发布Q/CR1039 III型板，废除超高强混凝土老通图</a:t>
            </a:r>
            <a:endParaRPr lang="en-US" sz="650" dirty="0"/>
          </a:p>
        </p:txBody>
      </p:sp>
      <p:sp>
        <p:nvSpPr>
          <p:cNvPr id="49" name="Text 45"/>
          <p:cNvSpPr/>
          <p:nvPr/>
        </p:nvSpPr>
        <p:spPr>
          <a:xfrm>
            <a:off x="6916601" y="3517404"/>
            <a:ext cx="92869" cy="139303"/>
          </a:xfrm>
          <a:prstGeom prst="rect">
            <a:avLst/>
          </a:prstGeom>
          <a:noFill/>
          <a:ln/>
        </p:spPr>
        <p:txBody>
          <a:bodyPr wrap="none" lIns="0"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a:t>
            </a:r>
            <a:endParaRPr lang="en-US" sz="650" dirty="0"/>
          </a:p>
        </p:txBody>
      </p:sp>
      <p:sp>
        <p:nvSpPr>
          <p:cNvPr id="50" name="Text 46"/>
          <p:cNvSpPr/>
          <p:nvPr/>
        </p:nvSpPr>
        <p:spPr>
          <a:xfrm>
            <a:off x="6916601" y="3853160"/>
            <a:ext cx="92869" cy="139303"/>
          </a:xfrm>
          <a:prstGeom prst="rect">
            <a:avLst/>
          </a:prstGeom>
          <a:noFill/>
          <a:ln/>
        </p:spPr>
        <p:txBody>
          <a:bodyPr wrap="none" lIns="0"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a:t>
            </a:r>
            <a:endParaRPr lang="en-US" sz="650" dirty="0"/>
          </a:p>
        </p:txBody>
      </p:sp>
      <p:sp>
        <p:nvSpPr>
          <p:cNvPr id="51" name="Text 47"/>
          <p:cNvSpPr/>
          <p:nvPr/>
        </p:nvSpPr>
        <p:spPr>
          <a:xfrm>
            <a:off x="6916601" y="4188916"/>
            <a:ext cx="92869" cy="139303"/>
          </a:xfrm>
          <a:prstGeom prst="rect">
            <a:avLst/>
          </a:prstGeom>
          <a:noFill/>
          <a:ln/>
        </p:spPr>
        <p:txBody>
          <a:bodyPr wrap="none" lIns="0" tIns="0" rIns="0" bIns="0" rtlCol="0" anchor="t">
            <a:spAutoFit/>
          </a:bodyPr>
          <a:lstStyle/>
          <a:p>
            <a:pPr algn="l" indent="0" marL="0">
              <a:lnSpc>
                <a:spcPct val="120000"/>
              </a:lnSpc>
              <a:buNone/>
            </a:pPr>
            <a:r>
              <a:rPr lang="en-US" sz="650" b="1" dirty="0">
                <a:solidFill>
                  <a:srgbClr val="1565C0"/>
                </a:solidFill>
                <a:latin typeface="Noto Sans SC Bold" pitchFamily="34" charset="0"/>
                <a:ea typeface="Noto Sans SC Bold" pitchFamily="34" charset="-122"/>
                <a:cs typeface="Noto Sans SC Bold" pitchFamily="34" charset="-120"/>
              </a:rPr>
              <a:t>•</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7891109" y="357188"/>
            <a:ext cx="824266" cy="342900"/>
          </a:xfrm>
          <a:prstGeom prst="rect">
            <a:avLst/>
          </a:prstGeom>
        </p:spPr>
      </p:pic>
      <p:sp>
        <p:nvSpPr>
          <p:cNvPr id="4" name="Text 0"/>
          <p:cNvSpPr/>
          <p:nvPr/>
        </p:nvSpPr>
        <p:spPr>
          <a:xfrm>
            <a:off x="428625" y="357188"/>
            <a:ext cx="203597" cy="248245"/>
          </a:xfrm>
          <a:prstGeom prst="rect">
            <a:avLst/>
          </a:prstGeom>
          <a:noFill/>
          <a:ln/>
        </p:spPr>
        <p:txBody>
          <a:bodyPr wrap="none" lIns="0" tIns="0" rIns="0" bIns="0" rtlCol="0" anchor="t">
            <a:spAutoFit/>
          </a:bodyPr>
          <a:lstStyle/>
          <a:p>
            <a:pPr algn="l" indent="0" marL="0">
              <a:buNone/>
            </a:pPr>
            <a:r>
              <a:rPr lang="en-US" sz="1200" b="1" dirty="0">
                <a:solidFill>
                  <a:srgbClr val="1565C0"/>
                </a:solidFill>
                <a:latin typeface="Noto Sans SC Bold" pitchFamily="34" charset="0"/>
                <a:ea typeface="Noto Sans SC Bold" pitchFamily="34" charset="-122"/>
                <a:cs typeface="Noto Sans SC Bold" pitchFamily="34" charset="-120"/>
              </a:rPr>
              <a:t>03</a:t>
            </a:r>
            <a:endParaRPr lang="en-US" sz="1200" dirty="0"/>
          </a:p>
        </p:txBody>
      </p:sp>
      <p:sp>
        <p:nvSpPr>
          <p:cNvPr id="5" name="Text 1"/>
          <p:cNvSpPr/>
          <p:nvPr/>
        </p:nvSpPr>
        <p:spPr>
          <a:xfrm>
            <a:off x="785813" y="357188"/>
            <a:ext cx="1200150" cy="248245"/>
          </a:xfrm>
          <a:prstGeom prst="rect">
            <a:avLst/>
          </a:prstGeom>
          <a:noFill/>
          <a:ln/>
        </p:spPr>
        <p:txBody>
          <a:bodyPr wrap="none" lIns="0" tIns="0" rIns="0" bIns="0" rtlCol="0" anchor="t">
            <a:spAutoFit/>
          </a:bodyPr>
          <a:lstStyle/>
          <a:p>
            <a:pPr algn="l" indent="0" marL="0">
              <a:buNone/>
            </a:pPr>
            <a:r>
              <a:rPr lang="en-US" sz="1200" b="1" dirty="0">
                <a:solidFill>
                  <a:srgbClr val="333333"/>
                </a:solidFill>
                <a:latin typeface="Noto Sans SC Bold" pitchFamily="34" charset="0"/>
                <a:ea typeface="Noto Sans SC Bold" pitchFamily="34" charset="-122"/>
                <a:cs typeface="Noto Sans SC Bold" pitchFamily="34" charset="-120"/>
              </a:rPr>
              <a:t>列车脉动力影响</a:t>
            </a:r>
            <a:endParaRPr lang="en-US" sz="1200" dirty="0"/>
          </a:p>
        </p:txBody>
      </p:sp>
      <p:sp>
        <p:nvSpPr>
          <p:cNvPr id="6" name="Shape 2"/>
          <p:cNvSpPr/>
          <p:nvPr/>
        </p:nvSpPr>
        <p:spPr>
          <a:xfrm>
            <a:off x="1000125" y="1285875"/>
            <a:ext cx="7143750" cy="3429000"/>
          </a:xfrm>
          <a:prstGeom prst="rect">
            <a:avLst/>
          </a:prstGeom>
          <a:solidFill>
            <a:srgbClr val="F8F9FA"/>
          </a:solidFill>
          <a:ln/>
        </p:spPr>
      </p:sp>
      <p:sp>
        <p:nvSpPr>
          <p:cNvPr id="7" name="Shape 3"/>
          <p:cNvSpPr/>
          <p:nvPr/>
        </p:nvSpPr>
        <p:spPr>
          <a:xfrm>
            <a:off x="1000125" y="1285875"/>
            <a:ext cx="7143750" cy="28575"/>
          </a:xfrm>
          <a:prstGeom prst="rect">
            <a:avLst/>
          </a:prstGeom>
          <a:solidFill>
            <a:srgbClr val="1565C0"/>
          </a:solidFill>
          <a:ln/>
        </p:spPr>
      </p:sp>
      <p:sp>
        <p:nvSpPr>
          <p:cNvPr id="8" name="Shape 4"/>
          <p:cNvSpPr/>
          <p:nvPr/>
        </p:nvSpPr>
        <p:spPr>
          <a:xfrm>
            <a:off x="8136731" y="1285875"/>
            <a:ext cx="7144" cy="3429000"/>
          </a:xfrm>
          <a:prstGeom prst="rect">
            <a:avLst/>
          </a:prstGeom>
          <a:solidFill>
            <a:srgbClr val="E0E0E0"/>
          </a:solidFill>
          <a:ln/>
        </p:spPr>
      </p:sp>
      <p:sp>
        <p:nvSpPr>
          <p:cNvPr id="9" name="Shape 5"/>
          <p:cNvSpPr/>
          <p:nvPr/>
        </p:nvSpPr>
        <p:spPr>
          <a:xfrm>
            <a:off x="1000125" y="4707731"/>
            <a:ext cx="7143750" cy="7144"/>
          </a:xfrm>
          <a:prstGeom prst="rect">
            <a:avLst/>
          </a:prstGeom>
          <a:solidFill>
            <a:srgbClr val="E0E0E0"/>
          </a:solidFill>
          <a:ln/>
        </p:spPr>
      </p:sp>
      <p:sp>
        <p:nvSpPr>
          <p:cNvPr id="10" name="Shape 6"/>
          <p:cNvSpPr/>
          <p:nvPr/>
        </p:nvSpPr>
        <p:spPr>
          <a:xfrm>
            <a:off x="1000125" y="1285875"/>
            <a:ext cx="7144" cy="3429000"/>
          </a:xfrm>
          <a:prstGeom prst="rect">
            <a:avLst/>
          </a:prstGeom>
          <a:solidFill>
            <a:srgbClr val="E0E0E0"/>
          </a:solidFill>
          <a:ln/>
        </p:spPr>
      </p:sp>
      <p:pic>
        <p:nvPicPr>
          <p:cNvPr id="11" name="Image 2" descr="preencoded.png">    </p:cNvPr>
          <p:cNvPicPr>
            <a:picLocks noChangeAspect="1"/>
          </p:cNvPicPr>
          <p:nvPr/>
        </p:nvPicPr>
        <p:blipFill>
          <a:blip r:embed="rId3"/>
          <a:stretch>
            <a:fillRect/>
          </a:stretch>
        </p:blipFill>
        <p:spPr>
          <a:xfrm>
            <a:off x="4343400" y="2486025"/>
            <a:ext cx="457200" cy="457200"/>
          </a:xfrm>
          <a:prstGeom prst="rect">
            <a:avLst/>
          </a:prstGeom>
        </p:spPr>
      </p:pic>
      <p:sp>
        <p:nvSpPr>
          <p:cNvPr id="12" name="Text 7"/>
          <p:cNvSpPr/>
          <p:nvPr/>
        </p:nvSpPr>
        <p:spPr>
          <a:xfrm>
            <a:off x="3629025" y="3161109"/>
            <a:ext cx="1885950" cy="248245"/>
          </a:xfrm>
          <a:prstGeom prst="rect">
            <a:avLst/>
          </a:prstGeom>
          <a:noFill/>
          <a:ln/>
        </p:spPr>
        <p:txBody>
          <a:bodyPr wrap="square" lIns="0" tIns="0" rIns="0" bIns="0" rtlCol="0" anchor="t">
            <a:spAutoFit/>
          </a:bodyPr>
          <a:lstStyle/>
          <a:p>
            <a:pPr algn="l" indent="0" marL="0">
              <a:buNone/>
            </a:pPr>
            <a:r>
              <a:rPr lang="en-US" sz="1200" b="1" dirty="0">
                <a:solidFill>
                  <a:srgbClr val="1A3A6B"/>
                </a:solidFill>
                <a:latin typeface="Noto Sans SC Bold" pitchFamily="34" charset="0"/>
                <a:ea typeface="Noto Sans SC Bold" pitchFamily="34" charset="-122"/>
                <a:cs typeface="Noto Sans SC Bold" pitchFamily="34" charset="-120"/>
              </a:rPr>
              <a:t>列车脉动力影响图示区域</a:t>
            </a:r>
            <a:endParaRPr lang="en-US" sz="1200" dirty="0"/>
          </a:p>
        </p:txBody>
      </p:sp>
      <p:sp>
        <p:nvSpPr>
          <p:cNvPr id="13" name="Text 8"/>
          <p:cNvSpPr/>
          <p:nvPr/>
        </p:nvSpPr>
        <p:spPr>
          <a:xfrm>
            <a:off x="3152180" y="3480792"/>
            <a:ext cx="2839641" cy="164306"/>
          </a:xfrm>
          <a:prstGeom prst="rect">
            <a:avLst/>
          </a:prstGeom>
          <a:noFill/>
          <a:ln/>
        </p:spPr>
        <p:txBody>
          <a:bodyPr wrap="square" lIns="0" tIns="0" rIns="0" bIns="0" rtlCol="0" anchor="t">
            <a:spAutoFit/>
          </a:bodyPr>
          <a:lstStyle/>
          <a:p>
            <a:pPr algn="l" indent="0" marL="0">
              <a:buNone/>
            </a:pPr>
            <a:r>
              <a:rPr lang="en-US" sz="850" dirty="0">
                <a:solidFill>
                  <a:srgbClr val="666666"/>
                </a:solidFill>
                <a:latin typeface="Noto Sans SC" pitchFamily="34" charset="0"/>
                <a:ea typeface="Noto Sans SC" pitchFamily="34" charset="-122"/>
                <a:cs typeface="Noto Sans SC" pitchFamily="34" charset="-120"/>
              </a:rPr>
              <a:t>（请在此处插入原PPT中的脉动力分析图表或仿真云图）</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7891109" y="357188"/>
            <a:ext cx="824266" cy="342900"/>
          </a:xfrm>
          <a:prstGeom prst="rect">
            <a:avLst/>
          </a:prstGeom>
        </p:spPr>
      </p:pic>
      <p:sp>
        <p:nvSpPr>
          <p:cNvPr id="4" name="Text 0"/>
          <p:cNvSpPr/>
          <p:nvPr/>
        </p:nvSpPr>
        <p:spPr>
          <a:xfrm>
            <a:off x="428625" y="357188"/>
            <a:ext cx="203597" cy="248245"/>
          </a:xfrm>
          <a:prstGeom prst="rect">
            <a:avLst/>
          </a:prstGeom>
          <a:noFill/>
          <a:ln/>
        </p:spPr>
        <p:txBody>
          <a:bodyPr wrap="none" lIns="0" tIns="0" rIns="0" bIns="0" rtlCol="0" anchor="t">
            <a:spAutoFit/>
          </a:bodyPr>
          <a:lstStyle/>
          <a:p>
            <a:pPr algn="l" indent="0" marL="0">
              <a:buNone/>
            </a:pPr>
            <a:r>
              <a:rPr lang="en-US" sz="1200" b="1" dirty="0">
                <a:solidFill>
                  <a:srgbClr val="1565C0"/>
                </a:solidFill>
                <a:latin typeface="Noto Sans SC Bold" pitchFamily="34" charset="0"/>
                <a:ea typeface="Noto Sans SC Bold" pitchFamily="34" charset="-122"/>
                <a:cs typeface="Noto Sans SC Bold" pitchFamily="34" charset="-120"/>
              </a:rPr>
              <a:t>04</a:t>
            </a:r>
            <a:endParaRPr lang="en-US" sz="1200" dirty="0"/>
          </a:p>
        </p:txBody>
      </p:sp>
      <p:sp>
        <p:nvSpPr>
          <p:cNvPr id="5" name="Text 1"/>
          <p:cNvSpPr/>
          <p:nvPr/>
        </p:nvSpPr>
        <p:spPr>
          <a:xfrm>
            <a:off x="785813" y="357188"/>
            <a:ext cx="2400300" cy="248245"/>
          </a:xfrm>
          <a:prstGeom prst="rect">
            <a:avLst/>
          </a:prstGeom>
          <a:noFill/>
          <a:ln/>
        </p:spPr>
        <p:txBody>
          <a:bodyPr wrap="square" lIns="0" tIns="0" rIns="0" bIns="0" rtlCol="0" anchor="t">
            <a:spAutoFit/>
          </a:bodyPr>
          <a:lstStyle/>
          <a:p>
            <a:pPr algn="l" indent="0" marL="0">
              <a:buNone/>
            </a:pPr>
            <a:r>
              <a:rPr lang="en-US" sz="1200" b="1" dirty="0">
                <a:solidFill>
                  <a:srgbClr val="333333"/>
                </a:solidFill>
                <a:latin typeface="Noto Sans SC Bold" pitchFamily="34" charset="0"/>
                <a:ea typeface="Noto Sans SC Bold" pitchFamily="34" charset="-122"/>
                <a:cs typeface="Noto Sans SC Bold" pitchFamily="34" charset="-120"/>
              </a:rPr>
              <a:t>铁路声屏障结构形式——直立式</a:t>
            </a:r>
            <a:endParaRPr lang="en-US" sz="1200" dirty="0"/>
          </a:p>
        </p:txBody>
      </p:sp>
      <p:sp>
        <p:nvSpPr>
          <p:cNvPr id="6" name="Shape 2"/>
          <p:cNvSpPr/>
          <p:nvPr/>
        </p:nvSpPr>
        <p:spPr>
          <a:xfrm>
            <a:off x="428625" y="1678781"/>
            <a:ext cx="1910953" cy="1285875"/>
          </a:xfrm>
          <a:prstGeom prst="rect">
            <a:avLst/>
          </a:prstGeom>
          <a:solidFill>
            <a:srgbClr val="F8F9FA"/>
          </a:solidFill>
          <a:ln/>
        </p:spPr>
      </p:sp>
      <p:sp>
        <p:nvSpPr>
          <p:cNvPr id="7" name="Shape 3"/>
          <p:cNvSpPr/>
          <p:nvPr/>
        </p:nvSpPr>
        <p:spPr>
          <a:xfrm>
            <a:off x="428625" y="1678781"/>
            <a:ext cx="1910953" cy="28575"/>
          </a:xfrm>
          <a:prstGeom prst="rect">
            <a:avLst/>
          </a:prstGeom>
          <a:solidFill>
            <a:srgbClr val="1565C0"/>
          </a:solidFill>
          <a:ln/>
        </p:spPr>
      </p:sp>
      <p:sp>
        <p:nvSpPr>
          <p:cNvPr id="8" name="Shape 4"/>
          <p:cNvSpPr/>
          <p:nvPr/>
        </p:nvSpPr>
        <p:spPr>
          <a:xfrm>
            <a:off x="2332434" y="1678781"/>
            <a:ext cx="7144" cy="1285875"/>
          </a:xfrm>
          <a:prstGeom prst="rect">
            <a:avLst/>
          </a:prstGeom>
          <a:solidFill>
            <a:srgbClr val="E0E0E0"/>
          </a:solidFill>
          <a:ln/>
        </p:spPr>
      </p:sp>
      <p:sp>
        <p:nvSpPr>
          <p:cNvPr id="9" name="Shape 5"/>
          <p:cNvSpPr/>
          <p:nvPr/>
        </p:nvSpPr>
        <p:spPr>
          <a:xfrm>
            <a:off x="428625" y="2957513"/>
            <a:ext cx="1910953" cy="7144"/>
          </a:xfrm>
          <a:prstGeom prst="rect">
            <a:avLst/>
          </a:prstGeom>
          <a:solidFill>
            <a:srgbClr val="E0E0E0"/>
          </a:solidFill>
          <a:ln/>
        </p:spPr>
      </p:sp>
      <p:sp>
        <p:nvSpPr>
          <p:cNvPr id="10" name="Shape 6"/>
          <p:cNvSpPr/>
          <p:nvPr/>
        </p:nvSpPr>
        <p:spPr>
          <a:xfrm>
            <a:off x="428625" y="1678781"/>
            <a:ext cx="7144" cy="1285875"/>
          </a:xfrm>
          <a:prstGeom prst="rect">
            <a:avLst/>
          </a:prstGeom>
          <a:solidFill>
            <a:srgbClr val="E0E0E0"/>
          </a:solidFill>
          <a:ln/>
        </p:spPr>
      </p:sp>
      <p:sp>
        <p:nvSpPr>
          <p:cNvPr id="11" name="Shape 7"/>
          <p:cNvSpPr/>
          <p:nvPr/>
        </p:nvSpPr>
        <p:spPr>
          <a:xfrm>
            <a:off x="1212652" y="2095965"/>
            <a:ext cx="342900" cy="342900"/>
          </a:xfrm>
          <a:prstGeom prst="rect">
            <a:avLst/>
          </a:prstGeom>
          <a:solidFill>
            <a:srgbClr val="E3F0FB"/>
          </a:solidFill>
          <a:ln/>
        </p:spPr>
      </p:sp>
      <p:sp>
        <p:nvSpPr>
          <p:cNvPr id="12" name="Text 8"/>
          <p:cNvSpPr/>
          <p:nvPr/>
        </p:nvSpPr>
        <p:spPr>
          <a:xfrm>
            <a:off x="1212652" y="2095965"/>
            <a:ext cx="342900" cy="342900"/>
          </a:xfrm>
          <a:prstGeom prst="rect">
            <a:avLst/>
          </a:prstGeom>
          <a:noFill/>
          <a:ln/>
        </p:spPr>
        <p:txBody>
          <a:bodyPr wrap="none" lIns="0" tIns="0" rIns="0" bIns="0" rtlCol="0" anchor="ctr">
            <a:spAutoFit/>
          </a:bodyPr>
          <a:lstStyle/>
          <a:p>
            <a:pPr algn="ctr" indent="0" marL="0">
              <a:buNone/>
            </a:pPr>
            <a:r>
              <a:rPr lang="en-US" sz="1000" b="1" dirty="0">
                <a:solidFill>
                  <a:srgbClr val="1565C0"/>
                </a:solidFill>
                <a:latin typeface="Noto Sans SC Black" pitchFamily="34" charset="0"/>
                <a:ea typeface="Noto Sans SC Black" pitchFamily="34" charset="-122"/>
                <a:cs typeface="Noto Sans SC Black" pitchFamily="34" charset="-120"/>
              </a:rPr>
              <a:t>01</a:t>
            </a:r>
            <a:endParaRPr lang="en-US" sz="1000" dirty="0"/>
          </a:p>
        </p:txBody>
      </p:sp>
      <p:sp>
        <p:nvSpPr>
          <p:cNvPr id="13" name="Text 9"/>
          <p:cNvSpPr/>
          <p:nvPr/>
        </p:nvSpPr>
        <p:spPr>
          <a:xfrm>
            <a:off x="805458" y="2581740"/>
            <a:ext cx="1157288" cy="180017"/>
          </a:xfrm>
          <a:prstGeom prst="rect">
            <a:avLst/>
          </a:prstGeom>
          <a:noFill/>
          <a:ln/>
        </p:spPr>
        <p:txBody>
          <a:bodyPr wrap="none" lIns="0" tIns="0" rIns="0" bIns="0" rtlCol="0" anchor="t">
            <a:spAutoFit/>
          </a:bodyPr>
          <a:lstStyle/>
          <a:p>
            <a:pPr algn="ctr" indent="0" marL="0">
              <a:lnSpc>
                <a:spcPct val="112000"/>
              </a:lnSpc>
              <a:buNone/>
            </a:pPr>
            <a:r>
              <a:rPr lang="en-US" sz="900" b="1" dirty="0">
                <a:solidFill>
                  <a:srgbClr val="1A3A6B"/>
                </a:solidFill>
                <a:latin typeface="Noto Sans SC Bold" pitchFamily="34" charset="0"/>
                <a:ea typeface="Noto Sans SC Bold" pitchFamily="34" charset="-122"/>
                <a:cs typeface="Noto Sans SC Bold" pitchFamily="34" charset="-120"/>
              </a:rPr>
              <a:t>整体式混凝土声屏障</a:t>
            </a:r>
            <a:endParaRPr lang="en-US" sz="900" dirty="0"/>
          </a:p>
        </p:txBody>
      </p:sp>
      <p:sp>
        <p:nvSpPr>
          <p:cNvPr id="14" name="Shape 10"/>
          <p:cNvSpPr/>
          <p:nvPr/>
        </p:nvSpPr>
        <p:spPr>
          <a:xfrm>
            <a:off x="2553891" y="1678781"/>
            <a:ext cx="1910953" cy="1285875"/>
          </a:xfrm>
          <a:prstGeom prst="rect">
            <a:avLst/>
          </a:prstGeom>
          <a:solidFill>
            <a:srgbClr val="F8F9FA"/>
          </a:solidFill>
          <a:ln/>
        </p:spPr>
      </p:sp>
      <p:sp>
        <p:nvSpPr>
          <p:cNvPr id="15" name="Shape 11"/>
          <p:cNvSpPr/>
          <p:nvPr/>
        </p:nvSpPr>
        <p:spPr>
          <a:xfrm>
            <a:off x="2553891" y="1678781"/>
            <a:ext cx="1910953" cy="28575"/>
          </a:xfrm>
          <a:prstGeom prst="rect">
            <a:avLst/>
          </a:prstGeom>
          <a:solidFill>
            <a:srgbClr val="1565C0"/>
          </a:solidFill>
          <a:ln/>
        </p:spPr>
      </p:sp>
      <p:sp>
        <p:nvSpPr>
          <p:cNvPr id="16" name="Shape 12"/>
          <p:cNvSpPr/>
          <p:nvPr/>
        </p:nvSpPr>
        <p:spPr>
          <a:xfrm>
            <a:off x="4457700" y="1678781"/>
            <a:ext cx="7144" cy="1285875"/>
          </a:xfrm>
          <a:prstGeom prst="rect">
            <a:avLst/>
          </a:prstGeom>
          <a:solidFill>
            <a:srgbClr val="E0E0E0"/>
          </a:solidFill>
          <a:ln/>
        </p:spPr>
      </p:sp>
      <p:sp>
        <p:nvSpPr>
          <p:cNvPr id="17" name="Shape 13"/>
          <p:cNvSpPr/>
          <p:nvPr/>
        </p:nvSpPr>
        <p:spPr>
          <a:xfrm>
            <a:off x="2553891" y="2957513"/>
            <a:ext cx="1910953" cy="7144"/>
          </a:xfrm>
          <a:prstGeom prst="rect">
            <a:avLst/>
          </a:prstGeom>
          <a:solidFill>
            <a:srgbClr val="E0E0E0"/>
          </a:solidFill>
          <a:ln/>
        </p:spPr>
      </p:sp>
      <p:sp>
        <p:nvSpPr>
          <p:cNvPr id="18" name="Shape 14"/>
          <p:cNvSpPr/>
          <p:nvPr/>
        </p:nvSpPr>
        <p:spPr>
          <a:xfrm>
            <a:off x="2553891" y="1678781"/>
            <a:ext cx="7144" cy="1285875"/>
          </a:xfrm>
          <a:prstGeom prst="rect">
            <a:avLst/>
          </a:prstGeom>
          <a:solidFill>
            <a:srgbClr val="E0E0E0"/>
          </a:solidFill>
          <a:ln/>
        </p:spPr>
      </p:sp>
      <p:sp>
        <p:nvSpPr>
          <p:cNvPr id="19" name="Shape 15"/>
          <p:cNvSpPr/>
          <p:nvPr/>
        </p:nvSpPr>
        <p:spPr>
          <a:xfrm>
            <a:off x="3337917" y="2005971"/>
            <a:ext cx="342900" cy="342900"/>
          </a:xfrm>
          <a:prstGeom prst="rect">
            <a:avLst/>
          </a:prstGeom>
          <a:solidFill>
            <a:srgbClr val="E3F0FB"/>
          </a:solidFill>
          <a:ln/>
        </p:spPr>
      </p:sp>
      <p:sp>
        <p:nvSpPr>
          <p:cNvPr id="20" name="Text 16"/>
          <p:cNvSpPr/>
          <p:nvPr/>
        </p:nvSpPr>
        <p:spPr>
          <a:xfrm>
            <a:off x="3337917" y="2005971"/>
            <a:ext cx="342900" cy="342900"/>
          </a:xfrm>
          <a:prstGeom prst="rect">
            <a:avLst/>
          </a:prstGeom>
          <a:noFill/>
          <a:ln/>
        </p:spPr>
        <p:txBody>
          <a:bodyPr wrap="none" lIns="0" tIns="0" rIns="0" bIns="0" rtlCol="0" anchor="ctr">
            <a:spAutoFit/>
          </a:bodyPr>
          <a:lstStyle/>
          <a:p>
            <a:pPr algn="ctr" indent="0" marL="0">
              <a:buNone/>
            </a:pPr>
            <a:r>
              <a:rPr lang="en-US" sz="1000" b="1" dirty="0">
                <a:solidFill>
                  <a:srgbClr val="1565C0"/>
                </a:solidFill>
                <a:latin typeface="Noto Sans SC Black" pitchFamily="34" charset="0"/>
                <a:ea typeface="Noto Sans SC Black" pitchFamily="34" charset="-122"/>
                <a:cs typeface="Noto Sans SC Black" pitchFamily="34" charset="-120"/>
              </a:rPr>
              <a:t>02</a:t>
            </a:r>
            <a:endParaRPr lang="en-US" sz="1000" dirty="0"/>
          </a:p>
        </p:txBody>
      </p:sp>
      <p:sp>
        <p:nvSpPr>
          <p:cNvPr id="21" name="Text 17"/>
          <p:cNvSpPr/>
          <p:nvPr/>
        </p:nvSpPr>
        <p:spPr>
          <a:xfrm>
            <a:off x="2696766" y="2491746"/>
            <a:ext cx="1625203" cy="360034"/>
          </a:xfrm>
          <a:prstGeom prst="rect">
            <a:avLst/>
          </a:prstGeom>
          <a:noFill/>
          <a:ln/>
        </p:spPr>
        <p:txBody>
          <a:bodyPr wrap="square" lIns="0" tIns="0" rIns="0" bIns="0" rtlCol="0" anchor="t">
            <a:spAutoFit/>
          </a:bodyPr>
          <a:lstStyle/>
          <a:p>
            <a:pPr algn="ctr" indent="0" marL="0">
              <a:lnSpc>
                <a:spcPct val="112000"/>
              </a:lnSpc>
              <a:buNone/>
            </a:pPr>
            <a:r>
              <a:rPr lang="en-US" sz="900" b="1" dirty="0">
                <a:solidFill>
                  <a:srgbClr val="1A3A6B"/>
                </a:solidFill>
                <a:latin typeface="Noto Sans SC Bold" pitchFamily="34" charset="0"/>
                <a:ea typeface="Noto Sans SC Bold" pitchFamily="34" charset="-122"/>
                <a:cs typeface="Noto Sans SC Bold" pitchFamily="34" charset="-120"/>
              </a:rPr>
              <a:t>2.15米桥梁金属插板式声屏障</a:t>
            </a:r>
            <a:endParaRPr lang="en-US" sz="900" dirty="0"/>
          </a:p>
        </p:txBody>
      </p:sp>
      <p:sp>
        <p:nvSpPr>
          <p:cNvPr id="22" name="Shape 18"/>
          <p:cNvSpPr/>
          <p:nvPr/>
        </p:nvSpPr>
        <p:spPr>
          <a:xfrm>
            <a:off x="4679156" y="1678781"/>
            <a:ext cx="1910953" cy="1285875"/>
          </a:xfrm>
          <a:prstGeom prst="rect">
            <a:avLst/>
          </a:prstGeom>
          <a:solidFill>
            <a:srgbClr val="F8F9FA"/>
          </a:solidFill>
          <a:ln/>
        </p:spPr>
      </p:sp>
      <p:sp>
        <p:nvSpPr>
          <p:cNvPr id="23" name="Shape 19"/>
          <p:cNvSpPr/>
          <p:nvPr/>
        </p:nvSpPr>
        <p:spPr>
          <a:xfrm>
            <a:off x="4679156" y="1678781"/>
            <a:ext cx="1910953" cy="28575"/>
          </a:xfrm>
          <a:prstGeom prst="rect">
            <a:avLst/>
          </a:prstGeom>
          <a:solidFill>
            <a:srgbClr val="1565C0"/>
          </a:solidFill>
          <a:ln/>
        </p:spPr>
      </p:sp>
      <p:sp>
        <p:nvSpPr>
          <p:cNvPr id="24" name="Shape 20"/>
          <p:cNvSpPr/>
          <p:nvPr/>
        </p:nvSpPr>
        <p:spPr>
          <a:xfrm>
            <a:off x="6582966" y="1678781"/>
            <a:ext cx="7144" cy="1285875"/>
          </a:xfrm>
          <a:prstGeom prst="rect">
            <a:avLst/>
          </a:prstGeom>
          <a:solidFill>
            <a:srgbClr val="E0E0E0"/>
          </a:solidFill>
          <a:ln/>
        </p:spPr>
      </p:sp>
      <p:sp>
        <p:nvSpPr>
          <p:cNvPr id="25" name="Shape 21"/>
          <p:cNvSpPr/>
          <p:nvPr/>
        </p:nvSpPr>
        <p:spPr>
          <a:xfrm>
            <a:off x="4679156" y="2957513"/>
            <a:ext cx="1910953" cy="7144"/>
          </a:xfrm>
          <a:prstGeom prst="rect">
            <a:avLst/>
          </a:prstGeom>
          <a:solidFill>
            <a:srgbClr val="E0E0E0"/>
          </a:solidFill>
          <a:ln/>
        </p:spPr>
      </p:sp>
      <p:sp>
        <p:nvSpPr>
          <p:cNvPr id="26" name="Shape 22"/>
          <p:cNvSpPr/>
          <p:nvPr/>
        </p:nvSpPr>
        <p:spPr>
          <a:xfrm>
            <a:off x="4679156" y="1678781"/>
            <a:ext cx="7144" cy="1285875"/>
          </a:xfrm>
          <a:prstGeom prst="rect">
            <a:avLst/>
          </a:prstGeom>
          <a:solidFill>
            <a:srgbClr val="E0E0E0"/>
          </a:solidFill>
          <a:ln/>
        </p:spPr>
      </p:sp>
      <p:sp>
        <p:nvSpPr>
          <p:cNvPr id="27" name="Shape 23"/>
          <p:cNvSpPr/>
          <p:nvPr/>
        </p:nvSpPr>
        <p:spPr>
          <a:xfrm>
            <a:off x="5463183" y="2005775"/>
            <a:ext cx="342900" cy="342900"/>
          </a:xfrm>
          <a:prstGeom prst="rect">
            <a:avLst/>
          </a:prstGeom>
          <a:solidFill>
            <a:srgbClr val="E3F0FB"/>
          </a:solidFill>
          <a:ln/>
        </p:spPr>
      </p:sp>
      <p:sp>
        <p:nvSpPr>
          <p:cNvPr id="28" name="Text 24"/>
          <p:cNvSpPr/>
          <p:nvPr/>
        </p:nvSpPr>
        <p:spPr>
          <a:xfrm>
            <a:off x="5463183" y="2005775"/>
            <a:ext cx="342900" cy="342900"/>
          </a:xfrm>
          <a:prstGeom prst="rect">
            <a:avLst/>
          </a:prstGeom>
          <a:noFill/>
          <a:ln/>
        </p:spPr>
        <p:txBody>
          <a:bodyPr wrap="none" lIns="0" tIns="0" rIns="0" bIns="0" rtlCol="0" anchor="ctr">
            <a:spAutoFit/>
          </a:bodyPr>
          <a:lstStyle/>
          <a:p>
            <a:pPr algn="ctr" indent="0" marL="0">
              <a:buNone/>
            </a:pPr>
            <a:r>
              <a:rPr lang="en-US" sz="1000" b="1" dirty="0">
                <a:solidFill>
                  <a:srgbClr val="1565C0"/>
                </a:solidFill>
                <a:latin typeface="Noto Sans SC Black" pitchFamily="34" charset="0"/>
                <a:ea typeface="Noto Sans SC Black" pitchFamily="34" charset="-122"/>
                <a:cs typeface="Noto Sans SC Black" pitchFamily="34" charset="-120"/>
              </a:rPr>
              <a:t>03</a:t>
            </a:r>
            <a:endParaRPr lang="en-US" sz="1000" dirty="0"/>
          </a:p>
        </p:txBody>
      </p:sp>
      <p:sp>
        <p:nvSpPr>
          <p:cNvPr id="29" name="Text 25"/>
          <p:cNvSpPr/>
          <p:nvPr/>
        </p:nvSpPr>
        <p:spPr>
          <a:xfrm>
            <a:off x="4991695" y="2491550"/>
            <a:ext cx="1285875" cy="180017"/>
          </a:xfrm>
          <a:prstGeom prst="rect">
            <a:avLst/>
          </a:prstGeom>
          <a:noFill/>
          <a:ln/>
        </p:spPr>
        <p:txBody>
          <a:bodyPr wrap="none" lIns="0" tIns="0" rIns="0" bIns="0" rtlCol="0" anchor="t">
            <a:spAutoFit/>
          </a:bodyPr>
          <a:lstStyle/>
          <a:p>
            <a:pPr algn="ctr" indent="0" marL="0">
              <a:lnSpc>
                <a:spcPct val="112000"/>
              </a:lnSpc>
              <a:buNone/>
            </a:pPr>
            <a:r>
              <a:rPr lang="en-US" sz="900" b="1" dirty="0">
                <a:solidFill>
                  <a:srgbClr val="1A3A6B"/>
                </a:solidFill>
                <a:latin typeface="Noto Sans SC Bold" pitchFamily="34" charset="0"/>
                <a:ea typeface="Noto Sans SC Bold" pitchFamily="34" charset="-122"/>
                <a:cs typeface="Noto Sans SC Bold" pitchFamily="34" charset="-120"/>
              </a:rPr>
              <a:t>桥梁金属插板式声屏障</a:t>
            </a:r>
            <a:endParaRPr lang="en-US" sz="900" dirty="0"/>
          </a:p>
        </p:txBody>
      </p:sp>
      <p:sp>
        <p:nvSpPr>
          <p:cNvPr id="30" name="Text 26"/>
          <p:cNvSpPr/>
          <p:nvPr/>
        </p:nvSpPr>
        <p:spPr>
          <a:xfrm>
            <a:off x="5450681" y="2707286"/>
            <a:ext cx="367903" cy="144661"/>
          </a:xfrm>
          <a:prstGeom prst="rect">
            <a:avLst/>
          </a:prstGeom>
          <a:noFill/>
          <a:ln/>
        </p:spPr>
        <p:txBody>
          <a:bodyPr wrap="none" lIns="0" tIns="0" rIns="0" bIns="0" rtlCol="0" anchor="t">
            <a:spAutoFit/>
          </a:bodyPr>
          <a:lstStyle/>
          <a:p>
            <a:pPr algn="ctr" indent="0" marL="0">
              <a:buNone/>
            </a:pPr>
            <a:r>
              <a:rPr lang="en-US" sz="750" dirty="0">
                <a:solidFill>
                  <a:srgbClr val="666666"/>
                </a:solidFill>
                <a:latin typeface="Noto Sans SC" pitchFamily="34" charset="0"/>
                <a:ea typeface="Noto Sans SC" pitchFamily="34" charset="-122"/>
                <a:cs typeface="Noto Sans SC" pitchFamily="34" charset="-120"/>
              </a:rPr>
              <a:t>(钢支架)</a:t>
            </a:r>
            <a:endParaRPr lang="en-US" sz="750" dirty="0"/>
          </a:p>
        </p:txBody>
      </p:sp>
      <p:sp>
        <p:nvSpPr>
          <p:cNvPr id="31" name="Shape 27"/>
          <p:cNvSpPr/>
          <p:nvPr/>
        </p:nvSpPr>
        <p:spPr>
          <a:xfrm>
            <a:off x="6804422" y="1678781"/>
            <a:ext cx="1910953" cy="1285875"/>
          </a:xfrm>
          <a:prstGeom prst="rect">
            <a:avLst/>
          </a:prstGeom>
          <a:solidFill>
            <a:srgbClr val="F8F9FA"/>
          </a:solidFill>
          <a:ln/>
        </p:spPr>
      </p:sp>
      <p:sp>
        <p:nvSpPr>
          <p:cNvPr id="32" name="Shape 28"/>
          <p:cNvSpPr/>
          <p:nvPr/>
        </p:nvSpPr>
        <p:spPr>
          <a:xfrm>
            <a:off x="6804422" y="1678781"/>
            <a:ext cx="1910953" cy="28575"/>
          </a:xfrm>
          <a:prstGeom prst="rect">
            <a:avLst/>
          </a:prstGeom>
          <a:solidFill>
            <a:srgbClr val="1565C0"/>
          </a:solidFill>
          <a:ln/>
        </p:spPr>
      </p:sp>
      <p:sp>
        <p:nvSpPr>
          <p:cNvPr id="33" name="Shape 29"/>
          <p:cNvSpPr/>
          <p:nvPr/>
        </p:nvSpPr>
        <p:spPr>
          <a:xfrm>
            <a:off x="8708231" y="1678781"/>
            <a:ext cx="7144" cy="1285875"/>
          </a:xfrm>
          <a:prstGeom prst="rect">
            <a:avLst/>
          </a:prstGeom>
          <a:solidFill>
            <a:srgbClr val="E0E0E0"/>
          </a:solidFill>
          <a:ln/>
        </p:spPr>
      </p:sp>
      <p:sp>
        <p:nvSpPr>
          <p:cNvPr id="34" name="Shape 30"/>
          <p:cNvSpPr/>
          <p:nvPr/>
        </p:nvSpPr>
        <p:spPr>
          <a:xfrm>
            <a:off x="6804422" y="2957513"/>
            <a:ext cx="1910953" cy="7144"/>
          </a:xfrm>
          <a:prstGeom prst="rect">
            <a:avLst/>
          </a:prstGeom>
          <a:solidFill>
            <a:srgbClr val="E0E0E0"/>
          </a:solidFill>
          <a:ln/>
        </p:spPr>
      </p:sp>
      <p:sp>
        <p:nvSpPr>
          <p:cNvPr id="35" name="Shape 31"/>
          <p:cNvSpPr/>
          <p:nvPr/>
        </p:nvSpPr>
        <p:spPr>
          <a:xfrm>
            <a:off x="6804422" y="1678781"/>
            <a:ext cx="7144" cy="1285875"/>
          </a:xfrm>
          <a:prstGeom prst="rect">
            <a:avLst/>
          </a:prstGeom>
          <a:solidFill>
            <a:srgbClr val="E0E0E0"/>
          </a:solidFill>
          <a:ln/>
        </p:spPr>
      </p:sp>
      <p:sp>
        <p:nvSpPr>
          <p:cNvPr id="36" name="Shape 32"/>
          <p:cNvSpPr/>
          <p:nvPr/>
        </p:nvSpPr>
        <p:spPr>
          <a:xfrm>
            <a:off x="7588448" y="2005775"/>
            <a:ext cx="342900" cy="342900"/>
          </a:xfrm>
          <a:prstGeom prst="rect">
            <a:avLst/>
          </a:prstGeom>
          <a:solidFill>
            <a:srgbClr val="E3F0FB"/>
          </a:solidFill>
          <a:ln/>
        </p:spPr>
      </p:sp>
      <p:sp>
        <p:nvSpPr>
          <p:cNvPr id="37" name="Text 33"/>
          <p:cNvSpPr/>
          <p:nvPr/>
        </p:nvSpPr>
        <p:spPr>
          <a:xfrm>
            <a:off x="7588448" y="2005775"/>
            <a:ext cx="342900" cy="342900"/>
          </a:xfrm>
          <a:prstGeom prst="rect">
            <a:avLst/>
          </a:prstGeom>
          <a:noFill/>
          <a:ln/>
        </p:spPr>
        <p:txBody>
          <a:bodyPr wrap="none" lIns="0" tIns="0" rIns="0" bIns="0" rtlCol="0" anchor="ctr">
            <a:spAutoFit/>
          </a:bodyPr>
          <a:lstStyle/>
          <a:p>
            <a:pPr algn="ctr" indent="0" marL="0">
              <a:buNone/>
            </a:pPr>
            <a:r>
              <a:rPr lang="en-US" sz="1000" b="1" dirty="0">
                <a:solidFill>
                  <a:srgbClr val="1565C0"/>
                </a:solidFill>
                <a:latin typeface="Noto Sans SC Black" pitchFamily="34" charset="0"/>
                <a:ea typeface="Noto Sans SC Black" pitchFamily="34" charset="-122"/>
                <a:cs typeface="Noto Sans SC Black" pitchFamily="34" charset="-120"/>
              </a:rPr>
              <a:t>04</a:t>
            </a:r>
            <a:endParaRPr lang="en-US" sz="1000" dirty="0"/>
          </a:p>
        </p:txBody>
      </p:sp>
      <p:sp>
        <p:nvSpPr>
          <p:cNvPr id="38" name="Text 34"/>
          <p:cNvSpPr/>
          <p:nvPr/>
        </p:nvSpPr>
        <p:spPr>
          <a:xfrm>
            <a:off x="7052667" y="2491550"/>
            <a:ext cx="1414463" cy="180017"/>
          </a:xfrm>
          <a:prstGeom prst="rect">
            <a:avLst/>
          </a:prstGeom>
          <a:noFill/>
          <a:ln/>
        </p:spPr>
        <p:txBody>
          <a:bodyPr wrap="none" lIns="0" tIns="0" rIns="0" bIns="0" rtlCol="0" anchor="t">
            <a:spAutoFit/>
          </a:bodyPr>
          <a:lstStyle/>
          <a:p>
            <a:pPr algn="ctr" indent="0" marL="0">
              <a:lnSpc>
                <a:spcPct val="112000"/>
              </a:lnSpc>
              <a:buNone/>
            </a:pPr>
            <a:r>
              <a:rPr lang="en-US" sz="900" b="1" dirty="0">
                <a:solidFill>
                  <a:srgbClr val="1A3A6B"/>
                </a:solidFill>
                <a:latin typeface="Noto Sans SC Bold" pitchFamily="34" charset="0"/>
                <a:ea typeface="Noto Sans SC Bold" pitchFamily="34" charset="-122"/>
                <a:cs typeface="Noto Sans SC Bold" pitchFamily="34" charset="-120"/>
              </a:rPr>
              <a:t>桥梁非金属插板式声屏障</a:t>
            </a:r>
            <a:endParaRPr lang="en-US" sz="900" dirty="0"/>
          </a:p>
        </p:txBody>
      </p:sp>
      <p:sp>
        <p:nvSpPr>
          <p:cNvPr id="39" name="Text 35"/>
          <p:cNvSpPr/>
          <p:nvPr/>
        </p:nvSpPr>
        <p:spPr>
          <a:xfrm>
            <a:off x="7575947" y="2707286"/>
            <a:ext cx="367903" cy="144661"/>
          </a:xfrm>
          <a:prstGeom prst="rect">
            <a:avLst/>
          </a:prstGeom>
          <a:noFill/>
          <a:ln/>
        </p:spPr>
        <p:txBody>
          <a:bodyPr wrap="none" lIns="0" tIns="0" rIns="0" bIns="0" rtlCol="0" anchor="t">
            <a:spAutoFit/>
          </a:bodyPr>
          <a:lstStyle/>
          <a:p>
            <a:pPr algn="ctr" indent="0" marL="0">
              <a:buNone/>
            </a:pPr>
            <a:r>
              <a:rPr lang="en-US" sz="750" dirty="0">
                <a:solidFill>
                  <a:srgbClr val="666666"/>
                </a:solidFill>
                <a:latin typeface="Noto Sans SC" pitchFamily="34" charset="0"/>
                <a:ea typeface="Noto Sans SC" pitchFamily="34" charset="-122"/>
                <a:cs typeface="Noto Sans SC" pitchFamily="34" charset="-120"/>
              </a:rPr>
              <a:t>(钢支架)</a:t>
            </a:r>
            <a:endParaRPr lang="en-US" sz="750" dirty="0"/>
          </a:p>
        </p:txBody>
      </p:sp>
      <p:sp>
        <p:nvSpPr>
          <p:cNvPr id="40" name="Shape 36"/>
          <p:cNvSpPr/>
          <p:nvPr/>
        </p:nvSpPr>
        <p:spPr>
          <a:xfrm>
            <a:off x="428625" y="3178969"/>
            <a:ext cx="1910953" cy="1285875"/>
          </a:xfrm>
          <a:prstGeom prst="rect">
            <a:avLst/>
          </a:prstGeom>
          <a:solidFill>
            <a:srgbClr val="F8F9FA"/>
          </a:solidFill>
          <a:ln/>
        </p:spPr>
      </p:sp>
      <p:sp>
        <p:nvSpPr>
          <p:cNvPr id="41" name="Shape 37"/>
          <p:cNvSpPr/>
          <p:nvPr/>
        </p:nvSpPr>
        <p:spPr>
          <a:xfrm>
            <a:off x="428625" y="3178969"/>
            <a:ext cx="1910953" cy="28575"/>
          </a:xfrm>
          <a:prstGeom prst="rect">
            <a:avLst/>
          </a:prstGeom>
          <a:solidFill>
            <a:srgbClr val="1565C0"/>
          </a:solidFill>
          <a:ln/>
        </p:spPr>
      </p:sp>
      <p:sp>
        <p:nvSpPr>
          <p:cNvPr id="42" name="Shape 38"/>
          <p:cNvSpPr/>
          <p:nvPr/>
        </p:nvSpPr>
        <p:spPr>
          <a:xfrm>
            <a:off x="2332434" y="3178969"/>
            <a:ext cx="7144" cy="1285875"/>
          </a:xfrm>
          <a:prstGeom prst="rect">
            <a:avLst/>
          </a:prstGeom>
          <a:solidFill>
            <a:srgbClr val="E0E0E0"/>
          </a:solidFill>
          <a:ln/>
        </p:spPr>
      </p:sp>
      <p:sp>
        <p:nvSpPr>
          <p:cNvPr id="43" name="Shape 39"/>
          <p:cNvSpPr/>
          <p:nvPr/>
        </p:nvSpPr>
        <p:spPr>
          <a:xfrm>
            <a:off x="428625" y="4457700"/>
            <a:ext cx="1910953" cy="7144"/>
          </a:xfrm>
          <a:prstGeom prst="rect">
            <a:avLst/>
          </a:prstGeom>
          <a:solidFill>
            <a:srgbClr val="E0E0E0"/>
          </a:solidFill>
          <a:ln/>
        </p:spPr>
      </p:sp>
      <p:sp>
        <p:nvSpPr>
          <p:cNvPr id="44" name="Shape 40"/>
          <p:cNvSpPr/>
          <p:nvPr/>
        </p:nvSpPr>
        <p:spPr>
          <a:xfrm>
            <a:off x="428625" y="3178969"/>
            <a:ext cx="7144" cy="1285875"/>
          </a:xfrm>
          <a:prstGeom prst="rect">
            <a:avLst/>
          </a:prstGeom>
          <a:solidFill>
            <a:srgbClr val="E0E0E0"/>
          </a:solidFill>
          <a:ln/>
        </p:spPr>
      </p:sp>
      <p:sp>
        <p:nvSpPr>
          <p:cNvPr id="45" name="Shape 41"/>
          <p:cNvSpPr/>
          <p:nvPr/>
        </p:nvSpPr>
        <p:spPr>
          <a:xfrm>
            <a:off x="1212652" y="3505963"/>
            <a:ext cx="342900" cy="342900"/>
          </a:xfrm>
          <a:prstGeom prst="rect">
            <a:avLst/>
          </a:prstGeom>
          <a:solidFill>
            <a:srgbClr val="E3F0FB"/>
          </a:solidFill>
          <a:ln/>
        </p:spPr>
      </p:sp>
      <p:sp>
        <p:nvSpPr>
          <p:cNvPr id="46" name="Text 42"/>
          <p:cNvSpPr/>
          <p:nvPr/>
        </p:nvSpPr>
        <p:spPr>
          <a:xfrm>
            <a:off x="1212652" y="3505963"/>
            <a:ext cx="342900" cy="342900"/>
          </a:xfrm>
          <a:prstGeom prst="rect">
            <a:avLst/>
          </a:prstGeom>
          <a:noFill/>
          <a:ln/>
        </p:spPr>
        <p:txBody>
          <a:bodyPr wrap="none" lIns="0" tIns="0" rIns="0" bIns="0" rtlCol="0" anchor="ctr">
            <a:spAutoFit/>
          </a:bodyPr>
          <a:lstStyle/>
          <a:p>
            <a:pPr algn="ctr" indent="0" marL="0">
              <a:buNone/>
            </a:pPr>
            <a:r>
              <a:rPr lang="en-US" sz="1000" b="1" dirty="0">
                <a:solidFill>
                  <a:srgbClr val="1565C0"/>
                </a:solidFill>
                <a:latin typeface="Noto Sans SC Black" pitchFamily="34" charset="0"/>
                <a:ea typeface="Noto Sans SC Black" pitchFamily="34" charset="-122"/>
                <a:cs typeface="Noto Sans SC Black" pitchFamily="34" charset="-120"/>
              </a:rPr>
              <a:t>05</a:t>
            </a:r>
            <a:endParaRPr lang="en-US" sz="1000" dirty="0"/>
          </a:p>
        </p:txBody>
      </p:sp>
      <p:sp>
        <p:nvSpPr>
          <p:cNvPr id="47" name="Text 43"/>
          <p:cNvSpPr/>
          <p:nvPr/>
        </p:nvSpPr>
        <p:spPr>
          <a:xfrm>
            <a:off x="741164" y="3991738"/>
            <a:ext cx="1285875" cy="180017"/>
          </a:xfrm>
          <a:prstGeom prst="rect">
            <a:avLst/>
          </a:prstGeom>
          <a:noFill/>
          <a:ln/>
        </p:spPr>
        <p:txBody>
          <a:bodyPr wrap="none" lIns="0" tIns="0" rIns="0" bIns="0" rtlCol="0" anchor="t">
            <a:spAutoFit/>
          </a:bodyPr>
          <a:lstStyle/>
          <a:p>
            <a:pPr algn="ctr" indent="0" marL="0">
              <a:lnSpc>
                <a:spcPct val="112000"/>
              </a:lnSpc>
              <a:buNone/>
            </a:pPr>
            <a:r>
              <a:rPr lang="en-US" sz="900" b="1" dirty="0">
                <a:solidFill>
                  <a:srgbClr val="1A3A6B"/>
                </a:solidFill>
                <a:latin typeface="Noto Sans SC Bold" pitchFamily="34" charset="0"/>
                <a:ea typeface="Noto Sans SC Bold" pitchFamily="34" charset="-122"/>
                <a:cs typeface="Noto Sans SC Bold" pitchFamily="34" charset="-120"/>
              </a:rPr>
              <a:t>桥梁金属插板式声屏障</a:t>
            </a:r>
            <a:endParaRPr lang="en-US" sz="900" dirty="0"/>
          </a:p>
        </p:txBody>
      </p:sp>
      <p:sp>
        <p:nvSpPr>
          <p:cNvPr id="48" name="Text 44"/>
          <p:cNvSpPr/>
          <p:nvPr/>
        </p:nvSpPr>
        <p:spPr>
          <a:xfrm>
            <a:off x="1200150" y="4207473"/>
            <a:ext cx="367903" cy="144661"/>
          </a:xfrm>
          <a:prstGeom prst="rect">
            <a:avLst/>
          </a:prstGeom>
          <a:noFill/>
          <a:ln/>
        </p:spPr>
        <p:txBody>
          <a:bodyPr wrap="none" lIns="0" tIns="0" rIns="0" bIns="0" rtlCol="0" anchor="t">
            <a:spAutoFit/>
          </a:bodyPr>
          <a:lstStyle/>
          <a:p>
            <a:pPr algn="ctr" indent="0" marL="0">
              <a:buNone/>
            </a:pPr>
            <a:r>
              <a:rPr lang="en-US" sz="750" dirty="0">
                <a:solidFill>
                  <a:srgbClr val="666666"/>
                </a:solidFill>
                <a:latin typeface="Noto Sans SC" pitchFamily="34" charset="0"/>
                <a:ea typeface="Noto Sans SC" pitchFamily="34" charset="-122"/>
                <a:cs typeface="Noto Sans SC" pitchFamily="34" charset="-120"/>
              </a:rPr>
              <a:t>(钢支架)</a:t>
            </a:r>
            <a:endParaRPr lang="en-US" sz="750" dirty="0"/>
          </a:p>
        </p:txBody>
      </p:sp>
      <p:sp>
        <p:nvSpPr>
          <p:cNvPr id="49" name="Shape 45"/>
          <p:cNvSpPr/>
          <p:nvPr/>
        </p:nvSpPr>
        <p:spPr>
          <a:xfrm>
            <a:off x="2553891" y="3178969"/>
            <a:ext cx="1910953" cy="1285875"/>
          </a:xfrm>
          <a:prstGeom prst="rect">
            <a:avLst/>
          </a:prstGeom>
          <a:solidFill>
            <a:srgbClr val="F8F9FA"/>
          </a:solidFill>
          <a:ln/>
        </p:spPr>
      </p:sp>
      <p:sp>
        <p:nvSpPr>
          <p:cNvPr id="50" name="Shape 46"/>
          <p:cNvSpPr/>
          <p:nvPr/>
        </p:nvSpPr>
        <p:spPr>
          <a:xfrm>
            <a:off x="2553891" y="3178969"/>
            <a:ext cx="1910953" cy="28575"/>
          </a:xfrm>
          <a:prstGeom prst="rect">
            <a:avLst/>
          </a:prstGeom>
          <a:solidFill>
            <a:srgbClr val="1565C0"/>
          </a:solidFill>
          <a:ln/>
        </p:spPr>
      </p:sp>
      <p:sp>
        <p:nvSpPr>
          <p:cNvPr id="51" name="Shape 47"/>
          <p:cNvSpPr/>
          <p:nvPr/>
        </p:nvSpPr>
        <p:spPr>
          <a:xfrm>
            <a:off x="4457700" y="3178969"/>
            <a:ext cx="7144" cy="1285875"/>
          </a:xfrm>
          <a:prstGeom prst="rect">
            <a:avLst/>
          </a:prstGeom>
          <a:solidFill>
            <a:srgbClr val="E0E0E0"/>
          </a:solidFill>
          <a:ln/>
        </p:spPr>
      </p:sp>
      <p:sp>
        <p:nvSpPr>
          <p:cNvPr id="52" name="Shape 48"/>
          <p:cNvSpPr/>
          <p:nvPr/>
        </p:nvSpPr>
        <p:spPr>
          <a:xfrm>
            <a:off x="2553891" y="4457700"/>
            <a:ext cx="1910953" cy="7144"/>
          </a:xfrm>
          <a:prstGeom prst="rect">
            <a:avLst/>
          </a:prstGeom>
          <a:solidFill>
            <a:srgbClr val="E0E0E0"/>
          </a:solidFill>
          <a:ln/>
        </p:spPr>
      </p:sp>
      <p:sp>
        <p:nvSpPr>
          <p:cNvPr id="53" name="Shape 49"/>
          <p:cNvSpPr/>
          <p:nvPr/>
        </p:nvSpPr>
        <p:spPr>
          <a:xfrm>
            <a:off x="2553891" y="3178969"/>
            <a:ext cx="7144" cy="1285875"/>
          </a:xfrm>
          <a:prstGeom prst="rect">
            <a:avLst/>
          </a:prstGeom>
          <a:solidFill>
            <a:srgbClr val="E0E0E0"/>
          </a:solidFill>
          <a:ln/>
        </p:spPr>
      </p:sp>
      <p:sp>
        <p:nvSpPr>
          <p:cNvPr id="54" name="Shape 50"/>
          <p:cNvSpPr/>
          <p:nvPr/>
        </p:nvSpPr>
        <p:spPr>
          <a:xfrm>
            <a:off x="3337917" y="3596153"/>
            <a:ext cx="342900" cy="342900"/>
          </a:xfrm>
          <a:prstGeom prst="rect">
            <a:avLst/>
          </a:prstGeom>
          <a:solidFill>
            <a:srgbClr val="E3F0FB"/>
          </a:solidFill>
          <a:ln/>
        </p:spPr>
      </p:sp>
      <p:sp>
        <p:nvSpPr>
          <p:cNvPr id="55" name="Text 51"/>
          <p:cNvSpPr/>
          <p:nvPr/>
        </p:nvSpPr>
        <p:spPr>
          <a:xfrm>
            <a:off x="3337917" y="3596153"/>
            <a:ext cx="342900" cy="342900"/>
          </a:xfrm>
          <a:prstGeom prst="rect">
            <a:avLst/>
          </a:prstGeom>
          <a:noFill/>
          <a:ln/>
        </p:spPr>
        <p:txBody>
          <a:bodyPr wrap="none" lIns="0" tIns="0" rIns="0" bIns="0" rtlCol="0" anchor="ctr">
            <a:spAutoFit/>
          </a:bodyPr>
          <a:lstStyle/>
          <a:p>
            <a:pPr algn="ctr" indent="0" marL="0">
              <a:buNone/>
            </a:pPr>
            <a:r>
              <a:rPr lang="en-US" sz="1000" b="1" dirty="0">
                <a:solidFill>
                  <a:srgbClr val="1565C0"/>
                </a:solidFill>
                <a:latin typeface="Noto Sans SC Black" pitchFamily="34" charset="0"/>
                <a:ea typeface="Noto Sans SC Black" pitchFamily="34" charset="-122"/>
                <a:cs typeface="Noto Sans SC Black" pitchFamily="34" charset="-120"/>
              </a:rPr>
              <a:t>06</a:t>
            </a:r>
            <a:endParaRPr lang="en-US" sz="1000" dirty="0"/>
          </a:p>
        </p:txBody>
      </p:sp>
      <p:sp>
        <p:nvSpPr>
          <p:cNvPr id="56" name="Text 52"/>
          <p:cNvSpPr/>
          <p:nvPr/>
        </p:nvSpPr>
        <p:spPr>
          <a:xfrm>
            <a:off x="2725341" y="4081928"/>
            <a:ext cx="1568053" cy="180017"/>
          </a:xfrm>
          <a:prstGeom prst="rect">
            <a:avLst/>
          </a:prstGeom>
          <a:noFill/>
          <a:ln/>
        </p:spPr>
        <p:txBody>
          <a:bodyPr wrap="none" lIns="0" tIns="0" rIns="0" bIns="0" rtlCol="0" anchor="t">
            <a:spAutoFit/>
          </a:bodyPr>
          <a:lstStyle/>
          <a:p>
            <a:pPr algn="ctr" indent="0" marL="0">
              <a:lnSpc>
                <a:spcPct val="112000"/>
              </a:lnSpc>
              <a:buNone/>
            </a:pPr>
            <a:r>
              <a:rPr lang="en-US" sz="900" b="1" dirty="0">
                <a:solidFill>
                  <a:srgbClr val="1A3A6B"/>
                </a:solidFill>
                <a:latin typeface="Noto Sans SC Bold" pitchFamily="34" charset="0"/>
                <a:ea typeface="Noto Sans SC Bold" pitchFamily="34" charset="-122"/>
                <a:cs typeface="Noto Sans SC Bold" pitchFamily="34" charset="-120"/>
              </a:rPr>
              <a:t>桥梁PZ型金属插板式声屏障</a:t>
            </a:r>
            <a:endParaRPr lang="en-US" sz="900" dirty="0"/>
          </a:p>
        </p:txBody>
      </p:sp>
      <p:sp>
        <p:nvSpPr>
          <p:cNvPr id="57" name="Shape 53"/>
          <p:cNvSpPr/>
          <p:nvPr/>
        </p:nvSpPr>
        <p:spPr>
          <a:xfrm>
            <a:off x="4679156" y="3178969"/>
            <a:ext cx="1910953" cy="1285875"/>
          </a:xfrm>
          <a:prstGeom prst="rect">
            <a:avLst/>
          </a:prstGeom>
          <a:solidFill>
            <a:srgbClr val="F8F9FA"/>
          </a:solidFill>
          <a:ln/>
        </p:spPr>
      </p:sp>
      <p:sp>
        <p:nvSpPr>
          <p:cNvPr id="58" name="Shape 54"/>
          <p:cNvSpPr/>
          <p:nvPr/>
        </p:nvSpPr>
        <p:spPr>
          <a:xfrm>
            <a:off x="4679156" y="3178969"/>
            <a:ext cx="1910953" cy="28575"/>
          </a:xfrm>
          <a:prstGeom prst="rect">
            <a:avLst/>
          </a:prstGeom>
          <a:solidFill>
            <a:srgbClr val="1565C0"/>
          </a:solidFill>
          <a:ln/>
        </p:spPr>
      </p:sp>
      <p:sp>
        <p:nvSpPr>
          <p:cNvPr id="59" name="Shape 55"/>
          <p:cNvSpPr/>
          <p:nvPr/>
        </p:nvSpPr>
        <p:spPr>
          <a:xfrm>
            <a:off x="6582966" y="3178969"/>
            <a:ext cx="7144" cy="1285875"/>
          </a:xfrm>
          <a:prstGeom prst="rect">
            <a:avLst/>
          </a:prstGeom>
          <a:solidFill>
            <a:srgbClr val="E0E0E0"/>
          </a:solidFill>
          <a:ln/>
        </p:spPr>
      </p:sp>
      <p:sp>
        <p:nvSpPr>
          <p:cNvPr id="60" name="Shape 56"/>
          <p:cNvSpPr/>
          <p:nvPr/>
        </p:nvSpPr>
        <p:spPr>
          <a:xfrm>
            <a:off x="4679156" y="4457700"/>
            <a:ext cx="1910953" cy="7144"/>
          </a:xfrm>
          <a:prstGeom prst="rect">
            <a:avLst/>
          </a:prstGeom>
          <a:solidFill>
            <a:srgbClr val="E0E0E0"/>
          </a:solidFill>
          <a:ln/>
        </p:spPr>
      </p:sp>
      <p:sp>
        <p:nvSpPr>
          <p:cNvPr id="61" name="Shape 57"/>
          <p:cNvSpPr/>
          <p:nvPr/>
        </p:nvSpPr>
        <p:spPr>
          <a:xfrm>
            <a:off x="4679156" y="3178969"/>
            <a:ext cx="7144" cy="1285875"/>
          </a:xfrm>
          <a:prstGeom prst="rect">
            <a:avLst/>
          </a:prstGeom>
          <a:solidFill>
            <a:srgbClr val="E0E0E0"/>
          </a:solidFill>
          <a:ln/>
        </p:spPr>
      </p:sp>
      <p:sp>
        <p:nvSpPr>
          <p:cNvPr id="62" name="Shape 58"/>
          <p:cNvSpPr/>
          <p:nvPr/>
        </p:nvSpPr>
        <p:spPr>
          <a:xfrm>
            <a:off x="5463183" y="3596153"/>
            <a:ext cx="342900" cy="342900"/>
          </a:xfrm>
          <a:prstGeom prst="rect">
            <a:avLst/>
          </a:prstGeom>
          <a:solidFill>
            <a:srgbClr val="E3F0FB"/>
          </a:solidFill>
          <a:ln/>
        </p:spPr>
      </p:sp>
      <p:sp>
        <p:nvSpPr>
          <p:cNvPr id="63" name="Text 59"/>
          <p:cNvSpPr/>
          <p:nvPr/>
        </p:nvSpPr>
        <p:spPr>
          <a:xfrm>
            <a:off x="5463183" y="3596153"/>
            <a:ext cx="342900" cy="342900"/>
          </a:xfrm>
          <a:prstGeom prst="rect">
            <a:avLst/>
          </a:prstGeom>
          <a:noFill/>
          <a:ln/>
        </p:spPr>
        <p:txBody>
          <a:bodyPr wrap="none" lIns="0" tIns="0" rIns="0" bIns="0" rtlCol="0" anchor="ctr">
            <a:spAutoFit/>
          </a:bodyPr>
          <a:lstStyle/>
          <a:p>
            <a:pPr algn="ctr" indent="0" marL="0">
              <a:buNone/>
            </a:pPr>
            <a:r>
              <a:rPr lang="en-US" sz="1000" b="1" dirty="0">
                <a:solidFill>
                  <a:srgbClr val="1565C0"/>
                </a:solidFill>
                <a:latin typeface="Noto Sans SC Black" pitchFamily="34" charset="0"/>
                <a:ea typeface="Noto Sans SC Black" pitchFamily="34" charset="-122"/>
                <a:cs typeface="Noto Sans SC Black" pitchFamily="34" charset="-120"/>
              </a:rPr>
              <a:t>07</a:t>
            </a:r>
            <a:endParaRPr lang="en-US" sz="1000" dirty="0"/>
          </a:p>
        </p:txBody>
      </p:sp>
      <p:sp>
        <p:nvSpPr>
          <p:cNvPr id="64" name="Text 60"/>
          <p:cNvSpPr/>
          <p:nvPr/>
        </p:nvSpPr>
        <p:spPr>
          <a:xfrm>
            <a:off x="4991695" y="4081928"/>
            <a:ext cx="1285875" cy="180017"/>
          </a:xfrm>
          <a:prstGeom prst="rect">
            <a:avLst/>
          </a:prstGeom>
          <a:noFill/>
          <a:ln/>
        </p:spPr>
        <p:txBody>
          <a:bodyPr wrap="none" lIns="0" tIns="0" rIns="0" bIns="0" rtlCol="0" anchor="t">
            <a:spAutoFit/>
          </a:bodyPr>
          <a:lstStyle/>
          <a:p>
            <a:pPr algn="ctr" indent="0" marL="0">
              <a:lnSpc>
                <a:spcPct val="112000"/>
              </a:lnSpc>
              <a:buNone/>
            </a:pPr>
            <a:r>
              <a:rPr lang="en-US" sz="900" b="1" dirty="0">
                <a:solidFill>
                  <a:srgbClr val="1A3A6B"/>
                </a:solidFill>
                <a:latin typeface="Noto Sans SC Bold" pitchFamily="34" charset="0"/>
                <a:ea typeface="Noto Sans SC Bold" pitchFamily="34" charset="-122"/>
                <a:cs typeface="Noto Sans SC Bold" pitchFamily="34" charset="-120"/>
              </a:rPr>
              <a:t>RPC非金属屏体声屏障</a:t>
            </a:r>
            <a:endParaRPr lang="en-US" sz="900" dirty="0"/>
          </a:p>
        </p:txBody>
      </p:sp>
      <p:sp>
        <p:nvSpPr>
          <p:cNvPr id="65" name="Shape 61"/>
          <p:cNvSpPr/>
          <p:nvPr/>
        </p:nvSpPr>
        <p:spPr>
          <a:xfrm>
            <a:off x="6804422" y="3178969"/>
            <a:ext cx="1910953" cy="1285875"/>
          </a:xfrm>
          <a:prstGeom prst="rect">
            <a:avLst/>
          </a:prstGeom>
          <a:solidFill>
            <a:srgbClr val="F8F9FA"/>
          </a:solidFill>
          <a:ln/>
        </p:spPr>
      </p:sp>
      <p:sp>
        <p:nvSpPr>
          <p:cNvPr id="66" name="Shape 62"/>
          <p:cNvSpPr/>
          <p:nvPr/>
        </p:nvSpPr>
        <p:spPr>
          <a:xfrm>
            <a:off x="6804422" y="3178969"/>
            <a:ext cx="1910953" cy="28575"/>
          </a:xfrm>
          <a:prstGeom prst="rect">
            <a:avLst/>
          </a:prstGeom>
          <a:solidFill>
            <a:srgbClr val="1565C0"/>
          </a:solidFill>
          <a:ln/>
        </p:spPr>
      </p:sp>
      <p:sp>
        <p:nvSpPr>
          <p:cNvPr id="67" name="Shape 63"/>
          <p:cNvSpPr/>
          <p:nvPr/>
        </p:nvSpPr>
        <p:spPr>
          <a:xfrm>
            <a:off x="8708231" y="3178969"/>
            <a:ext cx="7144" cy="1285875"/>
          </a:xfrm>
          <a:prstGeom prst="rect">
            <a:avLst/>
          </a:prstGeom>
          <a:solidFill>
            <a:srgbClr val="E0E0E0"/>
          </a:solidFill>
          <a:ln/>
        </p:spPr>
      </p:sp>
      <p:sp>
        <p:nvSpPr>
          <p:cNvPr id="68" name="Shape 64"/>
          <p:cNvSpPr/>
          <p:nvPr/>
        </p:nvSpPr>
        <p:spPr>
          <a:xfrm>
            <a:off x="6804422" y="4457700"/>
            <a:ext cx="1910953" cy="7144"/>
          </a:xfrm>
          <a:prstGeom prst="rect">
            <a:avLst/>
          </a:prstGeom>
          <a:solidFill>
            <a:srgbClr val="E0E0E0"/>
          </a:solidFill>
          <a:ln/>
        </p:spPr>
      </p:sp>
      <p:sp>
        <p:nvSpPr>
          <p:cNvPr id="69" name="Shape 65"/>
          <p:cNvSpPr/>
          <p:nvPr/>
        </p:nvSpPr>
        <p:spPr>
          <a:xfrm>
            <a:off x="6804422" y="3178969"/>
            <a:ext cx="7144" cy="1285875"/>
          </a:xfrm>
          <a:prstGeom prst="rect">
            <a:avLst/>
          </a:prstGeom>
          <a:solidFill>
            <a:srgbClr val="E0E0E0"/>
          </a:solidFill>
          <a:ln/>
        </p:spPr>
      </p:sp>
      <p:sp>
        <p:nvSpPr>
          <p:cNvPr id="70" name="Shape 66"/>
          <p:cNvSpPr/>
          <p:nvPr/>
        </p:nvSpPr>
        <p:spPr>
          <a:xfrm>
            <a:off x="7588448" y="3596153"/>
            <a:ext cx="342900" cy="342900"/>
          </a:xfrm>
          <a:prstGeom prst="rect">
            <a:avLst/>
          </a:prstGeom>
          <a:solidFill>
            <a:srgbClr val="E3F0FB"/>
          </a:solidFill>
          <a:ln/>
        </p:spPr>
      </p:sp>
      <p:sp>
        <p:nvSpPr>
          <p:cNvPr id="71" name="Text 67"/>
          <p:cNvSpPr/>
          <p:nvPr/>
        </p:nvSpPr>
        <p:spPr>
          <a:xfrm>
            <a:off x="7588448" y="3596153"/>
            <a:ext cx="342900" cy="342900"/>
          </a:xfrm>
          <a:prstGeom prst="rect">
            <a:avLst/>
          </a:prstGeom>
          <a:noFill/>
          <a:ln/>
        </p:spPr>
        <p:txBody>
          <a:bodyPr wrap="none" lIns="0" tIns="0" rIns="0" bIns="0" rtlCol="0" anchor="ctr">
            <a:spAutoFit/>
          </a:bodyPr>
          <a:lstStyle/>
          <a:p>
            <a:pPr algn="ctr" indent="0" marL="0">
              <a:buNone/>
            </a:pPr>
            <a:r>
              <a:rPr lang="en-US" sz="1000" b="1" dirty="0">
                <a:solidFill>
                  <a:srgbClr val="1565C0"/>
                </a:solidFill>
                <a:latin typeface="Noto Sans SC Black" pitchFamily="34" charset="0"/>
                <a:ea typeface="Noto Sans SC Black" pitchFamily="34" charset="-122"/>
                <a:cs typeface="Noto Sans SC Black" pitchFamily="34" charset="-120"/>
              </a:rPr>
              <a:t>08</a:t>
            </a:r>
            <a:endParaRPr lang="en-US" sz="1000" dirty="0"/>
          </a:p>
        </p:txBody>
      </p:sp>
      <p:sp>
        <p:nvSpPr>
          <p:cNvPr id="72" name="Text 68"/>
          <p:cNvSpPr/>
          <p:nvPr/>
        </p:nvSpPr>
        <p:spPr>
          <a:xfrm>
            <a:off x="6950869" y="4081928"/>
            <a:ext cx="1618059" cy="180017"/>
          </a:xfrm>
          <a:prstGeom prst="rect">
            <a:avLst/>
          </a:prstGeom>
          <a:noFill/>
          <a:ln/>
        </p:spPr>
        <p:txBody>
          <a:bodyPr wrap="none" lIns="0" tIns="0" rIns="0" bIns="0" rtlCol="0" anchor="t">
            <a:spAutoFit/>
          </a:bodyPr>
          <a:lstStyle/>
          <a:p>
            <a:pPr algn="ctr" indent="0" marL="0">
              <a:lnSpc>
                <a:spcPct val="112000"/>
              </a:lnSpc>
              <a:buNone/>
            </a:pPr>
            <a:r>
              <a:rPr lang="en-US" sz="900" b="1" dirty="0">
                <a:solidFill>
                  <a:srgbClr val="1A3A6B"/>
                </a:solidFill>
                <a:latin typeface="Noto Sans SC Bold" pitchFamily="34" charset="0"/>
                <a:ea typeface="Noto Sans SC Bold" pitchFamily="34" charset="-122"/>
                <a:cs typeface="Noto Sans SC Bold" pitchFamily="34" charset="-120"/>
              </a:rPr>
              <a:t>3米路基非金属插板式声屏障</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7891109" y="357188"/>
            <a:ext cx="824266" cy="342900"/>
          </a:xfrm>
          <a:prstGeom prst="rect">
            <a:avLst/>
          </a:prstGeom>
        </p:spPr>
      </p:pic>
      <p:sp>
        <p:nvSpPr>
          <p:cNvPr id="4" name="Text 0"/>
          <p:cNvSpPr/>
          <p:nvPr/>
        </p:nvSpPr>
        <p:spPr>
          <a:xfrm>
            <a:off x="428625" y="357188"/>
            <a:ext cx="203597" cy="248245"/>
          </a:xfrm>
          <a:prstGeom prst="rect">
            <a:avLst/>
          </a:prstGeom>
          <a:noFill/>
          <a:ln/>
        </p:spPr>
        <p:txBody>
          <a:bodyPr wrap="none" lIns="0" tIns="0" rIns="0" bIns="0" rtlCol="0" anchor="t">
            <a:spAutoFit/>
          </a:bodyPr>
          <a:lstStyle/>
          <a:p>
            <a:pPr algn="l" indent="0" marL="0">
              <a:buNone/>
            </a:pPr>
            <a:r>
              <a:rPr lang="en-US" sz="1200" b="1" dirty="0">
                <a:solidFill>
                  <a:srgbClr val="1565C0"/>
                </a:solidFill>
                <a:latin typeface="Noto Sans SC Bold" pitchFamily="34" charset="0"/>
                <a:ea typeface="Noto Sans SC Bold" pitchFamily="34" charset="-122"/>
                <a:cs typeface="Noto Sans SC Bold" pitchFamily="34" charset="-120"/>
              </a:rPr>
              <a:t>05</a:t>
            </a:r>
            <a:endParaRPr lang="en-US" sz="1200" dirty="0"/>
          </a:p>
        </p:txBody>
      </p:sp>
      <p:sp>
        <p:nvSpPr>
          <p:cNvPr id="5" name="Text 1"/>
          <p:cNvSpPr/>
          <p:nvPr/>
        </p:nvSpPr>
        <p:spPr>
          <a:xfrm>
            <a:off x="785813" y="357188"/>
            <a:ext cx="2400300" cy="248245"/>
          </a:xfrm>
          <a:prstGeom prst="rect">
            <a:avLst/>
          </a:prstGeom>
          <a:noFill/>
          <a:ln/>
        </p:spPr>
        <p:txBody>
          <a:bodyPr wrap="square" lIns="0" tIns="0" rIns="0" bIns="0" rtlCol="0" anchor="t">
            <a:spAutoFit/>
          </a:bodyPr>
          <a:lstStyle/>
          <a:p>
            <a:pPr algn="l" indent="0" marL="0">
              <a:buNone/>
            </a:pPr>
            <a:r>
              <a:rPr lang="en-US" sz="1200" b="1" dirty="0">
                <a:solidFill>
                  <a:srgbClr val="333333"/>
                </a:solidFill>
                <a:latin typeface="Noto Sans SC Bold" pitchFamily="34" charset="0"/>
                <a:ea typeface="Noto Sans SC Bold" pitchFamily="34" charset="-122"/>
                <a:cs typeface="Noto Sans SC Bold" pitchFamily="34" charset="-120"/>
              </a:rPr>
              <a:t>铁路声屏障结构形式——折臂式</a:t>
            </a:r>
            <a:endParaRPr lang="en-US" sz="1200" dirty="0"/>
          </a:p>
        </p:txBody>
      </p:sp>
      <p:sp>
        <p:nvSpPr>
          <p:cNvPr id="6" name="Shape 2"/>
          <p:cNvSpPr/>
          <p:nvPr/>
        </p:nvSpPr>
        <p:spPr>
          <a:xfrm>
            <a:off x="428625" y="1571625"/>
            <a:ext cx="3929063" cy="2857500"/>
          </a:xfrm>
          <a:prstGeom prst="rect">
            <a:avLst/>
          </a:prstGeom>
          <a:solidFill>
            <a:srgbClr val="F8F9FA"/>
          </a:solidFill>
          <a:ln/>
        </p:spPr>
      </p:sp>
      <p:sp>
        <p:nvSpPr>
          <p:cNvPr id="7" name="Shape 3"/>
          <p:cNvSpPr/>
          <p:nvPr/>
        </p:nvSpPr>
        <p:spPr>
          <a:xfrm>
            <a:off x="428625" y="1571625"/>
            <a:ext cx="3929063" cy="28575"/>
          </a:xfrm>
          <a:prstGeom prst="rect">
            <a:avLst/>
          </a:prstGeom>
          <a:solidFill>
            <a:srgbClr val="1565C0"/>
          </a:solidFill>
          <a:ln/>
        </p:spPr>
      </p:sp>
      <p:sp>
        <p:nvSpPr>
          <p:cNvPr id="8" name="Shape 4"/>
          <p:cNvSpPr/>
          <p:nvPr/>
        </p:nvSpPr>
        <p:spPr>
          <a:xfrm>
            <a:off x="4350544" y="1571625"/>
            <a:ext cx="7144" cy="2857500"/>
          </a:xfrm>
          <a:prstGeom prst="rect">
            <a:avLst/>
          </a:prstGeom>
          <a:solidFill>
            <a:srgbClr val="E0E0E0"/>
          </a:solidFill>
          <a:ln/>
        </p:spPr>
      </p:sp>
      <p:sp>
        <p:nvSpPr>
          <p:cNvPr id="9" name="Shape 5"/>
          <p:cNvSpPr/>
          <p:nvPr/>
        </p:nvSpPr>
        <p:spPr>
          <a:xfrm>
            <a:off x="428625" y="4421981"/>
            <a:ext cx="3929063" cy="7144"/>
          </a:xfrm>
          <a:prstGeom prst="rect">
            <a:avLst/>
          </a:prstGeom>
          <a:solidFill>
            <a:srgbClr val="E0E0E0"/>
          </a:solidFill>
          <a:ln/>
        </p:spPr>
      </p:sp>
      <p:sp>
        <p:nvSpPr>
          <p:cNvPr id="10" name="Shape 6"/>
          <p:cNvSpPr/>
          <p:nvPr/>
        </p:nvSpPr>
        <p:spPr>
          <a:xfrm>
            <a:off x="428625" y="1571625"/>
            <a:ext cx="7144" cy="2857500"/>
          </a:xfrm>
          <a:prstGeom prst="rect">
            <a:avLst/>
          </a:prstGeom>
          <a:solidFill>
            <a:srgbClr val="E0E0E0"/>
          </a:solidFill>
          <a:ln/>
        </p:spPr>
      </p:sp>
      <p:sp>
        <p:nvSpPr>
          <p:cNvPr id="11" name="Shape 7"/>
          <p:cNvSpPr/>
          <p:nvPr/>
        </p:nvSpPr>
        <p:spPr>
          <a:xfrm>
            <a:off x="428625" y="1571625"/>
            <a:ext cx="3921919" cy="575072"/>
          </a:xfrm>
          <a:prstGeom prst="rect">
            <a:avLst/>
          </a:prstGeom>
          <a:solidFill>
            <a:srgbClr val="1A3A6B"/>
          </a:solidFill>
          <a:ln/>
        </p:spPr>
      </p:sp>
      <p:sp>
        <p:nvSpPr>
          <p:cNvPr id="12" name="Text 8"/>
          <p:cNvSpPr/>
          <p:nvPr/>
        </p:nvSpPr>
        <p:spPr>
          <a:xfrm>
            <a:off x="428625" y="1571625"/>
            <a:ext cx="3921919" cy="575072"/>
          </a:xfrm>
          <a:prstGeom prst="rect">
            <a:avLst/>
          </a:prstGeom>
          <a:noFill/>
          <a:ln/>
        </p:spPr>
        <p:txBody>
          <a:bodyPr wrap="square" lIns="170053" tIns="170053" rIns="170053" bIns="170053" rtlCol="0" anchor="t">
            <a:spAutoFit/>
          </a:bodyPr>
          <a:lstStyle/>
          <a:p>
            <a:pPr algn="ctr" indent="0" marL="0">
              <a:buNone/>
            </a:pPr>
            <a:r>
              <a:rPr lang="en-US" sz="1400" b="1" dirty="0">
                <a:solidFill>
                  <a:srgbClr val="FFFFFF"/>
                </a:solidFill>
                <a:latin typeface="Noto Sans SC Bold" pitchFamily="34" charset="0"/>
                <a:ea typeface="Noto Sans SC Bold" pitchFamily="34" charset="-122"/>
                <a:cs typeface="Noto Sans SC Bold" pitchFamily="34" charset="-120"/>
              </a:rPr>
              <a:t>北京南站大折臂</a:t>
            </a:r>
            <a:endParaRPr lang="en-US" sz="1400" dirty="0"/>
          </a:p>
        </p:txBody>
      </p:sp>
      <p:sp>
        <p:nvSpPr>
          <p:cNvPr id="13" name="Text 9"/>
          <p:cNvSpPr/>
          <p:nvPr/>
        </p:nvSpPr>
        <p:spPr>
          <a:xfrm>
            <a:off x="714375" y="2573536"/>
            <a:ext cx="3350419" cy="428625"/>
          </a:xfrm>
          <a:prstGeom prst="rect">
            <a:avLst/>
          </a:prstGeom>
          <a:noFill/>
          <a:ln/>
        </p:spPr>
        <p:txBody>
          <a:bodyPr wrap="none" lIns="0" tIns="0" rIns="0" bIns="85090" rtlCol="0" anchor="t">
            <a:spAutoFit/>
          </a:bodyPr>
          <a:lstStyle/>
          <a:p>
            <a:pPr algn="ctr" indent="0" marL="0">
              <a:lnSpc>
                <a:spcPct val="160000"/>
              </a:lnSpc>
              <a:buNone/>
            </a:pPr>
            <a:r>
              <a:rPr lang="en-US" sz="1200" b="1" dirty="0">
                <a:solidFill>
                  <a:srgbClr val="1565C0"/>
                </a:solidFill>
                <a:latin typeface="Noto Sans SC Bold" pitchFamily="34" charset="0"/>
                <a:ea typeface="Noto Sans SC Bold" pitchFamily="34" charset="-122"/>
                <a:cs typeface="Noto Sans SC Bold" pitchFamily="34" charset="-120"/>
              </a:rPr>
              <a:t>枢纽站典型应用</a:t>
            </a:r>
            <a:endParaRPr lang="en-US" sz="1200" dirty="0"/>
          </a:p>
        </p:txBody>
      </p:sp>
      <p:sp>
        <p:nvSpPr>
          <p:cNvPr id="14" name="Text 10"/>
          <p:cNvSpPr/>
          <p:nvPr/>
        </p:nvSpPr>
        <p:spPr>
          <a:xfrm>
            <a:off x="714375" y="3145036"/>
            <a:ext cx="3350419" cy="285750"/>
          </a:xfrm>
          <a:prstGeom prst="rect">
            <a:avLst/>
          </a:prstGeom>
          <a:noFill/>
          <a:ln/>
        </p:spPr>
        <p:txBody>
          <a:bodyPr wrap="none" lIns="0" tIns="0" rIns="0" bIns="0" rtlCol="0" anchor="t">
            <a:spAutoFit/>
          </a:bodyPr>
          <a:lstStyle/>
          <a:p>
            <a:pPr algn="ctr" indent="0" marL="0">
              <a:lnSpc>
                <a:spcPct val="160000"/>
              </a:lnSpc>
              <a:buNone/>
            </a:pPr>
            <a:r>
              <a:rPr lang="en-US" sz="1050" dirty="0">
                <a:solidFill>
                  <a:srgbClr val="333333"/>
                </a:solidFill>
                <a:latin typeface="Noto Sans SC" pitchFamily="34" charset="0"/>
                <a:ea typeface="Noto Sans SC" pitchFamily="34" charset="-122"/>
                <a:cs typeface="Noto Sans SC" pitchFamily="34" charset="-120"/>
              </a:rPr>
              <a:t>应用于特大型铁路枢纽站</a:t>
            </a:r>
            <a:endParaRPr lang="en-US" sz="1050" dirty="0"/>
          </a:p>
        </p:txBody>
      </p:sp>
      <p:sp>
        <p:nvSpPr>
          <p:cNvPr id="15" name="Text 11"/>
          <p:cNvSpPr/>
          <p:nvPr/>
        </p:nvSpPr>
        <p:spPr>
          <a:xfrm>
            <a:off x="714375" y="3430786"/>
            <a:ext cx="3350419" cy="285750"/>
          </a:xfrm>
          <a:prstGeom prst="rect">
            <a:avLst/>
          </a:prstGeom>
          <a:noFill/>
          <a:ln/>
        </p:spPr>
        <p:txBody>
          <a:bodyPr wrap="none" lIns="0" tIns="0" rIns="0" bIns="0" rtlCol="0" anchor="t">
            <a:spAutoFit/>
          </a:bodyPr>
          <a:lstStyle/>
          <a:p>
            <a:pPr algn="ctr" indent="0" marL="0">
              <a:lnSpc>
                <a:spcPct val="160000"/>
              </a:lnSpc>
              <a:buNone/>
            </a:pPr>
            <a:r>
              <a:rPr lang="en-US" sz="1050" dirty="0">
                <a:solidFill>
                  <a:srgbClr val="333333"/>
                </a:solidFill>
                <a:latin typeface="Noto Sans SC" pitchFamily="34" charset="0"/>
                <a:ea typeface="Noto Sans SC" pitchFamily="34" charset="-122"/>
                <a:cs typeface="Noto Sans SC" pitchFamily="34" charset="-120"/>
              </a:rPr>
              <a:t>有效控制列车进出站及运行噪声</a:t>
            </a:r>
            <a:endParaRPr lang="en-US" sz="1050" dirty="0"/>
          </a:p>
        </p:txBody>
      </p:sp>
      <p:sp>
        <p:nvSpPr>
          <p:cNvPr id="16" name="Text 12"/>
          <p:cNvSpPr/>
          <p:nvPr/>
        </p:nvSpPr>
        <p:spPr>
          <a:xfrm>
            <a:off x="714375" y="3716536"/>
            <a:ext cx="3350419" cy="285750"/>
          </a:xfrm>
          <a:prstGeom prst="rect">
            <a:avLst/>
          </a:prstGeom>
          <a:noFill/>
          <a:ln/>
        </p:spPr>
        <p:txBody>
          <a:bodyPr wrap="none" lIns="0" tIns="0" rIns="0" bIns="0" rtlCol="0" anchor="t">
            <a:spAutoFit/>
          </a:bodyPr>
          <a:lstStyle/>
          <a:p>
            <a:pPr algn="ctr" indent="0" marL="0">
              <a:lnSpc>
                <a:spcPct val="160000"/>
              </a:lnSpc>
              <a:buNone/>
            </a:pPr>
            <a:r>
              <a:rPr lang="en-US" sz="1050" dirty="0">
                <a:solidFill>
                  <a:srgbClr val="333333"/>
                </a:solidFill>
                <a:latin typeface="Noto Sans SC" pitchFamily="34" charset="0"/>
                <a:ea typeface="Noto Sans SC" pitchFamily="34" charset="-122"/>
                <a:cs typeface="Noto Sans SC" pitchFamily="34" charset="-120"/>
              </a:rPr>
              <a:t>大折臂设计提供更广的声影区覆盖</a:t>
            </a:r>
            <a:endParaRPr lang="en-US" sz="1050" dirty="0"/>
          </a:p>
        </p:txBody>
      </p:sp>
      <p:sp>
        <p:nvSpPr>
          <p:cNvPr id="17" name="Shape 13"/>
          <p:cNvSpPr/>
          <p:nvPr/>
        </p:nvSpPr>
        <p:spPr>
          <a:xfrm>
            <a:off x="4779169" y="1571625"/>
            <a:ext cx="3936206" cy="2857500"/>
          </a:xfrm>
          <a:prstGeom prst="rect">
            <a:avLst/>
          </a:prstGeom>
          <a:solidFill>
            <a:srgbClr val="F8F9FA"/>
          </a:solidFill>
          <a:ln/>
        </p:spPr>
      </p:sp>
      <p:sp>
        <p:nvSpPr>
          <p:cNvPr id="18" name="Shape 14"/>
          <p:cNvSpPr/>
          <p:nvPr/>
        </p:nvSpPr>
        <p:spPr>
          <a:xfrm>
            <a:off x="4779169" y="1571625"/>
            <a:ext cx="3936206" cy="28575"/>
          </a:xfrm>
          <a:prstGeom prst="rect">
            <a:avLst/>
          </a:prstGeom>
          <a:solidFill>
            <a:srgbClr val="1565C0"/>
          </a:solidFill>
          <a:ln/>
        </p:spPr>
      </p:sp>
      <p:sp>
        <p:nvSpPr>
          <p:cNvPr id="19" name="Shape 15"/>
          <p:cNvSpPr/>
          <p:nvPr/>
        </p:nvSpPr>
        <p:spPr>
          <a:xfrm>
            <a:off x="8708231" y="1571625"/>
            <a:ext cx="7144" cy="2857500"/>
          </a:xfrm>
          <a:prstGeom prst="rect">
            <a:avLst/>
          </a:prstGeom>
          <a:solidFill>
            <a:srgbClr val="E0E0E0"/>
          </a:solidFill>
          <a:ln/>
        </p:spPr>
      </p:sp>
      <p:sp>
        <p:nvSpPr>
          <p:cNvPr id="20" name="Shape 16"/>
          <p:cNvSpPr/>
          <p:nvPr/>
        </p:nvSpPr>
        <p:spPr>
          <a:xfrm>
            <a:off x="4779169" y="4421981"/>
            <a:ext cx="3936206" cy="7144"/>
          </a:xfrm>
          <a:prstGeom prst="rect">
            <a:avLst/>
          </a:prstGeom>
          <a:solidFill>
            <a:srgbClr val="E0E0E0"/>
          </a:solidFill>
          <a:ln/>
        </p:spPr>
      </p:sp>
      <p:sp>
        <p:nvSpPr>
          <p:cNvPr id="21" name="Shape 17"/>
          <p:cNvSpPr/>
          <p:nvPr/>
        </p:nvSpPr>
        <p:spPr>
          <a:xfrm>
            <a:off x="4779169" y="1571625"/>
            <a:ext cx="7144" cy="2857500"/>
          </a:xfrm>
          <a:prstGeom prst="rect">
            <a:avLst/>
          </a:prstGeom>
          <a:solidFill>
            <a:srgbClr val="E0E0E0"/>
          </a:solidFill>
          <a:ln/>
        </p:spPr>
      </p:sp>
      <p:sp>
        <p:nvSpPr>
          <p:cNvPr id="22" name="Shape 18"/>
          <p:cNvSpPr/>
          <p:nvPr/>
        </p:nvSpPr>
        <p:spPr>
          <a:xfrm>
            <a:off x="4786313" y="1571625"/>
            <a:ext cx="3929063" cy="575072"/>
          </a:xfrm>
          <a:prstGeom prst="rect">
            <a:avLst/>
          </a:prstGeom>
          <a:solidFill>
            <a:srgbClr val="1A3A6B"/>
          </a:solidFill>
          <a:ln/>
        </p:spPr>
      </p:sp>
      <p:sp>
        <p:nvSpPr>
          <p:cNvPr id="23" name="Text 19"/>
          <p:cNvSpPr/>
          <p:nvPr/>
        </p:nvSpPr>
        <p:spPr>
          <a:xfrm>
            <a:off x="4786313" y="1571625"/>
            <a:ext cx="3929063" cy="575072"/>
          </a:xfrm>
          <a:prstGeom prst="rect">
            <a:avLst/>
          </a:prstGeom>
          <a:noFill/>
          <a:ln/>
        </p:spPr>
        <p:txBody>
          <a:bodyPr wrap="square" lIns="170053" tIns="170053" rIns="170053" bIns="170053" rtlCol="0" anchor="t">
            <a:spAutoFit/>
          </a:bodyPr>
          <a:lstStyle/>
          <a:p>
            <a:pPr algn="ctr" indent="0" marL="0">
              <a:buNone/>
            </a:pPr>
            <a:r>
              <a:rPr lang="en-US" sz="1400" b="1" dirty="0">
                <a:solidFill>
                  <a:srgbClr val="FFFFFF"/>
                </a:solidFill>
                <a:latin typeface="Noto Sans SC Bold" pitchFamily="34" charset="0"/>
                <a:ea typeface="Noto Sans SC Bold" pitchFamily="34" charset="-122"/>
                <a:cs typeface="Noto Sans SC Bold" pitchFamily="34" charset="-120"/>
              </a:rPr>
              <a:t>太焦铁路大折臂</a:t>
            </a:r>
            <a:endParaRPr lang="en-US" sz="1400" dirty="0"/>
          </a:p>
        </p:txBody>
      </p:sp>
      <p:sp>
        <p:nvSpPr>
          <p:cNvPr id="24" name="Text 20"/>
          <p:cNvSpPr/>
          <p:nvPr/>
        </p:nvSpPr>
        <p:spPr>
          <a:xfrm>
            <a:off x="5072063" y="2573536"/>
            <a:ext cx="3357563" cy="428625"/>
          </a:xfrm>
          <a:prstGeom prst="rect">
            <a:avLst/>
          </a:prstGeom>
          <a:noFill/>
          <a:ln/>
        </p:spPr>
        <p:txBody>
          <a:bodyPr wrap="none" lIns="0" tIns="0" rIns="0" bIns="85090" rtlCol="0" anchor="t">
            <a:spAutoFit/>
          </a:bodyPr>
          <a:lstStyle/>
          <a:p>
            <a:pPr algn="ctr" indent="0" marL="0">
              <a:lnSpc>
                <a:spcPct val="160000"/>
              </a:lnSpc>
              <a:buNone/>
            </a:pPr>
            <a:r>
              <a:rPr lang="en-US" sz="1200" b="1" dirty="0">
                <a:solidFill>
                  <a:srgbClr val="1565C0"/>
                </a:solidFill>
                <a:latin typeface="Noto Sans SC Bold" pitchFamily="34" charset="0"/>
                <a:ea typeface="Noto Sans SC Bold" pitchFamily="34" charset="-122"/>
                <a:cs typeface="Noto Sans SC Bold" pitchFamily="34" charset="-120"/>
              </a:rPr>
              <a:t>高铁沿线典型应用</a:t>
            </a:r>
            <a:endParaRPr lang="en-US" sz="1200" dirty="0"/>
          </a:p>
        </p:txBody>
      </p:sp>
      <p:sp>
        <p:nvSpPr>
          <p:cNvPr id="25" name="Text 21"/>
          <p:cNvSpPr/>
          <p:nvPr/>
        </p:nvSpPr>
        <p:spPr>
          <a:xfrm>
            <a:off x="5072063" y="3145036"/>
            <a:ext cx="3357563" cy="285750"/>
          </a:xfrm>
          <a:prstGeom prst="rect">
            <a:avLst/>
          </a:prstGeom>
          <a:noFill/>
          <a:ln/>
        </p:spPr>
        <p:txBody>
          <a:bodyPr wrap="none" lIns="0" tIns="0" rIns="0" bIns="0" rtlCol="0" anchor="t">
            <a:spAutoFit/>
          </a:bodyPr>
          <a:lstStyle/>
          <a:p>
            <a:pPr algn="ctr" indent="0" marL="0">
              <a:lnSpc>
                <a:spcPct val="160000"/>
              </a:lnSpc>
              <a:buNone/>
            </a:pPr>
            <a:r>
              <a:rPr lang="en-US" sz="1050" dirty="0">
                <a:solidFill>
                  <a:srgbClr val="333333"/>
                </a:solidFill>
                <a:latin typeface="Noto Sans SC" pitchFamily="34" charset="0"/>
                <a:ea typeface="Noto Sans SC" pitchFamily="34" charset="-122"/>
                <a:cs typeface="Noto Sans SC" pitchFamily="34" charset="-120"/>
              </a:rPr>
              <a:t>应用于高速铁路沿线敏感区域</a:t>
            </a:r>
            <a:endParaRPr lang="en-US" sz="1050" dirty="0"/>
          </a:p>
        </p:txBody>
      </p:sp>
      <p:sp>
        <p:nvSpPr>
          <p:cNvPr id="26" name="Text 22"/>
          <p:cNvSpPr/>
          <p:nvPr/>
        </p:nvSpPr>
        <p:spPr>
          <a:xfrm>
            <a:off x="5072063" y="3430786"/>
            <a:ext cx="3357563" cy="285750"/>
          </a:xfrm>
          <a:prstGeom prst="rect">
            <a:avLst/>
          </a:prstGeom>
          <a:noFill/>
          <a:ln/>
        </p:spPr>
        <p:txBody>
          <a:bodyPr wrap="none" lIns="0" tIns="0" rIns="0" bIns="0" rtlCol="0" anchor="t">
            <a:spAutoFit/>
          </a:bodyPr>
          <a:lstStyle/>
          <a:p>
            <a:pPr algn="ctr" indent="0" marL="0">
              <a:lnSpc>
                <a:spcPct val="160000"/>
              </a:lnSpc>
              <a:buNone/>
            </a:pPr>
            <a:r>
              <a:rPr lang="en-US" sz="1050" dirty="0">
                <a:solidFill>
                  <a:srgbClr val="333333"/>
                </a:solidFill>
                <a:latin typeface="Noto Sans SC" pitchFamily="34" charset="0"/>
                <a:ea typeface="Noto Sans SC" pitchFamily="34" charset="-122"/>
                <a:cs typeface="Noto Sans SC" pitchFamily="34" charset="-120"/>
              </a:rPr>
              <a:t>适应复杂地形与强风压环境</a:t>
            </a:r>
            <a:endParaRPr lang="en-US" sz="1050" dirty="0"/>
          </a:p>
        </p:txBody>
      </p:sp>
      <p:sp>
        <p:nvSpPr>
          <p:cNvPr id="27" name="Text 23"/>
          <p:cNvSpPr/>
          <p:nvPr/>
        </p:nvSpPr>
        <p:spPr>
          <a:xfrm>
            <a:off x="5072063" y="3716536"/>
            <a:ext cx="3357563" cy="285750"/>
          </a:xfrm>
          <a:prstGeom prst="rect">
            <a:avLst/>
          </a:prstGeom>
          <a:noFill/>
          <a:ln/>
        </p:spPr>
        <p:txBody>
          <a:bodyPr wrap="none" lIns="0" tIns="0" rIns="0" bIns="0" rtlCol="0" anchor="t">
            <a:spAutoFit/>
          </a:bodyPr>
          <a:lstStyle/>
          <a:p>
            <a:pPr algn="ctr" indent="0" marL="0">
              <a:lnSpc>
                <a:spcPct val="160000"/>
              </a:lnSpc>
              <a:buNone/>
            </a:pPr>
            <a:r>
              <a:rPr lang="en-US" sz="1050" dirty="0">
                <a:solidFill>
                  <a:srgbClr val="333333"/>
                </a:solidFill>
                <a:latin typeface="Noto Sans SC" pitchFamily="34" charset="0"/>
                <a:ea typeface="Noto Sans SC" pitchFamily="34" charset="-122"/>
                <a:cs typeface="Noto Sans SC" pitchFamily="34" charset="-120"/>
              </a:rPr>
              <a:t>折臂结构增强整体稳定性与降噪效果</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7891109" y="357188"/>
            <a:ext cx="824266" cy="342900"/>
          </a:xfrm>
          <a:prstGeom prst="rect">
            <a:avLst/>
          </a:prstGeom>
        </p:spPr>
      </p:pic>
      <p:sp>
        <p:nvSpPr>
          <p:cNvPr id="4" name="Text 0"/>
          <p:cNvSpPr/>
          <p:nvPr/>
        </p:nvSpPr>
        <p:spPr>
          <a:xfrm>
            <a:off x="428625" y="357188"/>
            <a:ext cx="203597" cy="248245"/>
          </a:xfrm>
          <a:prstGeom prst="rect">
            <a:avLst/>
          </a:prstGeom>
          <a:noFill/>
          <a:ln/>
        </p:spPr>
        <p:txBody>
          <a:bodyPr wrap="none" lIns="0" tIns="0" rIns="0" bIns="0" rtlCol="0" anchor="t">
            <a:spAutoFit/>
          </a:bodyPr>
          <a:lstStyle/>
          <a:p>
            <a:pPr algn="l" indent="0" marL="0">
              <a:buNone/>
            </a:pPr>
            <a:r>
              <a:rPr lang="en-US" sz="1200" b="1" dirty="0">
                <a:solidFill>
                  <a:srgbClr val="1565C0"/>
                </a:solidFill>
                <a:latin typeface="Noto Sans SC Bold" pitchFamily="34" charset="0"/>
                <a:ea typeface="Noto Sans SC Bold" pitchFamily="34" charset="-122"/>
                <a:cs typeface="Noto Sans SC Bold" pitchFamily="34" charset="-120"/>
              </a:rPr>
              <a:t>06</a:t>
            </a:r>
            <a:endParaRPr lang="en-US" sz="1200" dirty="0"/>
          </a:p>
        </p:txBody>
      </p:sp>
      <p:sp>
        <p:nvSpPr>
          <p:cNvPr id="5" name="Text 1"/>
          <p:cNvSpPr/>
          <p:nvPr/>
        </p:nvSpPr>
        <p:spPr>
          <a:xfrm>
            <a:off x="785813" y="357188"/>
            <a:ext cx="2400300" cy="248245"/>
          </a:xfrm>
          <a:prstGeom prst="rect">
            <a:avLst/>
          </a:prstGeom>
          <a:noFill/>
          <a:ln/>
        </p:spPr>
        <p:txBody>
          <a:bodyPr wrap="square" lIns="0" tIns="0" rIns="0" bIns="0" rtlCol="0" anchor="t">
            <a:spAutoFit/>
          </a:bodyPr>
          <a:lstStyle/>
          <a:p>
            <a:pPr algn="l" indent="0" marL="0">
              <a:buNone/>
            </a:pPr>
            <a:r>
              <a:rPr lang="en-US" sz="1200" b="1" dirty="0">
                <a:solidFill>
                  <a:srgbClr val="333333"/>
                </a:solidFill>
                <a:latin typeface="Noto Sans SC Bold" pitchFamily="34" charset="0"/>
                <a:ea typeface="Noto Sans SC Bold" pitchFamily="34" charset="-122"/>
                <a:cs typeface="Noto Sans SC Bold" pitchFamily="34" charset="-120"/>
              </a:rPr>
              <a:t>铁路声屏障结构形式——封闭式</a:t>
            </a:r>
            <a:endParaRPr lang="en-US" sz="1200" dirty="0"/>
          </a:p>
        </p:txBody>
      </p:sp>
      <p:sp>
        <p:nvSpPr>
          <p:cNvPr id="6" name="Shape 2"/>
          <p:cNvSpPr/>
          <p:nvPr/>
        </p:nvSpPr>
        <p:spPr>
          <a:xfrm>
            <a:off x="428625" y="1397133"/>
            <a:ext cx="2571750" cy="3349330"/>
          </a:xfrm>
          <a:prstGeom prst="rect">
            <a:avLst/>
          </a:prstGeom>
          <a:solidFill>
            <a:srgbClr val="F8F9FA"/>
          </a:solidFill>
          <a:ln/>
        </p:spPr>
      </p:sp>
      <p:sp>
        <p:nvSpPr>
          <p:cNvPr id="7" name="Shape 3"/>
          <p:cNvSpPr/>
          <p:nvPr/>
        </p:nvSpPr>
        <p:spPr>
          <a:xfrm>
            <a:off x="428625" y="1397133"/>
            <a:ext cx="2571750" cy="28575"/>
          </a:xfrm>
          <a:prstGeom prst="rect">
            <a:avLst/>
          </a:prstGeom>
          <a:solidFill>
            <a:srgbClr val="1565C0"/>
          </a:solidFill>
          <a:ln/>
        </p:spPr>
      </p:sp>
      <p:sp>
        <p:nvSpPr>
          <p:cNvPr id="8" name="Shape 4"/>
          <p:cNvSpPr/>
          <p:nvPr/>
        </p:nvSpPr>
        <p:spPr>
          <a:xfrm>
            <a:off x="2993231" y="1397133"/>
            <a:ext cx="7144" cy="3349330"/>
          </a:xfrm>
          <a:prstGeom prst="rect">
            <a:avLst/>
          </a:prstGeom>
          <a:solidFill>
            <a:srgbClr val="E0E0E0"/>
          </a:solidFill>
          <a:ln/>
        </p:spPr>
      </p:sp>
      <p:sp>
        <p:nvSpPr>
          <p:cNvPr id="9" name="Shape 5"/>
          <p:cNvSpPr/>
          <p:nvPr/>
        </p:nvSpPr>
        <p:spPr>
          <a:xfrm>
            <a:off x="428625" y="4739320"/>
            <a:ext cx="2571750" cy="7144"/>
          </a:xfrm>
          <a:prstGeom prst="rect">
            <a:avLst/>
          </a:prstGeom>
          <a:solidFill>
            <a:srgbClr val="E0E0E0"/>
          </a:solidFill>
          <a:ln/>
        </p:spPr>
      </p:sp>
      <p:sp>
        <p:nvSpPr>
          <p:cNvPr id="10" name="Shape 6"/>
          <p:cNvSpPr/>
          <p:nvPr/>
        </p:nvSpPr>
        <p:spPr>
          <a:xfrm>
            <a:off x="428625" y="1397133"/>
            <a:ext cx="7144" cy="3349330"/>
          </a:xfrm>
          <a:prstGeom prst="rect">
            <a:avLst/>
          </a:prstGeom>
          <a:solidFill>
            <a:srgbClr val="E0E0E0"/>
          </a:solidFill>
          <a:ln/>
        </p:spPr>
      </p:sp>
      <p:sp>
        <p:nvSpPr>
          <p:cNvPr id="11" name="Shape 7"/>
          <p:cNvSpPr/>
          <p:nvPr/>
        </p:nvSpPr>
        <p:spPr>
          <a:xfrm>
            <a:off x="1285875" y="1682883"/>
            <a:ext cx="857250" cy="857250"/>
          </a:xfrm>
          <a:prstGeom prst="ellipse">
            <a:avLst/>
          </a:prstGeom>
          <a:solidFill>
            <a:srgbClr val="E3F0FB"/>
          </a:solidFill>
          <a:ln w="18288">
            <a:solidFill>
              <a:srgbClr val="1565C0"/>
            </a:solidFill>
            <a:prstDash val="solid"/>
          </a:ln>
        </p:spPr>
      </p:sp>
      <p:sp>
        <p:nvSpPr>
          <p:cNvPr id="12" name="Text 8"/>
          <p:cNvSpPr/>
          <p:nvPr/>
        </p:nvSpPr>
        <p:spPr>
          <a:xfrm>
            <a:off x="1543050" y="1863263"/>
            <a:ext cx="342900" cy="496491"/>
          </a:xfrm>
          <a:prstGeom prst="rect">
            <a:avLst/>
          </a:prstGeom>
          <a:noFill/>
          <a:ln/>
        </p:spPr>
        <p:txBody>
          <a:bodyPr wrap="none" lIns="0" tIns="0" rIns="0" bIns="0" rtlCol="0" anchor="t">
            <a:spAutoFit/>
          </a:bodyPr>
          <a:lstStyle/>
          <a:p>
            <a:pPr algn="ctr" indent="0" marL="0">
              <a:buNone/>
            </a:pPr>
            <a:r>
              <a:rPr lang="en-US" sz="2450" b="1" dirty="0">
                <a:solidFill>
                  <a:srgbClr val="1565C0"/>
                </a:solidFill>
                <a:latin typeface="Noto Sans SC Black" pitchFamily="34" charset="0"/>
                <a:ea typeface="Noto Sans SC Black" pitchFamily="34" charset="-122"/>
                <a:cs typeface="Noto Sans SC Black" pitchFamily="34" charset="-120"/>
              </a:rPr>
              <a:t>拱</a:t>
            </a:r>
            <a:endParaRPr lang="en-US" sz="2450" dirty="0"/>
          </a:p>
        </p:txBody>
      </p:sp>
      <p:sp>
        <p:nvSpPr>
          <p:cNvPr id="13" name="Text 9"/>
          <p:cNvSpPr/>
          <p:nvPr/>
        </p:nvSpPr>
        <p:spPr>
          <a:xfrm>
            <a:off x="1371600" y="2825883"/>
            <a:ext cx="685800" cy="330398"/>
          </a:xfrm>
          <a:prstGeom prst="rect">
            <a:avLst/>
          </a:prstGeom>
          <a:noFill/>
          <a:ln/>
        </p:spPr>
        <p:txBody>
          <a:bodyPr wrap="none" lIns="0" tIns="0" rIns="0" bIns="0" rtlCol="0" anchor="t">
            <a:spAutoFit/>
          </a:bodyPr>
          <a:lstStyle/>
          <a:p>
            <a:pPr algn="ctr" indent="0" marL="0">
              <a:buNone/>
            </a:pPr>
            <a:r>
              <a:rPr lang="en-US" sz="1600" b="1" dirty="0">
                <a:solidFill>
                  <a:srgbClr val="1A3A6B"/>
                </a:solidFill>
                <a:latin typeface="Noto Sans SC Bold" pitchFamily="34" charset="0"/>
                <a:ea typeface="Noto Sans SC Bold" pitchFamily="34" charset="-122"/>
                <a:cs typeface="Noto Sans SC Bold" pitchFamily="34" charset="-120"/>
              </a:rPr>
              <a:t>圆拱式</a:t>
            </a:r>
            <a:endParaRPr lang="en-US" sz="1600" dirty="0"/>
          </a:p>
        </p:txBody>
      </p:sp>
      <p:sp>
        <p:nvSpPr>
          <p:cNvPr id="14" name="Text 10"/>
          <p:cNvSpPr/>
          <p:nvPr/>
        </p:nvSpPr>
        <p:spPr>
          <a:xfrm>
            <a:off x="1214438" y="3688491"/>
            <a:ext cx="1000125" cy="207169"/>
          </a:xfrm>
          <a:prstGeom prst="rect">
            <a:avLst/>
          </a:prstGeom>
          <a:noFill/>
          <a:ln/>
        </p:spPr>
        <p:txBody>
          <a:bodyPr wrap="none" lIns="0" tIns="0" rIns="0" bIns="0" rtlCol="0" anchor="t">
            <a:spAutoFit/>
          </a:bodyPr>
          <a:lstStyle/>
          <a:p>
            <a:pPr algn="ctr" indent="0" marL="0">
              <a:lnSpc>
                <a:spcPct val="128000"/>
              </a:lnSpc>
              <a:buNone/>
            </a:pPr>
            <a:r>
              <a:rPr lang="en-US" sz="1050" dirty="0">
                <a:solidFill>
                  <a:srgbClr val="333333"/>
                </a:solidFill>
                <a:latin typeface="Noto Sans SC" pitchFamily="34" charset="0"/>
                <a:ea typeface="Noto Sans SC" pitchFamily="34" charset="-122"/>
                <a:cs typeface="Noto Sans SC" pitchFamily="34" charset="-120"/>
              </a:rPr>
              <a:t>适用于高速铁路</a:t>
            </a:r>
            <a:endParaRPr lang="en-US" sz="1050" dirty="0"/>
          </a:p>
        </p:txBody>
      </p:sp>
      <p:sp>
        <p:nvSpPr>
          <p:cNvPr id="15" name="Text 11"/>
          <p:cNvSpPr/>
          <p:nvPr/>
        </p:nvSpPr>
        <p:spPr>
          <a:xfrm>
            <a:off x="1058168" y="4013532"/>
            <a:ext cx="1312664" cy="411463"/>
          </a:xfrm>
          <a:prstGeom prst="rect">
            <a:avLst/>
          </a:prstGeom>
          <a:noFill/>
          <a:ln/>
        </p:spPr>
        <p:txBody>
          <a:bodyPr wrap="none" lIns="0" tIns="0" rIns="0" bIns="0" rtlCol="0" anchor="t">
            <a:spAutoFit/>
          </a:bodyPr>
          <a:lstStyle/>
          <a:p>
            <a:pPr algn="ctr" indent="0" marL="0">
              <a:lnSpc>
                <a:spcPct val="128000"/>
              </a:lnSpc>
              <a:buNone/>
            </a:pPr>
            <a:r>
              <a:rPr lang="en-US" sz="1800" b="1" dirty="0">
                <a:solidFill>
                  <a:srgbClr val="1565C0"/>
                </a:solidFill>
                <a:latin typeface="Noto Sans SC Black" pitchFamily="34" charset="0"/>
                <a:ea typeface="Noto Sans SC Black" pitchFamily="34" charset="-122"/>
                <a:cs typeface="Noto Sans SC Black" pitchFamily="34" charset="-120"/>
              </a:rPr>
              <a:t>300km/h+</a:t>
            </a:r>
            <a:endParaRPr lang="en-US" sz="1800" dirty="0"/>
          </a:p>
        </p:txBody>
      </p:sp>
      <p:sp>
        <p:nvSpPr>
          <p:cNvPr id="16" name="Shape 12"/>
          <p:cNvSpPr/>
          <p:nvPr/>
        </p:nvSpPr>
        <p:spPr>
          <a:xfrm>
            <a:off x="3286125" y="1397133"/>
            <a:ext cx="2571750" cy="3349330"/>
          </a:xfrm>
          <a:prstGeom prst="rect">
            <a:avLst/>
          </a:prstGeom>
          <a:solidFill>
            <a:srgbClr val="F8F9FA"/>
          </a:solidFill>
          <a:ln/>
        </p:spPr>
      </p:sp>
      <p:sp>
        <p:nvSpPr>
          <p:cNvPr id="17" name="Shape 13"/>
          <p:cNvSpPr/>
          <p:nvPr/>
        </p:nvSpPr>
        <p:spPr>
          <a:xfrm>
            <a:off x="3286125" y="1397133"/>
            <a:ext cx="2571750" cy="28575"/>
          </a:xfrm>
          <a:prstGeom prst="rect">
            <a:avLst/>
          </a:prstGeom>
          <a:solidFill>
            <a:srgbClr val="1565C0"/>
          </a:solidFill>
          <a:ln/>
        </p:spPr>
      </p:sp>
      <p:sp>
        <p:nvSpPr>
          <p:cNvPr id="18" name="Shape 14"/>
          <p:cNvSpPr/>
          <p:nvPr/>
        </p:nvSpPr>
        <p:spPr>
          <a:xfrm>
            <a:off x="5850731" y="1397133"/>
            <a:ext cx="7144" cy="3349330"/>
          </a:xfrm>
          <a:prstGeom prst="rect">
            <a:avLst/>
          </a:prstGeom>
          <a:solidFill>
            <a:srgbClr val="E0E0E0"/>
          </a:solidFill>
          <a:ln/>
        </p:spPr>
      </p:sp>
      <p:sp>
        <p:nvSpPr>
          <p:cNvPr id="19" name="Shape 15"/>
          <p:cNvSpPr/>
          <p:nvPr/>
        </p:nvSpPr>
        <p:spPr>
          <a:xfrm>
            <a:off x="3286125" y="4739320"/>
            <a:ext cx="2571750" cy="7144"/>
          </a:xfrm>
          <a:prstGeom prst="rect">
            <a:avLst/>
          </a:prstGeom>
          <a:solidFill>
            <a:srgbClr val="E0E0E0"/>
          </a:solidFill>
          <a:ln/>
        </p:spPr>
      </p:sp>
      <p:sp>
        <p:nvSpPr>
          <p:cNvPr id="20" name="Shape 16"/>
          <p:cNvSpPr/>
          <p:nvPr/>
        </p:nvSpPr>
        <p:spPr>
          <a:xfrm>
            <a:off x="3286125" y="1397133"/>
            <a:ext cx="7144" cy="3349330"/>
          </a:xfrm>
          <a:prstGeom prst="rect">
            <a:avLst/>
          </a:prstGeom>
          <a:solidFill>
            <a:srgbClr val="E0E0E0"/>
          </a:solidFill>
          <a:ln/>
        </p:spPr>
      </p:sp>
      <p:sp>
        <p:nvSpPr>
          <p:cNvPr id="21" name="Shape 17"/>
          <p:cNvSpPr/>
          <p:nvPr/>
        </p:nvSpPr>
        <p:spPr>
          <a:xfrm>
            <a:off x="4143375" y="1682883"/>
            <a:ext cx="857250" cy="857250"/>
          </a:xfrm>
          <a:prstGeom prst="ellipse">
            <a:avLst/>
          </a:prstGeom>
          <a:solidFill>
            <a:srgbClr val="E3F0FB"/>
          </a:solidFill>
          <a:ln w="18288">
            <a:solidFill>
              <a:srgbClr val="1565C0"/>
            </a:solidFill>
            <a:prstDash val="solid"/>
          </a:ln>
        </p:spPr>
      </p:sp>
      <p:sp>
        <p:nvSpPr>
          <p:cNvPr id="22" name="Text 18"/>
          <p:cNvSpPr/>
          <p:nvPr/>
        </p:nvSpPr>
        <p:spPr>
          <a:xfrm>
            <a:off x="4400550" y="1863263"/>
            <a:ext cx="342900" cy="496491"/>
          </a:xfrm>
          <a:prstGeom prst="rect">
            <a:avLst/>
          </a:prstGeom>
          <a:noFill/>
          <a:ln/>
        </p:spPr>
        <p:txBody>
          <a:bodyPr wrap="none" lIns="0" tIns="0" rIns="0" bIns="0" rtlCol="0" anchor="t">
            <a:spAutoFit/>
          </a:bodyPr>
          <a:lstStyle/>
          <a:p>
            <a:pPr algn="ctr" indent="0" marL="0">
              <a:buNone/>
            </a:pPr>
            <a:r>
              <a:rPr lang="en-US" sz="2450" b="1" dirty="0">
                <a:solidFill>
                  <a:srgbClr val="1565C0"/>
                </a:solidFill>
                <a:latin typeface="Noto Sans SC Black" pitchFamily="34" charset="0"/>
                <a:ea typeface="Noto Sans SC Black" pitchFamily="34" charset="-122"/>
                <a:cs typeface="Noto Sans SC Black" pitchFamily="34" charset="-120"/>
              </a:rPr>
              <a:t>门</a:t>
            </a:r>
            <a:endParaRPr lang="en-US" sz="2450" dirty="0"/>
          </a:p>
        </p:txBody>
      </p:sp>
      <p:sp>
        <p:nvSpPr>
          <p:cNvPr id="23" name="Text 19"/>
          <p:cNvSpPr/>
          <p:nvPr/>
        </p:nvSpPr>
        <p:spPr>
          <a:xfrm>
            <a:off x="4343400" y="2825883"/>
            <a:ext cx="457200" cy="330398"/>
          </a:xfrm>
          <a:prstGeom prst="rect">
            <a:avLst/>
          </a:prstGeom>
          <a:noFill/>
          <a:ln/>
        </p:spPr>
        <p:txBody>
          <a:bodyPr wrap="none" lIns="0" tIns="0" rIns="0" bIns="0" rtlCol="0" anchor="t">
            <a:spAutoFit/>
          </a:bodyPr>
          <a:lstStyle/>
          <a:p>
            <a:pPr algn="ctr" indent="0" marL="0">
              <a:buNone/>
            </a:pPr>
            <a:r>
              <a:rPr lang="en-US" sz="1600" b="1" dirty="0">
                <a:solidFill>
                  <a:srgbClr val="1A3A6B"/>
                </a:solidFill>
                <a:latin typeface="Noto Sans SC Bold" pitchFamily="34" charset="0"/>
                <a:ea typeface="Noto Sans SC Bold" pitchFamily="34" charset="-122"/>
                <a:cs typeface="Noto Sans SC Bold" pitchFamily="34" charset="-120"/>
              </a:rPr>
              <a:t>门式</a:t>
            </a:r>
            <a:endParaRPr lang="en-US" sz="1600" dirty="0"/>
          </a:p>
        </p:txBody>
      </p:sp>
      <p:sp>
        <p:nvSpPr>
          <p:cNvPr id="24" name="Text 20"/>
          <p:cNvSpPr/>
          <p:nvPr/>
        </p:nvSpPr>
        <p:spPr>
          <a:xfrm>
            <a:off x="4000500" y="3688491"/>
            <a:ext cx="1143000" cy="207169"/>
          </a:xfrm>
          <a:prstGeom prst="rect">
            <a:avLst/>
          </a:prstGeom>
          <a:noFill/>
          <a:ln/>
        </p:spPr>
        <p:txBody>
          <a:bodyPr wrap="none" lIns="0" tIns="0" rIns="0" bIns="0" rtlCol="0" anchor="t">
            <a:spAutoFit/>
          </a:bodyPr>
          <a:lstStyle/>
          <a:p>
            <a:pPr algn="ctr" indent="0" marL="0">
              <a:lnSpc>
                <a:spcPct val="128000"/>
              </a:lnSpc>
              <a:buNone/>
            </a:pPr>
            <a:r>
              <a:rPr lang="en-US" sz="1050" dirty="0">
                <a:solidFill>
                  <a:srgbClr val="333333"/>
                </a:solidFill>
                <a:latin typeface="Noto Sans SC" pitchFamily="34" charset="0"/>
                <a:ea typeface="Noto Sans SC" pitchFamily="34" charset="-122"/>
                <a:cs typeface="Noto Sans SC" pitchFamily="34" charset="-120"/>
              </a:rPr>
              <a:t>适用于中高速铁路</a:t>
            </a:r>
            <a:endParaRPr lang="en-US" sz="1050" dirty="0"/>
          </a:p>
        </p:txBody>
      </p:sp>
      <p:sp>
        <p:nvSpPr>
          <p:cNvPr id="25" name="Text 21"/>
          <p:cNvSpPr/>
          <p:nvPr/>
        </p:nvSpPr>
        <p:spPr>
          <a:xfrm>
            <a:off x="3679924" y="4013532"/>
            <a:ext cx="1784152" cy="411463"/>
          </a:xfrm>
          <a:prstGeom prst="rect">
            <a:avLst/>
          </a:prstGeom>
          <a:noFill/>
          <a:ln/>
        </p:spPr>
        <p:txBody>
          <a:bodyPr wrap="none" lIns="0" tIns="0" rIns="0" bIns="0" rtlCol="0" anchor="t">
            <a:spAutoFit/>
          </a:bodyPr>
          <a:lstStyle/>
          <a:p>
            <a:pPr algn="ctr" indent="0" marL="0">
              <a:lnSpc>
                <a:spcPct val="128000"/>
              </a:lnSpc>
              <a:buNone/>
            </a:pPr>
            <a:r>
              <a:rPr lang="en-US" sz="1800" b="1" dirty="0">
                <a:solidFill>
                  <a:srgbClr val="1565C0"/>
                </a:solidFill>
                <a:latin typeface="Noto Sans SC Black" pitchFamily="34" charset="0"/>
                <a:ea typeface="Noto Sans SC Black" pitchFamily="34" charset="-122"/>
                <a:cs typeface="Noto Sans SC Black" pitchFamily="34" charset="-120"/>
              </a:rPr>
              <a:t>200~250km/h</a:t>
            </a:r>
            <a:endParaRPr lang="en-US" sz="1800" dirty="0"/>
          </a:p>
        </p:txBody>
      </p:sp>
      <p:sp>
        <p:nvSpPr>
          <p:cNvPr id="26" name="Shape 22"/>
          <p:cNvSpPr/>
          <p:nvPr/>
        </p:nvSpPr>
        <p:spPr>
          <a:xfrm>
            <a:off x="6143625" y="1397133"/>
            <a:ext cx="2571750" cy="3349330"/>
          </a:xfrm>
          <a:prstGeom prst="rect">
            <a:avLst/>
          </a:prstGeom>
          <a:solidFill>
            <a:srgbClr val="F8F9FA"/>
          </a:solidFill>
          <a:ln/>
        </p:spPr>
      </p:sp>
      <p:sp>
        <p:nvSpPr>
          <p:cNvPr id="27" name="Shape 23"/>
          <p:cNvSpPr/>
          <p:nvPr/>
        </p:nvSpPr>
        <p:spPr>
          <a:xfrm>
            <a:off x="6143625" y="1397133"/>
            <a:ext cx="2571750" cy="28575"/>
          </a:xfrm>
          <a:prstGeom prst="rect">
            <a:avLst/>
          </a:prstGeom>
          <a:solidFill>
            <a:srgbClr val="1565C0"/>
          </a:solidFill>
          <a:ln/>
        </p:spPr>
      </p:sp>
      <p:sp>
        <p:nvSpPr>
          <p:cNvPr id="28" name="Shape 24"/>
          <p:cNvSpPr/>
          <p:nvPr/>
        </p:nvSpPr>
        <p:spPr>
          <a:xfrm>
            <a:off x="8708231" y="1397133"/>
            <a:ext cx="7144" cy="3349330"/>
          </a:xfrm>
          <a:prstGeom prst="rect">
            <a:avLst/>
          </a:prstGeom>
          <a:solidFill>
            <a:srgbClr val="E0E0E0"/>
          </a:solidFill>
          <a:ln/>
        </p:spPr>
      </p:sp>
      <p:sp>
        <p:nvSpPr>
          <p:cNvPr id="29" name="Shape 25"/>
          <p:cNvSpPr/>
          <p:nvPr/>
        </p:nvSpPr>
        <p:spPr>
          <a:xfrm>
            <a:off x="6143625" y="4739320"/>
            <a:ext cx="2571750" cy="7144"/>
          </a:xfrm>
          <a:prstGeom prst="rect">
            <a:avLst/>
          </a:prstGeom>
          <a:solidFill>
            <a:srgbClr val="E0E0E0"/>
          </a:solidFill>
          <a:ln/>
        </p:spPr>
      </p:sp>
      <p:sp>
        <p:nvSpPr>
          <p:cNvPr id="30" name="Shape 26"/>
          <p:cNvSpPr/>
          <p:nvPr/>
        </p:nvSpPr>
        <p:spPr>
          <a:xfrm>
            <a:off x="6143625" y="1397133"/>
            <a:ext cx="7144" cy="3349330"/>
          </a:xfrm>
          <a:prstGeom prst="rect">
            <a:avLst/>
          </a:prstGeom>
          <a:solidFill>
            <a:srgbClr val="E0E0E0"/>
          </a:solidFill>
          <a:ln/>
        </p:spPr>
      </p:sp>
      <p:sp>
        <p:nvSpPr>
          <p:cNvPr id="31" name="Shape 27"/>
          <p:cNvSpPr/>
          <p:nvPr/>
        </p:nvSpPr>
        <p:spPr>
          <a:xfrm>
            <a:off x="7000875" y="1700743"/>
            <a:ext cx="857250" cy="857250"/>
          </a:xfrm>
          <a:prstGeom prst="ellipse">
            <a:avLst/>
          </a:prstGeom>
          <a:solidFill>
            <a:srgbClr val="E3F0FB"/>
          </a:solidFill>
          <a:ln w="18288">
            <a:solidFill>
              <a:srgbClr val="1565C0"/>
            </a:solidFill>
            <a:prstDash val="solid"/>
          </a:ln>
        </p:spPr>
      </p:sp>
      <p:sp>
        <p:nvSpPr>
          <p:cNvPr id="32" name="Text 28"/>
          <p:cNvSpPr/>
          <p:nvPr/>
        </p:nvSpPr>
        <p:spPr>
          <a:xfrm>
            <a:off x="7258050" y="1881122"/>
            <a:ext cx="342900" cy="496491"/>
          </a:xfrm>
          <a:prstGeom prst="rect">
            <a:avLst/>
          </a:prstGeom>
          <a:noFill/>
          <a:ln/>
        </p:spPr>
        <p:txBody>
          <a:bodyPr wrap="none" lIns="0" tIns="0" rIns="0" bIns="0" rtlCol="0" anchor="t">
            <a:spAutoFit/>
          </a:bodyPr>
          <a:lstStyle/>
          <a:p>
            <a:pPr algn="ctr" indent="0" marL="0">
              <a:buNone/>
            </a:pPr>
            <a:r>
              <a:rPr lang="en-US" sz="2450" b="1" dirty="0">
                <a:solidFill>
                  <a:srgbClr val="1565C0"/>
                </a:solidFill>
                <a:latin typeface="Noto Sans SC Black" pitchFamily="34" charset="0"/>
                <a:ea typeface="Noto Sans SC Black" pitchFamily="34" charset="-122"/>
                <a:cs typeface="Noto Sans SC Black" pitchFamily="34" charset="-120"/>
              </a:rPr>
              <a:t>覆</a:t>
            </a:r>
            <a:endParaRPr lang="en-US" sz="2450" dirty="0"/>
          </a:p>
        </p:txBody>
      </p:sp>
      <p:sp>
        <p:nvSpPr>
          <p:cNvPr id="33" name="Text 29"/>
          <p:cNvSpPr/>
          <p:nvPr/>
        </p:nvSpPr>
        <p:spPr>
          <a:xfrm>
            <a:off x="7086600" y="2843743"/>
            <a:ext cx="685800" cy="330398"/>
          </a:xfrm>
          <a:prstGeom prst="rect">
            <a:avLst/>
          </a:prstGeom>
          <a:noFill/>
          <a:ln/>
        </p:spPr>
        <p:txBody>
          <a:bodyPr wrap="none" lIns="0" tIns="0" rIns="0" bIns="0" rtlCol="0" anchor="t">
            <a:spAutoFit/>
          </a:bodyPr>
          <a:lstStyle/>
          <a:p>
            <a:pPr algn="ctr" indent="0" marL="0">
              <a:buNone/>
            </a:pPr>
            <a:r>
              <a:rPr lang="en-US" sz="1600" b="1" dirty="0">
                <a:solidFill>
                  <a:srgbClr val="1A3A6B"/>
                </a:solidFill>
                <a:latin typeface="Noto Sans SC Bold" pitchFamily="34" charset="0"/>
                <a:ea typeface="Noto Sans SC Bold" pitchFamily="34" charset="-122"/>
                <a:cs typeface="Noto Sans SC Bold" pitchFamily="34" charset="-120"/>
              </a:rPr>
              <a:t>外覆式</a:t>
            </a:r>
            <a:endParaRPr lang="en-US" sz="1600" dirty="0"/>
          </a:p>
        </p:txBody>
      </p:sp>
      <p:sp>
        <p:nvSpPr>
          <p:cNvPr id="34" name="Text 30"/>
          <p:cNvSpPr/>
          <p:nvPr/>
        </p:nvSpPr>
        <p:spPr>
          <a:xfrm>
            <a:off x="6786563" y="3706351"/>
            <a:ext cx="1285875" cy="207169"/>
          </a:xfrm>
          <a:prstGeom prst="rect">
            <a:avLst/>
          </a:prstGeom>
          <a:noFill/>
          <a:ln/>
        </p:spPr>
        <p:txBody>
          <a:bodyPr wrap="none" lIns="0" tIns="0" rIns="0" bIns="0" rtlCol="0" anchor="t">
            <a:spAutoFit/>
          </a:bodyPr>
          <a:lstStyle/>
          <a:p>
            <a:pPr algn="ctr" indent="0" marL="0">
              <a:lnSpc>
                <a:spcPct val="128000"/>
              </a:lnSpc>
              <a:buNone/>
            </a:pPr>
            <a:r>
              <a:rPr lang="en-US" sz="1050" dirty="0">
                <a:solidFill>
                  <a:srgbClr val="333333"/>
                </a:solidFill>
                <a:latin typeface="Noto Sans SC" pitchFamily="34" charset="0"/>
                <a:ea typeface="Noto Sans SC" pitchFamily="34" charset="-122"/>
                <a:cs typeface="Noto Sans SC" pitchFamily="34" charset="-120"/>
              </a:rPr>
              <a:t>适用于常规快速铁路</a:t>
            </a:r>
            <a:endParaRPr lang="en-US" sz="1050" dirty="0"/>
          </a:p>
        </p:txBody>
      </p:sp>
      <p:sp>
        <p:nvSpPr>
          <p:cNvPr id="35" name="Text 31"/>
          <p:cNvSpPr/>
          <p:nvPr/>
        </p:nvSpPr>
        <p:spPr>
          <a:xfrm>
            <a:off x="6786563" y="4031391"/>
            <a:ext cx="1285875" cy="411463"/>
          </a:xfrm>
          <a:prstGeom prst="rect">
            <a:avLst/>
          </a:prstGeom>
          <a:noFill/>
          <a:ln/>
        </p:spPr>
        <p:txBody>
          <a:bodyPr wrap="none" lIns="0" tIns="0" rIns="0" bIns="0" rtlCol="0" anchor="t">
            <a:spAutoFit/>
          </a:bodyPr>
          <a:lstStyle/>
          <a:p>
            <a:pPr algn="ctr" indent="0" marL="0">
              <a:lnSpc>
                <a:spcPct val="128000"/>
              </a:lnSpc>
              <a:buNone/>
            </a:pPr>
            <a:r>
              <a:rPr lang="en-US" sz="1800" b="1" dirty="0">
                <a:solidFill>
                  <a:srgbClr val="1565C0"/>
                </a:solidFill>
                <a:latin typeface="Noto Sans SC Black" pitchFamily="34" charset="0"/>
                <a:ea typeface="Noto Sans SC Black" pitchFamily="34" charset="-122"/>
                <a:cs typeface="Noto Sans SC Black" pitchFamily="34" charset="-120"/>
              </a:rPr>
              <a:t>200km/h</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7891109" y="357188"/>
            <a:ext cx="824266" cy="342900"/>
          </a:xfrm>
          <a:prstGeom prst="rect">
            <a:avLst/>
          </a:prstGeom>
        </p:spPr>
      </p:pic>
      <p:sp>
        <p:nvSpPr>
          <p:cNvPr id="4" name="Text 0"/>
          <p:cNvSpPr/>
          <p:nvPr/>
        </p:nvSpPr>
        <p:spPr>
          <a:xfrm>
            <a:off x="428625" y="357188"/>
            <a:ext cx="203597" cy="248245"/>
          </a:xfrm>
          <a:prstGeom prst="rect">
            <a:avLst/>
          </a:prstGeom>
          <a:noFill/>
          <a:ln/>
        </p:spPr>
        <p:txBody>
          <a:bodyPr wrap="none" lIns="0" tIns="0" rIns="0" bIns="0" rtlCol="0" anchor="t">
            <a:spAutoFit/>
          </a:bodyPr>
          <a:lstStyle/>
          <a:p>
            <a:pPr algn="l" indent="0" marL="0">
              <a:buNone/>
            </a:pPr>
            <a:r>
              <a:rPr lang="en-US" sz="1200" b="1" dirty="0">
                <a:solidFill>
                  <a:srgbClr val="1565C0"/>
                </a:solidFill>
                <a:latin typeface="Noto Sans SC Bold" pitchFamily="34" charset="0"/>
                <a:ea typeface="Noto Sans SC Bold" pitchFamily="34" charset="-122"/>
                <a:cs typeface="Noto Sans SC Bold" pitchFamily="34" charset="-120"/>
              </a:rPr>
              <a:t>07</a:t>
            </a:r>
            <a:endParaRPr lang="en-US" sz="1200" dirty="0"/>
          </a:p>
        </p:txBody>
      </p:sp>
      <p:sp>
        <p:nvSpPr>
          <p:cNvPr id="5" name="Text 1"/>
          <p:cNvSpPr/>
          <p:nvPr/>
        </p:nvSpPr>
        <p:spPr>
          <a:xfrm>
            <a:off x="785813" y="357188"/>
            <a:ext cx="2914650" cy="248245"/>
          </a:xfrm>
          <a:prstGeom prst="rect">
            <a:avLst/>
          </a:prstGeom>
          <a:noFill/>
          <a:ln/>
        </p:spPr>
        <p:txBody>
          <a:bodyPr wrap="square" lIns="0" tIns="0" rIns="0" bIns="0" rtlCol="0" anchor="t">
            <a:spAutoFit/>
          </a:bodyPr>
          <a:lstStyle/>
          <a:p>
            <a:pPr algn="l" indent="0" marL="0">
              <a:buNone/>
            </a:pPr>
            <a:r>
              <a:rPr lang="en-US" sz="1200" b="1" dirty="0">
                <a:solidFill>
                  <a:srgbClr val="333333"/>
                </a:solidFill>
                <a:latin typeface="Noto Sans SC Bold" pitchFamily="34" charset="0"/>
                <a:ea typeface="Noto Sans SC Bold" pitchFamily="34" charset="-122"/>
                <a:cs typeface="Noto Sans SC Bold" pitchFamily="34" charset="-120"/>
              </a:rPr>
              <a:t>铁路声屏障结构形式——封闭式（续）</a:t>
            </a:r>
            <a:endParaRPr lang="en-US" sz="1200" dirty="0"/>
          </a:p>
        </p:txBody>
      </p:sp>
      <p:sp>
        <p:nvSpPr>
          <p:cNvPr id="6" name="Text 2"/>
          <p:cNvSpPr/>
          <p:nvPr/>
        </p:nvSpPr>
        <p:spPr>
          <a:xfrm>
            <a:off x="428625" y="2270652"/>
            <a:ext cx="3921919" cy="496491"/>
          </a:xfrm>
          <a:prstGeom prst="rect">
            <a:avLst/>
          </a:prstGeom>
          <a:noFill/>
          <a:ln/>
        </p:spPr>
        <p:txBody>
          <a:bodyPr wrap="square" lIns="170053" tIns="0" rIns="0" bIns="0" rtlCol="0" anchor="t">
            <a:spAutoFit/>
          </a:bodyPr>
          <a:lstStyle/>
          <a:p>
            <a:pPr algn="l" indent="0" marL="0">
              <a:buNone/>
            </a:pPr>
            <a:r>
              <a:rPr lang="en-US" sz="2450" b="1" dirty="0">
                <a:solidFill>
                  <a:srgbClr val="1565C0"/>
                </a:solidFill>
                <a:latin typeface="Noto Sans SC Black" pitchFamily="34" charset="0"/>
                <a:ea typeface="Noto Sans SC Black" pitchFamily="34" charset="-122"/>
                <a:cs typeface="Noto Sans SC Black" pitchFamily="34" charset="-120"/>
              </a:rPr>
              <a:t>外插式</a:t>
            </a:r>
            <a:endParaRPr lang="en-US" sz="2450" dirty="0"/>
          </a:p>
        </p:txBody>
      </p:sp>
      <p:sp>
        <p:nvSpPr>
          <p:cNvPr id="7" name="Shape 3"/>
          <p:cNvSpPr/>
          <p:nvPr/>
        </p:nvSpPr>
        <p:spPr>
          <a:xfrm>
            <a:off x="428625" y="3052893"/>
            <a:ext cx="285750" cy="285750"/>
          </a:xfrm>
          <a:prstGeom prst="rect">
            <a:avLst/>
          </a:prstGeom>
          <a:solidFill>
            <a:srgbClr val="1A3A6B"/>
          </a:solidFill>
          <a:ln/>
        </p:spPr>
      </p:sp>
      <p:sp>
        <p:nvSpPr>
          <p:cNvPr id="8" name="Text 4"/>
          <p:cNvSpPr/>
          <p:nvPr/>
        </p:nvSpPr>
        <p:spPr>
          <a:xfrm>
            <a:off x="428625" y="3052893"/>
            <a:ext cx="285750" cy="285750"/>
          </a:xfrm>
          <a:prstGeom prst="rect">
            <a:avLst/>
          </a:prstGeom>
          <a:noFill/>
          <a:ln/>
        </p:spPr>
        <p:txBody>
          <a:bodyPr wrap="none" lIns="0" tIns="0" rIns="0" bIns="0" rtlCol="0" anchor="ctr">
            <a:spAutoFit/>
          </a:bodyPr>
          <a:lstStyle/>
          <a:p>
            <a:pPr algn="ctr" indent="0" marL="0">
              <a:buNone/>
            </a:pPr>
            <a:r>
              <a:rPr lang="en-US" sz="1000" b="1" dirty="0">
                <a:solidFill>
                  <a:srgbClr val="FFFFFF"/>
                </a:solidFill>
                <a:latin typeface="Noto Sans SC Bold" pitchFamily="34" charset="0"/>
                <a:ea typeface="Noto Sans SC Bold" pitchFamily="34" charset="-122"/>
                <a:cs typeface="Noto Sans SC Bold" pitchFamily="34" charset="-120"/>
              </a:rPr>
              <a:t>1</a:t>
            </a:r>
            <a:endParaRPr lang="en-US" sz="1000" dirty="0"/>
          </a:p>
        </p:txBody>
      </p:sp>
      <p:sp>
        <p:nvSpPr>
          <p:cNvPr id="9" name="Text 5"/>
          <p:cNvSpPr/>
          <p:nvPr/>
        </p:nvSpPr>
        <p:spPr>
          <a:xfrm>
            <a:off x="857250" y="3052893"/>
            <a:ext cx="2743200" cy="302884"/>
          </a:xfrm>
          <a:prstGeom prst="rect">
            <a:avLst/>
          </a:prstGeom>
          <a:noFill/>
          <a:ln/>
        </p:spPr>
        <p:txBody>
          <a:bodyPr wrap="none" lIns="0" tIns="34036" rIns="0" bIns="0" rtlCol="0" anchor="t">
            <a:spAutoFit/>
          </a:bodyPr>
          <a:lstStyle/>
          <a:p>
            <a:pPr algn="l" indent="0" marL="0">
              <a:lnSpc>
                <a:spcPct val="128000"/>
              </a:lnSpc>
              <a:buNone/>
            </a:pPr>
            <a:r>
              <a:rPr lang="en-US" sz="1250" dirty="0">
                <a:solidFill>
                  <a:srgbClr val="333333"/>
                </a:solidFill>
                <a:latin typeface="Noto Sans SC" pitchFamily="34" charset="0"/>
                <a:ea typeface="Noto Sans SC" pitchFamily="34" charset="-122"/>
                <a:cs typeface="Noto Sans SC" pitchFamily="34" charset="-120"/>
              </a:rPr>
              <a:t>适用于</a:t>
            </a:r>
            <a:r>
              <a:rPr lang="en-US" sz="1200" b="1" dirty="0">
                <a:solidFill>
                  <a:srgbClr val="1565C0"/>
                </a:solidFill>
                <a:latin typeface="Noto Sans SC Bold" pitchFamily="34" charset="0"/>
                <a:ea typeface="Noto Sans SC Bold" pitchFamily="34" charset="-122"/>
                <a:cs typeface="Noto Sans SC Bold" pitchFamily="34" charset="-120"/>
              </a:rPr>
              <a:t>既有线加装全封闭</a:t>
            </a:r>
            <a:r>
              <a:rPr lang="en-US" sz="1250" dirty="0">
                <a:solidFill>
                  <a:srgbClr val="333333"/>
                </a:solidFill>
                <a:latin typeface="Noto Sans SC" pitchFamily="34" charset="0"/>
                <a:ea typeface="Noto Sans SC" pitchFamily="34" charset="-122"/>
                <a:cs typeface="Noto Sans SC" pitchFamily="34" charset="-120"/>
              </a:rPr>
              <a:t>声屏障工程</a:t>
            </a:r>
            <a:endParaRPr lang="en-US" sz="1250" dirty="0"/>
          </a:p>
        </p:txBody>
      </p:sp>
      <p:sp>
        <p:nvSpPr>
          <p:cNvPr id="10" name="Shape 6"/>
          <p:cNvSpPr/>
          <p:nvPr/>
        </p:nvSpPr>
        <p:spPr>
          <a:xfrm>
            <a:off x="428625" y="3570089"/>
            <a:ext cx="285750" cy="285750"/>
          </a:xfrm>
          <a:prstGeom prst="rect">
            <a:avLst/>
          </a:prstGeom>
          <a:solidFill>
            <a:srgbClr val="1A3A6B"/>
          </a:solidFill>
          <a:ln/>
        </p:spPr>
      </p:sp>
      <p:sp>
        <p:nvSpPr>
          <p:cNvPr id="11" name="Text 7"/>
          <p:cNvSpPr/>
          <p:nvPr/>
        </p:nvSpPr>
        <p:spPr>
          <a:xfrm>
            <a:off x="428625" y="3570089"/>
            <a:ext cx="285750" cy="285750"/>
          </a:xfrm>
          <a:prstGeom prst="rect">
            <a:avLst/>
          </a:prstGeom>
          <a:noFill/>
          <a:ln/>
        </p:spPr>
        <p:txBody>
          <a:bodyPr wrap="none" lIns="0" tIns="0" rIns="0" bIns="0" rtlCol="0" anchor="ctr">
            <a:spAutoFit/>
          </a:bodyPr>
          <a:lstStyle/>
          <a:p>
            <a:pPr algn="ctr" indent="0" marL="0">
              <a:buNone/>
            </a:pPr>
            <a:r>
              <a:rPr lang="en-US" sz="1000" b="1" dirty="0">
                <a:solidFill>
                  <a:srgbClr val="FFFFFF"/>
                </a:solidFill>
                <a:latin typeface="Noto Sans SC Bold" pitchFamily="34" charset="0"/>
                <a:ea typeface="Noto Sans SC Bold" pitchFamily="34" charset="-122"/>
                <a:cs typeface="Noto Sans SC Bold" pitchFamily="34" charset="-120"/>
              </a:rPr>
              <a:t>2</a:t>
            </a:r>
            <a:endParaRPr lang="en-US" sz="1000" dirty="0"/>
          </a:p>
        </p:txBody>
      </p:sp>
      <p:sp>
        <p:nvSpPr>
          <p:cNvPr id="12" name="Text 8"/>
          <p:cNvSpPr/>
          <p:nvPr/>
        </p:nvSpPr>
        <p:spPr>
          <a:xfrm>
            <a:off x="857250" y="3570089"/>
            <a:ext cx="3257550" cy="302884"/>
          </a:xfrm>
          <a:prstGeom prst="rect">
            <a:avLst/>
          </a:prstGeom>
          <a:noFill/>
          <a:ln/>
        </p:spPr>
        <p:txBody>
          <a:bodyPr wrap="none" lIns="0" tIns="34036" rIns="0" bIns="0" rtlCol="0" anchor="t">
            <a:spAutoFit/>
          </a:bodyPr>
          <a:lstStyle/>
          <a:p>
            <a:pPr algn="l" indent="0" marL="0">
              <a:lnSpc>
                <a:spcPct val="128000"/>
              </a:lnSpc>
              <a:buNone/>
            </a:pPr>
            <a:r>
              <a:rPr lang="en-US" sz="1200" b="1" dirty="0">
                <a:solidFill>
                  <a:srgbClr val="1565C0"/>
                </a:solidFill>
                <a:latin typeface="Noto Sans SC Bold" pitchFamily="34" charset="0"/>
                <a:ea typeface="Noto Sans SC Bold" pitchFamily="34" charset="-122"/>
                <a:cs typeface="Noto Sans SC Bold" pitchFamily="34" charset="-120"/>
              </a:rPr>
              <a:t>中驰股份</a:t>
            </a:r>
            <a:r>
              <a:rPr lang="en-US" sz="1250" dirty="0">
                <a:solidFill>
                  <a:srgbClr val="333333"/>
                </a:solidFill>
                <a:latin typeface="Noto Sans SC" pitchFamily="34" charset="0"/>
                <a:ea typeface="Noto Sans SC" pitchFamily="34" charset="-122"/>
                <a:cs typeface="Noto Sans SC" pitchFamily="34" charset="-120"/>
              </a:rPr>
              <a:t>设计深化与承建，实现屏体</a:t>
            </a:r>
            <a:r>
              <a:rPr lang="en-US" sz="1200" b="1" dirty="0">
                <a:solidFill>
                  <a:srgbClr val="1565C0"/>
                </a:solidFill>
                <a:latin typeface="Noto Sans SC Bold" pitchFamily="34" charset="0"/>
                <a:ea typeface="Noto Sans SC Bold" pitchFamily="34" charset="-122"/>
                <a:cs typeface="Noto Sans SC Bold" pitchFamily="34" charset="-120"/>
              </a:rPr>
              <a:t>免维保</a:t>
            </a:r>
            <a:endParaRPr lang="en-US" sz="1200" dirty="0"/>
          </a:p>
        </p:txBody>
      </p:sp>
      <p:sp>
        <p:nvSpPr>
          <p:cNvPr id="13" name="Shape 9"/>
          <p:cNvSpPr/>
          <p:nvPr/>
        </p:nvSpPr>
        <p:spPr>
          <a:xfrm>
            <a:off x="4779169" y="1643063"/>
            <a:ext cx="3936206" cy="2857500"/>
          </a:xfrm>
          <a:prstGeom prst="rect">
            <a:avLst/>
          </a:prstGeom>
          <a:solidFill>
            <a:srgbClr val="F8F9FA"/>
          </a:solidFill>
          <a:ln/>
        </p:spPr>
      </p:sp>
      <p:sp>
        <p:nvSpPr>
          <p:cNvPr id="14" name="Shape 10"/>
          <p:cNvSpPr/>
          <p:nvPr/>
        </p:nvSpPr>
        <p:spPr>
          <a:xfrm>
            <a:off x="4779169" y="1643063"/>
            <a:ext cx="3936206" cy="28575"/>
          </a:xfrm>
          <a:prstGeom prst="rect">
            <a:avLst/>
          </a:prstGeom>
          <a:solidFill>
            <a:srgbClr val="1565C0"/>
          </a:solidFill>
          <a:ln/>
        </p:spPr>
      </p:sp>
      <p:sp>
        <p:nvSpPr>
          <p:cNvPr id="15" name="Shape 11"/>
          <p:cNvSpPr/>
          <p:nvPr/>
        </p:nvSpPr>
        <p:spPr>
          <a:xfrm>
            <a:off x="8708231" y="1643063"/>
            <a:ext cx="7144" cy="2857500"/>
          </a:xfrm>
          <a:prstGeom prst="rect">
            <a:avLst/>
          </a:prstGeom>
          <a:solidFill>
            <a:srgbClr val="E0E0E0"/>
          </a:solidFill>
          <a:ln/>
        </p:spPr>
      </p:sp>
      <p:sp>
        <p:nvSpPr>
          <p:cNvPr id="16" name="Shape 12"/>
          <p:cNvSpPr/>
          <p:nvPr/>
        </p:nvSpPr>
        <p:spPr>
          <a:xfrm>
            <a:off x="4779169" y="4493419"/>
            <a:ext cx="3936206" cy="7144"/>
          </a:xfrm>
          <a:prstGeom prst="rect">
            <a:avLst/>
          </a:prstGeom>
          <a:solidFill>
            <a:srgbClr val="E0E0E0"/>
          </a:solidFill>
          <a:ln/>
        </p:spPr>
      </p:sp>
      <p:sp>
        <p:nvSpPr>
          <p:cNvPr id="17" name="Shape 13"/>
          <p:cNvSpPr/>
          <p:nvPr/>
        </p:nvSpPr>
        <p:spPr>
          <a:xfrm>
            <a:off x="4779169" y="1643063"/>
            <a:ext cx="7144" cy="2857500"/>
          </a:xfrm>
          <a:prstGeom prst="rect">
            <a:avLst/>
          </a:prstGeom>
          <a:solidFill>
            <a:srgbClr val="E0E0E0"/>
          </a:solidFill>
          <a:ln/>
        </p:spPr>
      </p:sp>
      <p:sp>
        <p:nvSpPr>
          <p:cNvPr id="18" name="Text 14"/>
          <p:cNvSpPr/>
          <p:nvPr/>
        </p:nvSpPr>
        <p:spPr>
          <a:xfrm>
            <a:off x="5722144" y="2829818"/>
            <a:ext cx="2057400" cy="248245"/>
          </a:xfrm>
          <a:prstGeom prst="rect">
            <a:avLst/>
          </a:prstGeom>
          <a:noFill/>
          <a:ln/>
        </p:spPr>
        <p:txBody>
          <a:bodyPr wrap="square" lIns="0" tIns="0" rIns="0" bIns="0" rtlCol="0" anchor="t">
            <a:spAutoFit/>
          </a:bodyPr>
          <a:lstStyle/>
          <a:p>
            <a:pPr algn="l" indent="0" marL="0">
              <a:buNone/>
            </a:pPr>
            <a:r>
              <a:rPr lang="en-US" sz="1200" b="1" dirty="0">
                <a:solidFill>
                  <a:srgbClr val="1A3A6B"/>
                </a:solidFill>
                <a:latin typeface="Noto Sans SC Bold" pitchFamily="34" charset="0"/>
                <a:ea typeface="Noto Sans SC Bold" pitchFamily="34" charset="-122"/>
                <a:cs typeface="Noto Sans SC Bold" pitchFamily="34" charset="-120"/>
              </a:rPr>
              <a:t>外插式封闭声屏障图示区域</a:t>
            </a:r>
            <a:endParaRPr lang="en-US" sz="1200" dirty="0"/>
          </a:p>
        </p:txBody>
      </p:sp>
      <p:sp>
        <p:nvSpPr>
          <p:cNvPr id="19" name="Text 15"/>
          <p:cNvSpPr/>
          <p:nvPr/>
        </p:nvSpPr>
        <p:spPr>
          <a:xfrm>
            <a:off x="5559623" y="3149501"/>
            <a:ext cx="2382441" cy="164306"/>
          </a:xfrm>
          <a:prstGeom prst="rect">
            <a:avLst/>
          </a:prstGeom>
          <a:noFill/>
          <a:ln/>
        </p:spPr>
        <p:txBody>
          <a:bodyPr wrap="square" lIns="0" tIns="0" rIns="0" bIns="0" rtlCol="0" anchor="t">
            <a:spAutoFit/>
          </a:bodyPr>
          <a:lstStyle/>
          <a:p>
            <a:pPr algn="l" indent="0" marL="0">
              <a:buNone/>
            </a:pPr>
            <a:r>
              <a:rPr lang="en-US" sz="850" dirty="0">
                <a:solidFill>
                  <a:srgbClr val="666666"/>
                </a:solidFill>
                <a:latin typeface="Noto Sans SC" pitchFamily="34" charset="0"/>
                <a:ea typeface="Noto Sans SC" pitchFamily="34" charset="-122"/>
                <a:cs typeface="Noto Sans SC" pitchFamily="34" charset="-120"/>
              </a:rPr>
              <a:t>（请在此处插入原PPT中的外插式声屏障图片）</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7891109" y="357188"/>
            <a:ext cx="824266" cy="342900"/>
          </a:xfrm>
          <a:prstGeom prst="rect">
            <a:avLst/>
          </a:prstGeom>
        </p:spPr>
      </p:pic>
      <p:sp>
        <p:nvSpPr>
          <p:cNvPr id="4" name="Text 0"/>
          <p:cNvSpPr/>
          <p:nvPr/>
        </p:nvSpPr>
        <p:spPr>
          <a:xfrm>
            <a:off x="428625" y="357188"/>
            <a:ext cx="203597" cy="248245"/>
          </a:xfrm>
          <a:prstGeom prst="rect">
            <a:avLst/>
          </a:prstGeom>
          <a:noFill/>
          <a:ln/>
        </p:spPr>
        <p:txBody>
          <a:bodyPr wrap="none" lIns="0" tIns="0" rIns="0" bIns="0" rtlCol="0" anchor="t">
            <a:spAutoFit/>
          </a:bodyPr>
          <a:lstStyle/>
          <a:p>
            <a:pPr algn="l" indent="0" marL="0">
              <a:buNone/>
            </a:pPr>
            <a:r>
              <a:rPr lang="en-US" sz="1200" b="1" dirty="0">
                <a:solidFill>
                  <a:srgbClr val="1565C0"/>
                </a:solidFill>
                <a:latin typeface="Noto Sans SC Bold" pitchFamily="34" charset="0"/>
                <a:ea typeface="Noto Sans SC Bold" pitchFamily="34" charset="-122"/>
                <a:cs typeface="Noto Sans SC Bold" pitchFamily="34" charset="-120"/>
              </a:rPr>
              <a:t>08</a:t>
            </a:r>
            <a:endParaRPr lang="en-US" sz="1200" dirty="0"/>
          </a:p>
        </p:txBody>
      </p:sp>
      <p:sp>
        <p:nvSpPr>
          <p:cNvPr id="5" name="Text 1"/>
          <p:cNvSpPr/>
          <p:nvPr/>
        </p:nvSpPr>
        <p:spPr>
          <a:xfrm>
            <a:off x="785813" y="357188"/>
            <a:ext cx="1543050" cy="248245"/>
          </a:xfrm>
          <a:prstGeom prst="rect">
            <a:avLst/>
          </a:prstGeom>
          <a:noFill/>
          <a:ln/>
        </p:spPr>
        <p:txBody>
          <a:bodyPr wrap="square" lIns="0" tIns="0" rIns="0" bIns="0" rtlCol="0" anchor="t">
            <a:spAutoFit/>
          </a:bodyPr>
          <a:lstStyle/>
          <a:p>
            <a:pPr algn="l" indent="0" marL="0">
              <a:buNone/>
            </a:pPr>
            <a:r>
              <a:rPr lang="en-US" sz="1200" b="1" dirty="0">
                <a:solidFill>
                  <a:srgbClr val="333333"/>
                </a:solidFill>
                <a:latin typeface="Noto Sans SC Bold" pitchFamily="34" charset="0"/>
                <a:ea typeface="Noto Sans SC Bold" pitchFamily="34" charset="-122"/>
                <a:cs typeface="Noto Sans SC Bold" pitchFamily="34" charset="-120"/>
              </a:rPr>
              <a:t>铁路声屏障标准现状</a:t>
            </a:r>
            <a:endParaRPr lang="en-US" sz="1200" dirty="0"/>
          </a:p>
        </p:txBody>
      </p:sp>
      <p:sp>
        <p:nvSpPr>
          <p:cNvPr id="6" name="Shape 2"/>
          <p:cNvSpPr/>
          <p:nvPr/>
        </p:nvSpPr>
        <p:spPr>
          <a:xfrm>
            <a:off x="1000125" y="1285875"/>
            <a:ext cx="7143750" cy="3429000"/>
          </a:xfrm>
          <a:prstGeom prst="rect">
            <a:avLst/>
          </a:prstGeom>
          <a:solidFill>
            <a:srgbClr val="F8F9FA"/>
          </a:solidFill>
          <a:ln/>
        </p:spPr>
      </p:sp>
      <p:sp>
        <p:nvSpPr>
          <p:cNvPr id="7" name="Shape 3"/>
          <p:cNvSpPr/>
          <p:nvPr/>
        </p:nvSpPr>
        <p:spPr>
          <a:xfrm>
            <a:off x="1000125" y="1285875"/>
            <a:ext cx="7143750" cy="28575"/>
          </a:xfrm>
          <a:prstGeom prst="rect">
            <a:avLst/>
          </a:prstGeom>
          <a:solidFill>
            <a:srgbClr val="1565C0"/>
          </a:solidFill>
          <a:ln/>
        </p:spPr>
      </p:sp>
      <p:sp>
        <p:nvSpPr>
          <p:cNvPr id="8" name="Shape 4"/>
          <p:cNvSpPr/>
          <p:nvPr/>
        </p:nvSpPr>
        <p:spPr>
          <a:xfrm>
            <a:off x="8136731" y="1285875"/>
            <a:ext cx="7144" cy="3429000"/>
          </a:xfrm>
          <a:prstGeom prst="rect">
            <a:avLst/>
          </a:prstGeom>
          <a:solidFill>
            <a:srgbClr val="E0E0E0"/>
          </a:solidFill>
          <a:ln/>
        </p:spPr>
      </p:sp>
      <p:sp>
        <p:nvSpPr>
          <p:cNvPr id="9" name="Shape 5"/>
          <p:cNvSpPr/>
          <p:nvPr/>
        </p:nvSpPr>
        <p:spPr>
          <a:xfrm>
            <a:off x="1000125" y="4707731"/>
            <a:ext cx="7143750" cy="7144"/>
          </a:xfrm>
          <a:prstGeom prst="rect">
            <a:avLst/>
          </a:prstGeom>
          <a:solidFill>
            <a:srgbClr val="E0E0E0"/>
          </a:solidFill>
          <a:ln/>
        </p:spPr>
      </p:sp>
      <p:sp>
        <p:nvSpPr>
          <p:cNvPr id="10" name="Shape 6"/>
          <p:cNvSpPr/>
          <p:nvPr/>
        </p:nvSpPr>
        <p:spPr>
          <a:xfrm>
            <a:off x="1000125" y="1285875"/>
            <a:ext cx="7144" cy="3429000"/>
          </a:xfrm>
          <a:prstGeom prst="rect">
            <a:avLst/>
          </a:prstGeom>
          <a:solidFill>
            <a:srgbClr val="E0E0E0"/>
          </a:solidFill>
          <a:ln/>
        </p:spPr>
      </p:sp>
      <p:pic>
        <p:nvPicPr>
          <p:cNvPr id="11" name="Image 2" descr="preencoded.png">    </p:cNvPr>
          <p:cNvPicPr>
            <a:picLocks noChangeAspect="1"/>
          </p:cNvPicPr>
          <p:nvPr/>
        </p:nvPicPr>
        <p:blipFill>
          <a:blip r:embed="rId3"/>
          <a:stretch>
            <a:fillRect/>
          </a:stretch>
        </p:blipFill>
        <p:spPr>
          <a:xfrm>
            <a:off x="4314825" y="2486025"/>
            <a:ext cx="514350" cy="457200"/>
          </a:xfrm>
          <a:prstGeom prst="rect">
            <a:avLst/>
          </a:prstGeom>
        </p:spPr>
      </p:pic>
      <p:sp>
        <p:nvSpPr>
          <p:cNvPr id="12" name="Text 7"/>
          <p:cNvSpPr/>
          <p:nvPr/>
        </p:nvSpPr>
        <p:spPr>
          <a:xfrm>
            <a:off x="3286125" y="3161109"/>
            <a:ext cx="2571750" cy="248245"/>
          </a:xfrm>
          <a:prstGeom prst="rect">
            <a:avLst/>
          </a:prstGeom>
          <a:noFill/>
          <a:ln/>
        </p:spPr>
        <p:txBody>
          <a:bodyPr wrap="square" lIns="0" tIns="0" rIns="0" bIns="0" rtlCol="0" anchor="t">
            <a:spAutoFit/>
          </a:bodyPr>
          <a:lstStyle/>
          <a:p>
            <a:pPr algn="l" indent="0" marL="0">
              <a:buNone/>
            </a:pPr>
            <a:r>
              <a:rPr lang="en-US" sz="1200" b="1" dirty="0">
                <a:solidFill>
                  <a:srgbClr val="1A3A6B"/>
                </a:solidFill>
                <a:latin typeface="Noto Sans SC Bold" pitchFamily="34" charset="0"/>
                <a:ea typeface="Noto Sans SC Bold" pitchFamily="34" charset="-122"/>
                <a:cs typeface="Noto Sans SC Bold" pitchFamily="34" charset="-120"/>
              </a:rPr>
              <a:t>铁路声屏障标准体系框架图示区域</a:t>
            </a:r>
            <a:endParaRPr lang="en-US" sz="1200" dirty="0"/>
          </a:p>
        </p:txBody>
      </p:sp>
      <p:sp>
        <p:nvSpPr>
          <p:cNvPr id="13" name="Text 8"/>
          <p:cNvSpPr/>
          <p:nvPr/>
        </p:nvSpPr>
        <p:spPr>
          <a:xfrm>
            <a:off x="3437930" y="3480792"/>
            <a:ext cx="2268141" cy="164306"/>
          </a:xfrm>
          <a:prstGeom prst="rect">
            <a:avLst/>
          </a:prstGeom>
          <a:noFill/>
          <a:ln/>
        </p:spPr>
        <p:txBody>
          <a:bodyPr wrap="square" lIns="0" tIns="0" rIns="0" bIns="0" rtlCol="0" anchor="t">
            <a:spAutoFit/>
          </a:bodyPr>
          <a:lstStyle/>
          <a:p>
            <a:pPr algn="l" indent="0" marL="0">
              <a:buNone/>
            </a:pPr>
            <a:r>
              <a:rPr lang="en-US" sz="850" dirty="0">
                <a:solidFill>
                  <a:srgbClr val="666666"/>
                </a:solidFill>
                <a:latin typeface="Noto Sans SC" pitchFamily="34" charset="0"/>
                <a:ea typeface="Noto Sans SC" pitchFamily="34" charset="-122"/>
                <a:cs typeface="Noto Sans SC" pitchFamily="34" charset="-120"/>
              </a:rPr>
              <a:t>（请在此处插入原PPT中的标准体系框架图）</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7891109" y="357188"/>
            <a:ext cx="824266" cy="342900"/>
          </a:xfrm>
          <a:prstGeom prst="rect">
            <a:avLst/>
          </a:prstGeom>
        </p:spPr>
      </p:pic>
      <p:sp>
        <p:nvSpPr>
          <p:cNvPr id="4" name="Text 0"/>
          <p:cNvSpPr/>
          <p:nvPr/>
        </p:nvSpPr>
        <p:spPr>
          <a:xfrm>
            <a:off x="428625" y="357188"/>
            <a:ext cx="203597" cy="248245"/>
          </a:xfrm>
          <a:prstGeom prst="rect">
            <a:avLst/>
          </a:prstGeom>
          <a:noFill/>
          <a:ln/>
        </p:spPr>
        <p:txBody>
          <a:bodyPr wrap="none" lIns="0" tIns="0" rIns="0" bIns="0" rtlCol="0" anchor="t">
            <a:spAutoFit/>
          </a:bodyPr>
          <a:lstStyle/>
          <a:p>
            <a:pPr algn="l" indent="0" marL="0">
              <a:buNone/>
            </a:pPr>
            <a:r>
              <a:rPr lang="en-US" sz="1200" b="1" dirty="0">
                <a:solidFill>
                  <a:srgbClr val="1565C0"/>
                </a:solidFill>
                <a:latin typeface="Noto Sans SC Bold" pitchFamily="34" charset="0"/>
                <a:ea typeface="Noto Sans SC Bold" pitchFamily="34" charset="-122"/>
                <a:cs typeface="Noto Sans SC Bold" pitchFamily="34" charset="-120"/>
              </a:rPr>
              <a:t>09</a:t>
            </a:r>
            <a:endParaRPr lang="en-US" sz="1200" dirty="0"/>
          </a:p>
        </p:txBody>
      </p:sp>
      <p:sp>
        <p:nvSpPr>
          <p:cNvPr id="5" name="Text 1"/>
          <p:cNvSpPr/>
          <p:nvPr/>
        </p:nvSpPr>
        <p:spPr>
          <a:xfrm>
            <a:off x="785813" y="357188"/>
            <a:ext cx="2914650" cy="248245"/>
          </a:xfrm>
          <a:prstGeom prst="rect">
            <a:avLst/>
          </a:prstGeom>
          <a:noFill/>
          <a:ln/>
        </p:spPr>
        <p:txBody>
          <a:bodyPr wrap="square" lIns="0" tIns="0" rIns="0" bIns="0" rtlCol="0" anchor="t">
            <a:spAutoFit/>
          </a:bodyPr>
          <a:lstStyle/>
          <a:p>
            <a:pPr algn="l" indent="0" marL="0">
              <a:buNone/>
            </a:pPr>
            <a:r>
              <a:rPr lang="en-US" sz="1200" b="1" dirty="0">
                <a:solidFill>
                  <a:srgbClr val="333333"/>
                </a:solidFill>
                <a:latin typeface="Noto Sans SC Bold" pitchFamily="34" charset="0"/>
                <a:ea typeface="Noto Sans SC Bold" pitchFamily="34" charset="-122"/>
                <a:cs typeface="Noto Sans SC Bold" pitchFamily="34" charset="-120"/>
              </a:rPr>
              <a:t>铁路声屏障产品形式——通用要求产品</a:t>
            </a:r>
            <a:endParaRPr lang="en-US" sz="1200" dirty="0"/>
          </a:p>
        </p:txBody>
      </p:sp>
      <p:sp>
        <p:nvSpPr>
          <p:cNvPr id="6" name="Shape 2"/>
          <p:cNvSpPr/>
          <p:nvPr/>
        </p:nvSpPr>
        <p:spPr>
          <a:xfrm>
            <a:off x="428625" y="1000125"/>
            <a:ext cx="8286750" cy="991530"/>
          </a:xfrm>
          <a:prstGeom prst="rect">
            <a:avLst/>
          </a:prstGeom>
          <a:solidFill>
            <a:srgbClr val="F8F9FA"/>
          </a:solidFill>
          <a:ln/>
        </p:spPr>
      </p:sp>
      <p:sp>
        <p:nvSpPr>
          <p:cNvPr id="7" name="Shape 3"/>
          <p:cNvSpPr/>
          <p:nvPr/>
        </p:nvSpPr>
        <p:spPr>
          <a:xfrm>
            <a:off x="428625" y="1000125"/>
            <a:ext cx="8286750" cy="7144"/>
          </a:xfrm>
          <a:prstGeom prst="rect">
            <a:avLst/>
          </a:prstGeom>
          <a:solidFill>
            <a:srgbClr val="E0E0E0"/>
          </a:solidFill>
          <a:ln/>
        </p:spPr>
      </p:sp>
      <p:sp>
        <p:nvSpPr>
          <p:cNvPr id="8" name="Shape 4"/>
          <p:cNvSpPr/>
          <p:nvPr/>
        </p:nvSpPr>
        <p:spPr>
          <a:xfrm>
            <a:off x="8708231" y="1000125"/>
            <a:ext cx="7144" cy="991530"/>
          </a:xfrm>
          <a:prstGeom prst="rect">
            <a:avLst/>
          </a:prstGeom>
          <a:solidFill>
            <a:srgbClr val="E0E0E0"/>
          </a:solidFill>
          <a:ln/>
        </p:spPr>
      </p:sp>
      <p:sp>
        <p:nvSpPr>
          <p:cNvPr id="9" name="Shape 5"/>
          <p:cNvSpPr/>
          <p:nvPr/>
        </p:nvSpPr>
        <p:spPr>
          <a:xfrm>
            <a:off x="428625" y="1984511"/>
            <a:ext cx="8286750" cy="7144"/>
          </a:xfrm>
          <a:prstGeom prst="rect">
            <a:avLst/>
          </a:prstGeom>
          <a:solidFill>
            <a:srgbClr val="E0E0E0"/>
          </a:solidFill>
          <a:ln/>
        </p:spPr>
      </p:sp>
      <p:sp>
        <p:nvSpPr>
          <p:cNvPr id="10" name="Shape 6"/>
          <p:cNvSpPr/>
          <p:nvPr/>
        </p:nvSpPr>
        <p:spPr>
          <a:xfrm>
            <a:off x="428625" y="1000125"/>
            <a:ext cx="57150" cy="991530"/>
          </a:xfrm>
          <a:prstGeom prst="rect">
            <a:avLst/>
          </a:prstGeom>
          <a:solidFill>
            <a:srgbClr val="1565C0"/>
          </a:solidFill>
          <a:ln/>
        </p:spPr>
      </p:sp>
      <p:sp>
        <p:nvSpPr>
          <p:cNvPr id="11" name="Text 7"/>
          <p:cNvSpPr/>
          <p:nvPr/>
        </p:nvSpPr>
        <p:spPr>
          <a:xfrm>
            <a:off x="714375" y="1214438"/>
            <a:ext cx="7715250" cy="548618"/>
          </a:xfrm>
          <a:prstGeom prst="rect">
            <a:avLst/>
          </a:prstGeom>
          <a:noFill/>
          <a:ln/>
        </p:spPr>
        <p:txBody>
          <a:bodyPr wrap="square" lIns="0" tIns="0" rIns="0" bIns="0" rtlCol="0" anchor="t">
            <a:spAutoFit/>
          </a:bodyPr>
          <a:lstStyle/>
          <a:p>
            <a:pPr algn="l" indent="0" marL="0">
              <a:lnSpc>
                <a:spcPct val="128000"/>
              </a:lnSpc>
              <a:buNone/>
            </a:pPr>
            <a:r>
              <a:rPr lang="en-US" sz="1200" b="1" dirty="0">
                <a:solidFill>
                  <a:srgbClr val="1565C0"/>
                </a:solidFill>
                <a:latin typeface="Noto Sans SC Bold" pitchFamily="34" charset="0"/>
                <a:ea typeface="Noto Sans SC Bold" pitchFamily="34" charset="-122"/>
                <a:cs typeface="Noto Sans SC Bold" pitchFamily="34" charset="-120"/>
              </a:rPr>
              <a:t>TB10505、TB/T3122</a:t>
            </a:r>
            <a:r>
              <a:rPr lang="en-US" sz="1250" dirty="0">
                <a:solidFill>
                  <a:srgbClr val="333333"/>
                </a:solidFill>
                <a:latin typeface="Noto Sans SC Medium" pitchFamily="34" charset="0"/>
                <a:ea typeface="Noto Sans SC Medium" pitchFamily="34" charset="-122"/>
                <a:cs typeface="Noto Sans SC Medium" pitchFamily="34" charset="-120"/>
              </a:rPr>
              <a:t> 标准未明确具体构造做法，因此各厂家根据自身技术能力自行设计响应，</a:t>
            </a:r>
            <a:r>
              <a:rPr lang="en-US" sz="1200" b="1" dirty="0">
                <a:solidFill>
                  <a:srgbClr val="1565C0"/>
                </a:solidFill>
                <a:latin typeface="Noto Sans SC Bold" pitchFamily="34" charset="0"/>
                <a:ea typeface="Noto Sans SC Bold" pitchFamily="34" charset="-122"/>
                <a:cs typeface="Noto Sans SC Bold" pitchFamily="34" charset="-120"/>
              </a:rPr>
              <a:t>形式</a:t>
            </a:r>
            <a:r>
              <a:rPr lang="en-US" sz="1200" b="1" dirty="0">
                <a:solidFill>
                  <a:srgbClr val="1565C0"/>
                </a:solidFill>
                <a:latin typeface="Noto Sans SC Bold" pitchFamily="34" charset="0"/>
                <a:ea typeface="Noto Sans SC Bold" pitchFamily="34" charset="-122"/>
                <a:cs typeface="Noto Sans SC Bold" pitchFamily="34" charset="-120"/>
              </a:rPr>
              <a:t>多样</a:t>
            </a:r>
            <a:r>
              <a:rPr lang="en-US" sz="1250" dirty="0">
                <a:solidFill>
                  <a:srgbClr val="333333"/>
                </a:solidFill>
                <a:latin typeface="Noto Sans SC Medium" pitchFamily="34" charset="0"/>
                <a:ea typeface="Noto Sans SC Medium" pitchFamily="34" charset="-122"/>
                <a:cs typeface="Noto Sans SC Medium" pitchFamily="34" charset="-120"/>
              </a:rPr>
              <a:t>。</a:t>
            </a:r>
            <a:endParaRPr lang="en-US" sz="1250" dirty="0"/>
          </a:p>
        </p:txBody>
      </p:sp>
      <p:sp>
        <p:nvSpPr>
          <p:cNvPr id="12" name="Shape 8"/>
          <p:cNvSpPr/>
          <p:nvPr/>
        </p:nvSpPr>
        <p:spPr>
          <a:xfrm>
            <a:off x="428625" y="2263118"/>
            <a:ext cx="8286750" cy="2451757"/>
          </a:xfrm>
          <a:prstGeom prst="rect">
            <a:avLst/>
          </a:prstGeom>
          <a:solidFill>
            <a:srgbClr val="F8F9FA"/>
          </a:solidFill>
          <a:ln/>
        </p:spPr>
      </p:sp>
      <p:sp>
        <p:nvSpPr>
          <p:cNvPr id="13" name="Shape 9"/>
          <p:cNvSpPr/>
          <p:nvPr/>
        </p:nvSpPr>
        <p:spPr>
          <a:xfrm>
            <a:off x="428625" y="2263118"/>
            <a:ext cx="8286750" cy="28575"/>
          </a:xfrm>
          <a:prstGeom prst="rect">
            <a:avLst/>
          </a:prstGeom>
          <a:solidFill>
            <a:srgbClr val="1A3A6B"/>
          </a:solidFill>
          <a:ln/>
        </p:spPr>
      </p:sp>
      <p:sp>
        <p:nvSpPr>
          <p:cNvPr id="14" name="Shape 10"/>
          <p:cNvSpPr/>
          <p:nvPr/>
        </p:nvSpPr>
        <p:spPr>
          <a:xfrm>
            <a:off x="8708231" y="2263118"/>
            <a:ext cx="7144" cy="2451757"/>
          </a:xfrm>
          <a:prstGeom prst="rect">
            <a:avLst/>
          </a:prstGeom>
          <a:solidFill>
            <a:srgbClr val="E0E0E0"/>
          </a:solidFill>
          <a:ln/>
        </p:spPr>
      </p:sp>
      <p:sp>
        <p:nvSpPr>
          <p:cNvPr id="15" name="Shape 11"/>
          <p:cNvSpPr/>
          <p:nvPr/>
        </p:nvSpPr>
        <p:spPr>
          <a:xfrm>
            <a:off x="428625" y="4707731"/>
            <a:ext cx="8286750" cy="7144"/>
          </a:xfrm>
          <a:prstGeom prst="rect">
            <a:avLst/>
          </a:prstGeom>
          <a:solidFill>
            <a:srgbClr val="E0E0E0"/>
          </a:solidFill>
          <a:ln/>
        </p:spPr>
      </p:sp>
      <p:sp>
        <p:nvSpPr>
          <p:cNvPr id="16" name="Shape 12"/>
          <p:cNvSpPr/>
          <p:nvPr/>
        </p:nvSpPr>
        <p:spPr>
          <a:xfrm>
            <a:off x="428625" y="2263118"/>
            <a:ext cx="7144" cy="2451757"/>
          </a:xfrm>
          <a:prstGeom prst="rect">
            <a:avLst/>
          </a:prstGeom>
          <a:solidFill>
            <a:srgbClr val="E0E0E0"/>
          </a:solidFill>
          <a:ln/>
        </p:spPr>
      </p:sp>
      <p:pic>
        <p:nvPicPr>
          <p:cNvPr id="17" name="Image 2" descr="preencoded.png">    </p:cNvPr>
          <p:cNvPicPr>
            <a:picLocks noChangeAspect="1"/>
          </p:cNvPicPr>
          <p:nvPr/>
        </p:nvPicPr>
        <p:blipFill>
          <a:blip r:embed="rId3"/>
          <a:stretch>
            <a:fillRect/>
          </a:stretch>
        </p:blipFill>
        <p:spPr>
          <a:xfrm>
            <a:off x="4314825" y="2974646"/>
            <a:ext cx="514350" cy="457200"/>
          </a:xfrm>
          <a:prstGeom prst="rect">
            <a:avLst/>
          </a:prstGeom>
        </p:spPr>
      </p:pic>
      <p:sp>
        <p:nvSpPr>
          <p:cNvPr id="18" name="Text 13"/>
          <p:cNvSpPr/>
          <p:nvPr/>
        </p:nvSpPr>
        <p:spPr>
          <a:xfrm>
            <a:off x="3543300" y="3649731"/>
            <a:ext cx="2057400" cy="248245"/>
          </a:xfrm>
          <a:prstGeom prst="rect">
            <a:avLst/>
          </a:prstGeom>
          <a:noFill/>
          <a:ln/>
        </p:spPr>
        <p:txBody>
          <a:bodyPr wrap="square" lIns="0" tIns="0" rIns="0" bIns="0" rtlCol="0" anchor="t">
            <a:spAutoFit/>
          </a:bodyPr>
          <a:lstStyle/>
          <a:p>
            <a:pPr algn="l" indent="0" marL="0">
              <a:buNone/>
            </a:pPr>
            <a:r>
              <a:rPr lang="en-US" sz="1200" b="1" dirty="0">
                <a:solidFill>
                  <a:srgbClr val="1A3A6B"/>
                </a:solidFill>
                <a:latin typeface="Noto Sans SC Bold" pitchFamily="34" charset="0"/>
                <a:ea typeface="Noto Sans SC Bold" pitchFamily="34" charset="-122"/>
                <a:cs typeface="Noto Sans SC Bold" pitchFamily="34" charset="-120"/>
              </a:rPr>
              <a:t>通用要求产品形式图示区域</a:t>
            </a:r>
            <a:endParaRPr lang="en-US" sz="1200" dirty="0"/>
          </a:p>
        </p:txBody>
      </p:sp>
      <p:sp>
        <p:nvSpPr>
          <p:cNvPr id="19" name="Text 14"/>
          <p:cNvSpPr/>
          <p:nvPr/>
        </p:nvSpPr>
        <p:spPr>
          <a:xfrm>
            <a:off x="3037880" y="3969414"/>
            <a:ext cx="3068241" cy="164306"/>
          </a:xfrm>
          <a:prstGeom prst="rect">
            <a:avLst/>
          </a:prstGeom>
          <a:noFill/>
          <a:ln/>
        </p:spPr>
        <p:txBody>
          <a:bodyPr wrap="square" lIns="0" tIns="0" rIns="0" bIns="0" rtlCol="0" anchor="t">
            <a:spAutoFit/>
          </a:bodyPr>
          <a:lstStyle/>
          <a:p>
            <a:pPr algn="l" indent="0" marL="0">
              <a:buNone/>
            </a:pPr>
            <a:r>
              <a:rPr lang="en-US" sz="850" dirty="0">
                <a:solidFill>
                  <a:srgbClr val="666666"/>
                </a:solidFill>
                <a:latin typeface="Noto Sans SC" pitchFamily="34" charset="0"/>
                <a:ea typeface="Noto Sans SC" pitchFamily="34" charset="-122"/>
                <a:cs typeface="Noto Sans SC" pitchFamily="34" charset="-120"/>
              </a:rPr>
              <a:t>（请在此处插入原PPT中展示各厂家多样化产品形式的图片）</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7891109" y="357188"/>
            <a:ext cx="824266" cy="342900"/>
          </a:xfrm>
          <a:prstGeom prst="rect">
            <a:avLst/>
          </a:prstGeom>
        </p:spPr>
      </p:pic>
      <p:sp>
        <p:nvSpPr>
          <p:cNvPr id="4" name="Text 0"/>
          <p:cNvSpPr/>
          <p:nvPr/>
        </p:nvSpPr>
        <p:spPr>
          <a:xfrm>
            <a:off x="428625" y="357188"/>
            <a:ext cx="203597" cy="248245"/>
          </a:xfrm>
          <a:prstGeom prst="rect">
            <a:avLst/>
          </a:prstGeom>
          <a:noFill/>
          <a:ln/>
        </p:spPr>
        <p:txBody>
          <a:bodyPr wrap="none" lIns="0" tIns="0" rIns="0" bIns="0" rtlCol="0" anchor="t">
            <a:spAutoFit/>
          </a:bodyPr>
          <a:lstStyle/>
          <a:p>
            <a:pPr algn="l" indent="0" marL="0">
              <a:buNone/>
            </a:pPr>
            <a:r>
              <a:rPr lang="en-US" sz="1200" b="1" dirty="0">
                <a:solidFill>
                  <a:srgbClr val="1565C0"/>
                </a:solidFill>
                <a:latin typeface="Noto Sans SC Bold" pitchFamily="34" charset="0"/>
                <a:ea typeface="Noto Sans SC Bold" pitchFamily="34" charset="-122"/>
                <a:cs typeface="Noto Sans SC Bold" pitchFamily="34" charset="-120"/>
              </a:rPr>
              <a:t>10</a:t>
            </a:r>
            <a:endParaRPr lang="en-US" sz="1200" dirty="0"/>
          </a:p>
        </p:txBody>
      </p:sp>
      <p:sp>
        <p:nvSpPr>
          <p:cNvPr id="5" name="Text 1"/>
          <p:cNvSpPr/>
          <p:nvPr/>
        </p:nvSpPr>
        <p:spPr>
          <a:xfrm>
            <a:off x="785813" y="357188"/>
            <a:ext cx="2571750" cy="248245"/>
          </a:xfrm>
          <a:prstGeom prst="rect">
            <a:avLst/>
          </a:prstGeom>
          <a:noFill/>
          <a:ln/>
        </p:spPr>
        <p:txBody>
          <a:bodyPr wrap="square" lIns="0" tIns="0" rIns="0" bIns="0" rtlCol="0" anchor="t">
            <a:spAutoFit/>
          </a:bodyPr>
          <a:lstStyle/>
          <a:p>
            <a:pPr algn="l" indent="0" marL="0">
              <a:buNone/>
            </a:pPr>
            <a:r>
              <a:rPr lang="en-US" sz="1200" b="1" dirty="0">
                <a:solidFill>
                  <a:srgbClr val="333333"/>
                </a:solidFill>
                <a:latin typeface="Noto Sans SC Bold" pitchFamily="34" charset="0"/>
                <a:ea typeface="Noto Sans SC Bold" pitchFamily="34" charset="-122"/>
                <a:cs typeface="Noto Sans SC Bold" pitchFamily="34" charset="-120"/>
              </a:rPr>
              <a:t>铁路声屏障产品形式——企标产品</a:t>
            </a:r>
            <a:endParaRPr lang="en-US" sz="1200" dirty="0"/>
          </a:p>
        </p:txBody>
      </p:sp>
      <p:sp>
        <p:nvSpPr>
          <p:cNvPr id="6" name="Shape 2"/>
          <p:cNvSpPr/>
          <p:nvPr/>
        </p:nvSpPr>
        <p:spPr>
          <a:xfrm>
            <a:off x="2928938" y="928688"/>
            <a:ext cx="3286125" cy="650081"/>
          </a:xfrm>
          <a:prstGeom prst="rect">
            <a:avLst/>
          </a:prstGeom>
          <a:solidFill>
            <a:srgbClr val="1565C0"/>
          </a:solidFill>
          <a:ln w="18288">
            <a:solidFill>
              <a:srgbClr val="1565C0"/>
            </a:solidFill>
            <a:prstDash val="solid"/>
          </a:ln>
        </p:spPr>
      </p:sp>
      <p:sp>
        <p:nvSpPr>
          <p:cNvPr id="7" name="Text 3"/>
          <p:cNvSpPr/>
          <p:nvPr/>
        </p:nvSpPr>
        <p:spPr>
          <a:xfrm>
            <a:off x="3071813" y="1035844"/>
            <a:ext cx="3000375" cy="207169"/>
          </a:xfrm>
          <a:prstGeom prst="rect">
            <a:avLst/>
          </a:prstGeom>
          <a:noFill/>
          <a:ln/>
        </p:spPr>
        <p:txBody>
          <a:bodyPr wrap="square" lIns="0" tIns="0" rIns="0" bIns="0" rtlCol="0" anchor="t">
            <a:spAutoFit/>
          </a:bodyPr>
          <a:lstStyle/>
          <a:p>
            <a:pPr algn="ctr" indent="0" marL="0">
              <a:buNone/>
            </a:pPr>
            <a:r>
              <a:rPr lang="en-US" sz="1000" b="1" dirty="0">
                <a:solidFill>
                  <a:srgbClr val="FFFFFF"/>
                </a:solidFill>
                <a:latin typeface="Noto Sans SC Bold" pitchFamily="34" charset="0"/>
                <a:ea typeface="Noto Sans SC Bold" pitchFamily="34" charset="-122"/>
                <a:cs typeface="Noto Sans SC Bold" pitchFamily="34" charset="-120"/>
              </a:rPr>
              <a:t>TB/T3122-2019</a:t>
            </a:r>
            <a:endParaRPr lang="en-US" sz="1000" dirty="0"/>
          </a:p>
        </p:txBody>
      </p:sp>
      <p:sp>
        <p:nvSpPr>
          <p:cNvPr id="8" name="Text 4"/>
          <p:cNvSpPr/>
          <p:nvPr/>
        </p:nvSpPr>
        <p:spPr>
          <a:xfrm>
            <a:off x="3071813" y="1278731"/>
            <a:ext cx="3000375" cy="164306"/>
          </a:xfrm>
          <a:prstGeom prst="rect">
            <a:avLst/>
          </a:prstGeom>
          <a:noFill/>
          <a:ln/>
        </p:spPr>
        <p:txBody>
          <a:bodyPr wrap="square" lIns="0" tIns="0" rIns="0" bIns="0" rtlCol="0" anchor="t">
            <a:spAutoFit/>
          </a:bodyPr>
          <a:lstStyle/>
          <a:p>
            <a:pPr algn="ctr" indent="0" marL="0">
              <a:buNone/>
            </a:pPr>
            <a:r>
              <a:rPr lang="en-US" sz="850" dirty="0">
                <a:solidFill>
                  <a:srgbClr val="FFFFFF">
                    <a:alpha val="90000"/>
                  </a:srgbClr>
                </a:solidFill>
                <a:latin typeface="Noto Sans SC" pitchFamily="34" charset="0"/>
                <a:ea typeface="Noto Sans SC" pitchFamily="34" charset="-122"/>
                <a:cs typeface="Noto Sans SC" pitchFamily="34" charset="-120"/>
              </a:rPr>
              <a:t>《铁路声屏障声学构件》</a:t>
            </a:r>
            <a:endParaRPr lang="en-US" sz="850" dirty="0"/>
          </a:p>
        </p:txBody>
      </p:sp>
      <p:sp>
        <p:nvSpPr>
          <p:cNvPr id="9" name="Shape 5"/>
          <p:cNvSpPr/>
          <p:nvPr/>
        </p:nvSpPr>
        <p:spPr>
          <a:xfrm>
            <a:off x="2928938" y="1728788"/>
            <a:ext cx="3286125" cy="937617"/>
          </a:xfrm>
          <a:prstGeom prst="rect">
            <a:avLst/>
          </a:prstGeom>
          <a:solidFill>
            <a:srgbClr val="FFFFFF"/>
          </a:solidFill>
          <a:ln w="18288">
            <a:solidFill>
              <a:srgbClr val="1565C0"/>
            </a:solidFill>
            <a:prstDash val="solid"/>
          </a:ln>
        </p:spPr>
      </p:sp>
      <p:sp>
        <p:nvSpPr>
          <p:cNvPr id="10" name="Text 6"/>
          <p:cNvSpPr/>
          <p:nvPr/>
        </p:nvSpPr>
        <p:spPr>
          <a:xfrm>
            <a:off x="3071813" y="1835944"/>
            <a:ext cx="3000375" cy="207169"/>
          </a:xfrm>
          <a:prstGeom prst="rect">
            <a:avLst/>
          </a:prstGeom>
          <a:noFill/>
          <a:ln/>
        </p:spPr>
        <p:txBody>
          <a:bodyPr wrap="square" lIns="0" tIns="0" rIns="0" bIns="0" rtlCol="0" anchor="t">
            <a:spAutoFit/>
          </a:bodyPr>
          <a:lstStyle/>
          <a:p>
            <a:pPr algn="ctr" indent="0" marL="0">
              <a:buNone/>
            </a:pPr>
            <a:r>
              <a:rPr lang="en-US" sz="1000" b="1" dirty="0">
                <a:solidFill>
                  <a:srgbClr val="1565C0"/>
                </a:solidFill>
                <a:latin typeface="Noto Sans SC Bold" pitchFamily="34" charset="0"/>
                <a:ea typeface="Noto Sans SC Bold" pitchFamily="34" charset="-122"/>
                <a:cs typeface="Noto Sans SC Bold" pitchFamily="34" charset="-120"/>
              </a:rPr>
              <a:t>Q/CR 759-2020</a:t>
            </a:r>
            <a:endParaRPr lang="en-US" sz="1000" dirty="0"/>
          </a:p>
        </p:txBody>
      </p:sp>
      <p:sp>
        <p:nvSpPr>
          <p:cNvPr id="11" name="Text 7"/>
          <p:cNvSpPr/>
          <p:nvPr/>
        </p:nvSpPr>
        <p:spPr>
          <a:xfrm>
            <a:off x="3071813" y="2078831"/>
            <a:ext cx="3000375" cy="164306"/>
          </a:xfrm>
          <a:prstGeom prst="rect">
            <a:avLst/>
          </a:prstGeom>
          <a:noFill/>
          <a:ln/>
        </p:spPr>
        <p:txBody>
          <a:bodyPr wrap="square" lIns="0" tIns="0" rIns="0" bIns="0" rtlCol="0" anchor="t">
            <a:spAutoFit/>
          </a:bodyPr>
          <a:lstStyle/>
          <a:p>
            <a:pPr algn="ctr" indent="0" marL="0">
              <a:buNone/>
            </a:pPr>
            <a:r>
              <a:rPr lang="en-US" sz="850" dirty="0">
                <a:solidFill>
                  <a:srgbClr val="333333"/>
                </a:solidFill>
                <a:latin typeface="Noto Sans SC" pitchFamily="34" charset="0"/>
                <a:ea typeface="Noto Sans SC" pitchFamily="34" charset="-122"/>
                <a:cs typeface="Noto Sans SC" pitchFamily="34" charset="-120"/>
              </a:rPr>
              <a:t>《铁路插板式金属声屏障 单元板通用要求》</a:t>
            </a:r>
            <a:endParaRPr lang="en-US" sz="850" dirty="0"/>
          </a:p>
        </p:txBody>
      </p:sp>
      <p:sp>
        <p:nvSpPr>
          <p:cNvPr id="12" name="Shape 8"/>
          <p:cNvSpPr/>
          <p:nvPr/>
        </p:nvSpPr>
        <p:spPr>
          <a:xfrm>
            <a:off x="4300538" y="2314575"/>
            <a:ext cx="542925" cy="216098"/>
          </a:xfrm>
          <a:prstGeom prst="rect">
            <a:avLst/>
          </a:prstGeom>
          <a:solidFill>
            <a:srgbClr val="E3F0FB"/>
          </a:solidFill>
          <a:ln w="9144">
            <a:solidFill>
              <a:srgbClr val="1565C0"/>
            </a:solidFill>
            <a:prstDash val="solid"/>
          </a:ln>
        </p:spPr>
      </p:sp>
      <p:sp>
        <p:nvSpPr>
          <p:cNvPr id="13" name="Text 9"/>
          <p:cNvSpPr/>
          <p:nvPr/>
        </p:nvSpPr>
        <p:spPr>
          <a:xfrm>
            <a:off x="4300538" y="2314575"/>
            <a:ext cx="542925" cy="216098"/>
          </a:xfrm>
          <a:prstGeom prst="rect">
            <a:avLst/>
          </a:prstGeom>
          <a:noFill/>
          <a:ln/>
        </p:spPr>
        <p:txBody>
          <a:bodyPr wrap="none" lIns="136017" tIns="34036" rIns="136017" bIns="34036" rtlCol="0" anchor="t">
            <a:spAutoFit/>
          </a:bodyPr>
          <a:lstStyle/>
          <a:p>
            <a:pPr algn="ctr" indent="0" marL="0">
              <a:buNone/>
            </a:pPr>
            <a:r>
              <a:rPr lang="en-US" sz="700" b="1" dirty="0">
                <a:solidFill>
                  <a:srgbClr val="1565C0"/>
                </a:solidFill>
                <a:latin typeface="Noto Sans SC Bold" pitchFamily="34" charset="0"/>
                <a:ea typeface="Noto Sans SC Bold" pitchFamily="34" charset="-122"/>
                <a:cs typeface="Noto Sans SC Bold" pitchFamily="34" charset="-120"/>
              </a:rPr>
              <a:t>标准板</a:t>
            </a:r>
            <a:endParaRPr lang="en-US" sz="700" dirty="0"/>
          </a:p>
        </p:txBody>
      </p:sp>
      <p:sp>
        <p:nvSpPr>
          <p:cNvPr id="14" name="Shape 10"/>
          <p:cNvSpPr/>
          <p:nvPr/>
        </p:nvSpPr>
        <p:spPr>
          <a:xfrm>
            <a:off x="1214438" y="2959298"/>
            <a:ext cx="3286125" cy="937617"/>
          </a:xfrm>
          <a:prstGeom prst="rect">
            <a:avLst/>
          </a:prstGeom>
          <a:solidFill>
            <a:srgbClr val="FFFFFF"/>
          </a:solidFill>
          <a:ln w="18288">
            <a:solidFill>
              <a:srgbClr val="1565C0"/>
            </a:solidFill>
            <a:prstDash val="solid"/>
          </a:ln>
        </p:spPr>
      </p:sp>
      <p:sp>
        <p:nvSpPr>
          <p:cNvPr id="15" name="Text 11"/>
          <p:cNvSpPr/>
          <p:nvPr/>
        </p:nvSpPr>
        <p:spPr>
          <a:xfrm>
            <a:off x="1357313" y="3066455"/>
            <a:ext cx="3000375" cy="207169"/>
          </a:xfrm>
          <a:prstGeom prst="rect">
            <a:avLst/>
          </a:prstGeom>
          <a:noFill/>
          <a:ln/>
        </p:spPr>
        <p:txBody>
          <a:bodyPr wrap="square" lIns="0" tIns="0" rIns="0" bIns="0" rtlCol="0" anchor="t">
            <a:spAutoFit/>
          </a:bodyPr>
          <a:lstStyle/>
          <a:p>
            <a:pPr algn="ctr" indent="0" marL="0">
              <a:buNone/>
            </a:pPr>
            <a:r>
              <a:rPr lang="en-US" sz="1000" b="1" dirty="0">
                <a:solidFill>
                  <a:srgbClr val="1565C0"/>
                </a:solidFill>
                <a:latin typeface="Noto Sans SC Bold" pitchFamily="34" charset="0"/>
                <a:ea typeface="Noto Sans SC Bold" pitchFamily="34" charset="-122"/>
                <a:cs typeface="Noto Sans SC Bold" pitchFamily="34" charset="-120"/>
              </a:rPr>
              <a:t>Q/CR 760-2020</a:t>
            </a:r>
            <a:endParaRPr lang="en-US" sz="1000" dirty="0"/>
          </a:p>
        </p:txBody>
      </p:sp>
      <p:sp>
        <p:nvSpPr>
          <p:cNvPr id="16" name="Text 12"/>
          <p:cNvSpPr/>
          <p:nvPr/>
        </p:nvSpPr>
        <p:spPr>
          <a:xfrm>
            <a:off x="1357313" y="3309342"/>
            <a:ext cx="3000375" cy="164306"/>
          </a:xfrm>
          <a:prstGeom prst="rect">
            <a:avLst/>
          </a:prstGeom>
          <a:noFill/>
          <a:ln/>
        </p:spPr>
        <p:txBody>
          <a:bodyPr wrap="square" lIns="0" tIns="0" rIns="0" bIns="0" rtlCol="0" anchor="t">
            <a:spAutoFit/>
          </a:bodyPr>
          <a:lstStyle/>
          <a:p>
            <a:pPr algn="ctr" indent="0" marL="0">
              <a:buNone/>
            </a:pPr>
            <a:r>
              <a:rPr lang="en-US" sz="850" dirty="0">
                <a:solidFill>
                  <a:srgbClr val="333333"/>
                </a:solidFill>
                <a:latin typeface="Noto Sans SC" pitchFamily="34" charset="0"/>
                <a:ea typeface="Noto Sans SC" pitchFamily="34" charset="-122"/>
                <a:cs typeface="Noto Sans SC" pitchFamily="34" charset="-120"/>
              </a:rPr>
              <a:t>《铁路插板式金属声屏障 Ⅰ型单元板》</a:t>
            </a:r>
            <a:endParaRPr lang="en-US" sz="850" dirty="0"/>
          </a:p>
        </p:txBody>
      </p:sp>
      <p:sp>
        <p:nvSpPr>
          <p:cNvPr id="17" name="Shape 13"/>
          <p:cNvSpPr/>
          <p:nvPr/>
        </p:nvSpPr>
        <p:spPr>
          <a:xfrm>
            <a:off x="2619970" y="3545086"/>
            <a:ext cx="475059" cy="216098"/>
          </a:xfrm>
          <a:prstGeom prst="rect">
            <a:avLst/>
          </a:prstGeom>
          <a:solidFill>
            <a:srgbClr val="E3F0FB"/>
          </a:solidFill>
          <a:ln w="9144">
            <a:solidFill>
              <a:srgbClr val="1565C0"/>
            </a:solidFill>
            <a:prstDash val="solid"/>
          </a:ln>
        </p:spPr>
      </p:sp>
      <p:sp>
        <p:nvSpPr>
          <p:cNvPr id="18" name="Text 14"/>
          <p:cNvSpPr/>
          <p:nvPr/>
        </p:nvSpPr>
        <p:spPr>
          <a:xfrm>
            <a:off x="2619970" y="3545086"/>
            <a:ext cx="475059" cy="216098"/>
          </a:xfrm>
          <a:prstGeom prst="rect">
            <a:avLst/>
          </a:prstGeom>
          <a:noFill/>
          <a:ln/>
        </p:spPr>
        <p:txBody>
          <a:bodyPr wrap="none" lIns="136017" tIns="34036" rIns="136017" bIns="34036" rtlCol="0" anchor="t">
            <a:spAutoFit/>
          </a:bodyPr>
          <a:lstStyle/>
          <a:p>
            <a:pPr algn="ctr" indent="0" marL="0">
              <a:buNone/>
            </a:pPr>
            <a:r>
              <a:rPr lang="en-US" sz="700" b="1" dirty="0">
                <a:solidFill>
                  <a:srgbClr val="1565C0"/>
                </a:solidFill>
                <a:latin typeface="Noto Sans SC Bold" pitchFamily="34" charset="0"/>
                <a:ea typeface="Noto Sans SC Bold" pitchFamily="34" charset="-122"/>
                <a:cs typeface="Noto Sans SC Bold" pitchFamily="34" charset="-120"/>
              </a:rPr>
              <a:t>I型板</a:t>
            </a:r>
            <a:endParaRPr lang="en-US" sz="700" dirty="0"/>
          </a:p>
        </p:txBody>
      </p:sp>
      <p:sp>
        <p:nvSpPr>
          <p:cNvPr id="19" name="Shape 15"/>
          <p:cNvSpPr/>
          <p:nvPr/>
        </p:nvSpPr>
        <p:spPr>
          <a:xfrm>
            <a:off x="4643438" y="2959298"/>
            <a:ext cx="3286125" cy="937617"/>
          </a:xfrm>
          <a:prstGeom prst="rect">
            <a:avLst/>
          </a:prstGeom>
          <a:solidFill>
            <a:srgbClr val="FFFFFF"/>
          </a:solidFill>
          <a:ln w="18288">
            <a:solidFill>
              <a:srgbClr val="1565C0"/>
            </a:solidFill>
            <a:prstDash val="solid"/>
          </a:ln>
        </p:spPr>
      </p:sp>
      <p:sp>
        <p:nvSpPr>
          <p:cNvPr id="20" name="Text 16"/>
          <p:cNvSpPr/>
          <p:nvPr/>
        </p:nvSpPr>
        <p:spPr>
          <a:xfrm>
            <a:off x="4786313" y="3066455"/>
            <a:ext cx="3000375" cy="207169"/>
          </a:xfrm>
          <a:prstGeom prst="rect">
            <a:avLst/>
          </a:prstGeom>
          <a:noFill/>
          <a:ln/>
        </p:spPr>
        <p:txBody>
          <a:bodyPr wrap="square" lIns="0" tIns="0" rIns="0" bIns="0" rtlCol="0" anchor="t">
            <a:spAutoFit/>
          </a:bodyPr>
          <a:lstStyle/>
          <a:p>
            <a:pPr algn="ctr" indent="0" marL="0">
              <a:buNone/>
            </a:pPr>
            <a:r>
              <a:rPr lang="en-US" sz="1000" b="1" dirty="0">
                <a:solidFill>
                  <a:srgbClr val="1565C0"/>
                </a:solidFill>
                <a:latin typeface="Noto Sans SC Bold" pitchFamily="34" charset="0"/>
                <a:ea typeface="Noto Sans SC Bold" pitchFamily="34" charset="-122"/>
                <a:cs typeface="Noto Sans SC Bold" pitchFamily="34" charset="-120"/>
              </a:rPr>
              <a:t>Q/CR 870-2022</a:t>
            </a:r>
            <a:endParaRPr lang="en-US" sz="1000" dirty="0"/>
          </a:p>
        </p:txBody>
      </p:sp>
      <p:sp>
        <p:nvSpPr>
          <p:cNvPr id="21" name="Text 17"/>
          <p:cNvSpPr/>
          <p:nvPr/>
        </p:nvSpPr>
        <p:spPr>
          <a:xfrm>
            <a:off x="4786313" y="3309342"/>
            <a:ext cx="3000375" cy="164306"/>
          </a:xfrm>
          <a:prstGeom prst="rect">
            <a:avLst/>
          </a:prstGeom>
          <a:noFill/>
          <a:ln/>
        </p:spPr>
        <p:txBody>
          <a:bodyPr wrap="square" lIns="0" tIns="0" rIns="0" bIns="0" rtlCol="0" anchor="t">
            <a:spAutoFit/>
          </a:bodyPr>
          <a:lstStyle/>
          <a:p>
            <a:pPr algn="ctr" indent="0" marL="0">
              <a:buNone/>
            </a:pPr>
            <a:r>
              <a:rPr lang="en-US" sz="850" dirty="0">
                <a:solidFill>
                  <a:srgbClr val="333333"/>
                </a:solidFill>
                <a:latin typeface="Noto Sans SC" pitchFamily="34" charset="0"/>
                <a:ea typeface="Noto Sans SC" pitchFamily="34" charset="-122"/>
                <a:cs typeface="Noto Sans SC" pitchFamily="34" charset="-120"/>
              </a:rPr>
              <a:t>《铁路插板式金属声屏障Ⅱ型单元板》</a:t>
            </a:r>
            <a:endParaRPr lang="en-US" sz="850" dirty="0"/>
          </a:p>
        </p:txBody>
      </p:sp>
      <p:sp>
        <p:nvSpPr>
          <p:cNvPr id="22" name="Shape 18"/>
          <p:cNvSpPr/>
          <p:nvPr/>
        </p:nvSpPr>
        <p:spPr>
          <a:xfrm>
            <a:off x="6032897" y="3545086"/>
            <a:ext cx="507206" cy="216098"/>
          </a:xfrm>
          <a:prstGeom prst="rect">
            <a:avLst/>
          </a:prstGeom>
          <a:solidFill>
            <a:srgbClr val="E3F0FB"/>
          </a:solidFill>
          <a:ln w="9144">
            <a:solidFill>
              <a:srgbClr val="1565C0"/>
            </a:solidFill>
            <a:prstDash val="solid"/>
          </a:ln>
        </p:spPr>
      </p:sp>
      <p:sp>
        <p:nvSpPr>
          <p:cNvPr id="23" name="Text 19"/>
          <p:cNvSpPr/>
          <p:nvPr/>
        </p:nvSpPr>
        <p:spPr>
          <a:xfrm>
            <a:off x="6032897" y="3545086"/>
            <a:ext cx="507206" cy="216098"/>
          </a:xfrm>
          <a:prstGeom prst="rect">
            <a:avLst/>
          </a:prstGeom>
          <a:noFill/>
          <a:ln/>
        </p:spPr>
        <p:txBody>
          <a:bodyPr wrap="none" lIns="136017" tIns="34036" rIns="136017" bIns="34036" rtlCol="0" anchor="t">
            <a:spAutoFit/>
          </a:bodyPr>
          <a:lstStyle/>
          <a:p>
            <a:pPr algn="ctr" indent="0" marL="0">
              <a:buNone/>
            </a:pPr>
            <a:r>
              <a:rPr lang="en-US" sz="700" b="1" dirty="0">
                <a:solidFill>
                  <a:srgbClr val="1565C0"/>
                </a:solidFill>
                <a:latin typeface="Noto Sans SC Bold" pitchFamily="34" charset="0"/>
                <a:ea typeface="Noto Sans SC Bold" pitchFamily="34" charset="-122"/>
                <a:cs typeface="Noto Sans SC Bold" pitchFamily="34" charset="-120"/>
              </a:rPr>
              <a:t>II型板</a:t>
            </a:r>
            <a:endParaRPr lang="en-US" sz="700" dirty="0"/>
          </a:p>
        </p:txBody>
      </p:sp>
      <p:sp>
        <p:nvSpPr>
          <p:cNvPr id="24" name="Shape 20"/>
          <p:cNvSpPr/>
          <p:nvPr/>
        </p:nvSpPr>
        <p:spPr>
          <a:xfrm>
            <a:off x="428625" y="4139803"/>
            <a:ext cx="8286750" cy="850106"/>
          </a:xfrm>
          <a:prstGeom prst="rect">
            <a:avLst/>
          </a:prstGeom>
          <a:solidFill>
            <a:srgbClr val="F8F9FA"/>
          </a:solidFill>
          <a:ln/>
        </p:spPr>
      </p:sp>
      <p:sp>
        <p:nvSpPr>
          <p:cNvPr id="25" name="Shape 21"/>
          <p:cNvSpPr/>
          <p:nvPr/>
        </p:nvSpPr>
        <p:spPr>
          <a:xfrm>
            <a:off x="428625" y="4139803"/>
            <a:ext cx="8286750" cy="7144"/>
          </a:xfrm>
          <a:prstGeom prst="rect">
            <a:avLst/>
          </a:prstGeom>
          <a:solidFill>
            <a:srgbClr val="E0E0E0"/>
          </a:solidFill>
          <a:ln/>
        </p:spPr>
      </p:sp>
      <p:sp>
        <p:nvSpPr>
          <p:cNvPr id="26" name="Shape 22"/>
          <p:cNvSpPr/>
          <p:nvPr/>
        </p:nvSpPr>
        <p:spPr>
          <a:xfrm>
            <a:off x="8708231" y="4139803"/>
            <a:ext cx="7144" cy="850106"/>
          </a:xfrm>
          <a:prstGeom prst="rect">
            <a:avLst/>
          </a:prstGeom>
          <a:solidFill>
            <a:srgbClr val="E0E0E0"/>
          </a:solidFill>
          <a:ln/>
        </p:spPr>
      </p:sp>
      <p:sp>
        <p:nvSpPr>
          <p:cNvPr id="27" name="Shape 23"/>
          <p:cNvSpPr/>
          <p:nvPr/>
        </p:nvSpPr>
        <p:spPr>
          <a:xfrm>
            <a:off x="428625" y="4982766"/>
            <a:ext cx="8286750" cy="7144"/>
          </a:xfrm>
          <a:prstGeom prst="rect">
            <a:avLst/>
          </a:prstGeom>
          <a:solidFill>
            <a:srgbClr val="E0E0E0"/>
          </a:solidFill>
          <a:ln/>
        </p:spPr>
      </p:sp>
      <p:sp>
        <p:nvSpPr>
          <p:cNvPr id="28" name="Shape 24"/>
          <p:cNvSpPr/>
          <p:nvPr/>
        </p:nvSpPr>
        <p:spPr>
          <a:xfrm>
            <a:off x="428625" y="4139803"/>
            <a:ext cx="42863" cy="850106"/>
          </a:xfrm>
          <a:prstGeom prst="rect">
            <a:avLst/>
          </a:prstGeom>
          <a:solidFill>
            <a:srgbClr val="1A3A6B"/>
          </a:solidFill>
          <a:ln/>
        </p:spPr>
      </p:sp>
      <p:sp>
        <p:nvSpPr>
          <p:cNvPr id="29" name="Shape 25"/>
          <p:cNvSpPr/>
          <p:nvPr/>
        </p:nvSpPr>
        <p:spPr>
          <a:xfrm>
            <a:off x="642938" y="4332684"/>
            <a:ext cx="171450" cy="171450"/>
          </a:xfrm>
          <a:prstGeom prst="ellipse">
            <a:avLst/>
          </a:prstGeom>
          <a:solidFill>
            <a:srgbClr val="1A3A6B"/>
          </a:solidFill>
          <a:ln/>
        </p:spPr>
      </p:sp>
      <p:sp>
        <p:nvSpPr>
          <p:cNvPr id="30" name="Text 26"/>
          <p:cNvSpPr/>
          <p:nvPr/>
        </p:nvSpPr>
        <p:spPr>
          <a:xfrm>
            <a:off x="642938" y="4332684"/>
            <a:ext cx="171450" cy="171450"/>
          </a:xfrm>
          <a:prstGeom prst="rect">
            <a:avLst/>
          </a:prstGeom>
          <a:noFill/>
          <a:ln/>
        </p:spPr>
        <p:txBody>
          <a:bodyPr wrap="none" lIns="0" tIns="0" rIns="0" bIns="0" rtlCol="0" anchor="ctr">
            <a:spAutoFit/>
          </a:bodyPr>
          <a:lstStyle/>
          <a:p>
            <a:pPr algn="ctr" indent="0" marL="0">
              <a:buNone/>
            </a:pPr>
            <a:r>
              <a:rPr lang="en-US" sz="700" b="1" dirty="0">
                <a:solidFill>
                  <a:srgbClr val="FFFFFF"/>
                </a:solidFill>
                <a:latin typeface="Noto Sans SC Bold" pitchFamily="34" charset="0"/>
                <a:ea typeface="Noto Sans SC Bold" pitchFamily="34" charset="-122"/>
                <a:cs typeface="Noto Sans SC Bold" pitchFamily="34" charset="-120"/>
              </a:rPr>
              <a:t>i</a:t>
            </a:r>
            <a:endParaRPr lang="en-US" sz="700" dirty="0"/>
          </a:p>
        </p:txBody>
      </p:sp>
      <p:sp>
        <p:nvSpPr>
          <p:cNvPr id="31" name="Text 27"/>
          <p:cNvSpPr/>
          <p:nvPr/>
        </p:nvSpPr>
        <p:spPr>
          <a:xfrm>
            <a:off x="921544" y="4318397"/>
            <a:ext cx="4223742" cy="182863"/>
          </a:xfrm>
          <a:prstGeom prst="rect">
            <a:avLst/>
          </a:prstGeom>
          <a:noFill/>
          <a:ln/>
        </p:spPr>
        <p:txBody>
          <a:bodyPr wrap="none" lIns="0" tIns="0" rIns="0" bIns="0" rtlCol="0" anchor="t">
            <a:spAutoFit/>
          </a:bodyPr>
          <a:lstStyle/>
          <a:p>
            <a:pPr algn="l" indent="0" marL="0">
              <a:lnSpc>
                <a:spcPct val="128000"/>
              </a:lnSpc>
              <a:buNone/>
            </a:pPr>
            <a:r>
              <a:rPr lang="en-US" sz="800" b="1" dirty="0">
                <a:solidFill>
                  <a:srgbClr val="1565C0"/>
                </a:solidFill>
                <a:latin typeface="Noto Sans SC Bold" pitchFamily="34" charset="0"/>
                <a:ea typeface="Noto Sans SC Bold" pitchFamily="34" charset="-122"/>
                <a:cs typeface="Noto Sans SC Bold" pitchFamily="34" charset="-120"/>
              </a:rPr>
              <a:t>Q/CR759</a:t>
            </a:r>
            <a:r>
              <a:rPr lang="en-US" sz="850" dirty="0">
                <a:solidFill>
                  <a:srgbClr val="333333"/>
                </a:solidFill>
                <a:latin typeface="Noto Sans SC" pitchFamily="34" charset="0"/>
                <a:ea typeface="Noto Sans SC" pitchFamily="34" charset="-122"/>
                <a:cs typeface="Noto Sans SC" pitchFamily="34" charset="-120"/>
              </a:rPr>
              <a:t> 内容基本对齐TB/T3122要求，细化了部分产品、材质、构造初步的做法。</a:t>
            </a:r>
            <a:endParaRPr lang="en-US" sz="850" dirty="0"/>
          </a:p>
        </p:txBody>
      </p:sp>
      <p:sp>
        <p:nvSpPr>
          <p:cNvPr id="32" name="Shape 28"/>
          <p:cNvSpPr/>
          <p:nvPr/>
        </p:nvSpPr>
        <p:spPr>
          <a:xfrm>
            <a:off x="642938" y="4625578"/>
            <a:ext cx="171450" cy="171450"/>
          </a:xfrm>
          <a:prstGeom prst="ellipse">
            <a:avLst/>
          </a:prstGeom>
          <a:solidFill>
            <a:srgbClr val="1A3A6B"/>
          </a:solidFill>
          <a:ln/>
        </p:spPr>
      </p:sp>
      <p:sp>
        <p:nvSpPr>
          <p:cNvPr id="33" name="Text 29"/>
          <p:cNvSpPr/>
          <p:nvPr/>
        </p:nvSpPr>
        <p:spPr>
          <a:xfrm>
            <a:off x="642938" y="4625578"/>
            <a:ext cx="171450" cy="171450"/>
          </a:xfrm>
          <a:prstGeom prst="rect">
            <a:avLst/>
          </a:prstGeom>
          <a:noFill/>
          <a:ln/>
        </p:spPr>
        <p:txBody>
          <a:bodyPr wrap="none" lIns="0" tIns="0" rIns="0" bIns="0" rtlCol="0" anchor="ctr">
            <a:spAutoFit/>
          </a:bodyPr>
          <a:lstStyle/>
          <a:p>
            <a:pPr algn="ctr" indent="0" marL="0">
              <a:buNone/>
            </a:pPr>
            <a:r>
              <a:rPr lang="en-US" sz="700" b="1" dirty="0">
                <a:solidFill>
                  <a:srgbClr val="FFFFFF"/>
                </a:solidFill>
                <a:latin typeface="Noto Sans SC Bold" pitchFamily="34" charset="0"/>
                <a:ea typeface="Noto Sans SC Bold" pitchFamily="34" charset="-122"/>
                <a:cs typeface="Noto Sans SC Bold" pitchFamily="34" charset="-120"/>
              </a:rPr>
              <a:t>i</a:t>
            </a:r>
            <a:endParaRPr lang="en-US" sz="700" dirty="0"/>
          </a:p>
        </p:txBody>
      </p:sp>
      <p:sp>
        <p:nvSpPr>
          <p:cNvPr id="34" name="Text 30"/>
          <p:cNvSpPr/>
          <p:nvPr/>
        </p:nvSpPr>
        <p:spPr>
          <a:xfrm>
            <a:off x="921544" y="4611291"/>
            <a:ext cx="5681067" cy="182863"/>
          </a:xfrm>
          <a:prstGeom prst="rect">
            <a:avLst/>
          </a:prstGeom>
          <a:noFill/>
          <a:ln/>
        </p:spPr>
        <p:txBody>
          <a:bodyPr wrap="none" lIns="0" tIns="0" rIns="0" bIns="0" rtlCol="0" anchor="t">
            <a:spAutoFit/>
          </a:bodyPr>
          <a:lstStyle/>
          <a:p>
            <a:pPr algn="l" indent="0" marL="0">
              <a:lnSpc>
                <a:spcPct val="128000"/>
              </a:lnSpc>
              <a:buNone/>
            </a:pPr>
            <a:r>
              <a:rPr lang="en-US" sz="800" b="1" dirty="0">
                <a:solidFill>
                  <a:srgbClr val="1565C0"/>
                </a:solidFill>
                <a:latin typeface="Noto Sans SC Bold" pitchFamily="34" charset="0"/>
                <a:ea typeface="Noto Sans SC Bold" pitchFamily="34" charset="-122"/>
                <a:cs typeface="Noto Sans SC Bold" pitchFamily="34" charset="-120"/>
              </a:rPr>
              <a:t>Q/CR760、Q/CR870（I型板、II型板）</a:t>
            </a:r>
            <a:r>
              <a:rPr lang="en-US" sz="850" dirty="0">
                <a:solidFill>
                  <a:srgbClr val="333333"/>
                </a:solidFill>
                <a:latin typeface="Noto Sans SC" pitchFamily="34" charset="0"/>
                <a:ea typeface="Noto Sans SC" pitchFamily="34" charset="-122"/>
                <a:cs typeface="Noto Sans SC" pitchFamily="34" charset="-120"/>
              </a:rPr>
              <a:t> 从外观上看均各有特色，需按标准中图示要求进行生产，形式固定统一。</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7891109" y="357188"/>
            <a:ext cx="824266" cy="342900"/>
          </a:xfrm>
          <a:prstGeom prst="rect">
            <a:avLst/>
          </a:prstGeom>
        </p:spPr>
      </p:pic>
      <p:sp>
        <p:nvSpPr>
          <p:cNvPr id="4" name="Text 0"/>
          <p:cNvSpPr/>
          <p:nvPr/>
        </p:nvSpPr>
        <p:spPr>
          <a:xfrm>
            <a:off x="428625" y="357188"/>
            <a:ext cx="203597" cy="248245"/>
          </a:xfrm>
          <a:prstGeom prst="rect">
            <a:avLst/>
          </a:prstGeom>
          <a:noFill/>
          <a:ln/>
        </p:spPr>
        <p:txBody>
          <a:bodyPr wrap="none" lIns="0" tIns="0" rIns="0" bIns="0" rtlCol="0" anchor="t">
            <a:spAutoFit/>
          </a:bodyPr>
          <a:lstStyle/>
          <a:p>
            <a:pPr algn="l" indent="0" marL="0">
              <a:buNone/>
            </a:pPr>
            <a:r>
              <a:rPr lang="en-US" sz="1200" b="1" dirty="0">
                <a:solidFill>
                  <a:srgbClr val="1565C0"/>
                </a:solidFill>
                <a:latin typeface="Noto Sans SC Bold" pitchFamily="34" charset="0"/>
                <a:ea typeface="Noto Sans SC Bold" pitchFamily="34" charset="-122"/>
                <a:cs typeface="Noto Sans SC Bold" pitchFamily="34" charset="-120"/>
              </a:rPr>
              <a:t>11</a:t>
            </a:r>
            <a:endParaRPr lang="en-US" sz="1200" dirty="0"/>
          </a:p>
        </p:txBody>
      </p:sp>
      <p:sp>
        <p:nvSpPr>
          <p:cNvPr id="5" name="Text 1"/>
          <p:cNvSpPr/>
          <p:nvPr/>
        </p:nvSpPr>
        <p:spPr>
          <a:xfrm>
            <a:off x="785813" y="357188"/>
            <a:ext cx="2914650" cy="248245"/>
          </a:xfrm>
          <a:prstGeom prst="rect">
            <a:avLst/>
          </a:prstGeom>
          <a:noFill/>
          <a:ln/>
        </p:spPr>
        <p:txBody>
          <a:bodyPr wrap="square" lIns="0" tIns="0" rIns="0" bIns="0" rtlCol="0" anchor="t">
            <a:spAutoFit/>
          </a:bodyPr>
          <a:lstStyle/>
          <a:p>
            <a:pPr algn="l" indent="0" marL="0">
              <a:buNone/>
            </a:pPr>
            <a:r>
              <a:rPr lang="en-US" sz="1200" b="1" dirty="0">
                <a:solidFill>
                  <a:srgbClr val="333333"/>
                </a:solidFill>
                <a:latin typeface="Noto Sans SC Bold" pitchFamily="34" charset="0"/>
                <a:ea typeface="Noto Sans SC Bold" pitchFamily="34" charset="-122"/>
                <a:cs typeface="Noto Sans SC Bold" pitchFamily="34" charset="-120"/>
              </a:rPr>
              <a:t>铁路声屏障产品形式——企标产品对比</a:t>
            </a:r>
            <a:endParaRPr lang="en-US" sz="1200" dirty="0"/>
          </a:p>
        </p:txBody>
      </p:sp>
      <p:sp>
        <p:nvSpPr>
          <p:cNvPr id="6" name="Shape 2"/>
          <p:cNvSpPr/>
          <p:nvPr/>
        </p:nvSpPr>
        <p:spPr>
          <a:xfrm>
            <a:off x="428625" y="1038523"/>
            <a:ext cx="4000500" cy="2437805"/>
          </a:xfrm>
          <a:prstGeom prst="rect">
            <a:avLst/>
          </a:prstGeom>
          <a:solidFill>
            <a:srgbClr val="F8F9FA"/>
          </a:solidFill>
          <a:ln/>
        </p:spPr>
      </p:sp>
      <p:sp>
        <p:nvSpPr>
          <p:cNvPr id="7" name="Shape 3"/>
          <p:cNvSpPr/>
          <p:nvPr/>
        </p:nvSpPr>
        <p:spPr>
          <a:xfrm>
            <a:off x="428625" y="1038523"/>
            <a:ext cx="4000500" cy="28575"/>
          </a:xfrm>
          <a:prstGeom prst="rect">
            <a:avLst/>
          </a:prstGeom>
          <a:solidFill>
            <a:srgbClr val="1565C0"/>
          </a:solidFill>
          <a:ln/>
        </p:spPr>
      </p:sp>
      <p:sp>
        <p:nvSpPr>
          <p:cNvPr id="8" name="Shape 4"/>
          <p:cNvSpPr/>
          <p:nvPr/>
        </p:nvSpPr>
        <p:spPr>
          <a:xfrm>
            <a:off x="4421981" y="1038523"/>
            <a:ext cx="7144" cy="2437805"/>
          </a:xfrm>
          <a:prstGeom prst="rect">
            <a:avLst/>
          </a:prstGeom>
          <a:solidFill>
            <a:srgbClr val="E0E0E0"/>
          </a:solidFill>
          <a:ln/>
        </p:spPr>
      </p:sp>
      <p:sp>
        <p:nvSpPr>
          <p:cNvPr id="9" name="Shape 5"/>
          <p:cNvSpPr/>
          <p:nvPr/>
        </p:nvSpPr>
        <p:spPr>
          <a:xfrm>
            <a:off x="428625" y="3469184"/>
            <a:ext cx="4000500" cy="7144"/>
          </a:xfrm>
          <a:prstGeom prst="rect">
            <a:avLst/>
          </a:prstGeom>
          <a:solidFill>
            <a:srgbClr val="E0E0E0"/>
          </a:solidFill>
          <a:ln/>
        </p:spPr>
      </p:sp>
      <p:sp>
        <p:nvSpPr>
          <p:cNvPr id="10" name="Shape 6"/>
          <p:cNvSpPr/>
          <p:nvPr/>
        </p:nvSpPr>
        <p:spPr>
          <a:xfrm>
            <a:off x="428625" y="1038523"/>
            <a:ext cx="7144" cy="2437805"/>
          </a:xfrm>
          <a:prstGeom prst="rect">
            <a:avLst/>
          </a:prstGeom>
          <a:solidFill>
            <a:srgbClr val="E0E0E0"/>
          </a:solidFill>
          <a:ln/>
        </p:spPr>
      </p:sp>
      <p:sp>
        <p:nvSpPr>
          <p:cNvPr id="11" name="Shape 7"/>
          <p:cNvSpPr/>
          <p:nvPr/>
        </p:nvSpPr>
        <p:spPr>
          <a:xfrm>
            <a:off x="428625" y="1038523"/>
            <a:ext cx="3993356" cy="582216"/>
          </a:xfrm>
          <a:prstGeom prst="rect">
            <a:avLst/>
          </a:prstGeom>
          <a:solidFill>
            <a:srgbClr val="E3F0FB"/>
          </a:solidFill>
          <a:ln/>
        </p:spPr>
      </p:sp>
      <p:sp>
        <p:nvSpPr>
          <p:cNvPr id="12" name="Shape 8"/>
          <p:cNvSpPr/>
          <p:nvPr/>
        </p:nvSpPr>
        <p:spPr>
          <a:xfrm>
            <a:off x="428625" y="1613595"/>
            <a:ext cx="3993356" cy="7144"/>
          </a:xfrm>
          <a:prstGeom prst="rect">
            <a:avLst/>
          </a:prstGeom>
          <a:solidFill>
            <a:srgbClr val="E0E0E0"/>
          </a:solidFill>
          <a:ln/>
        </p:spPr>
      </p:sp>
      <p:sp>
        <p:nvSpPr>
          <p:cNvPr id="13" name="Text 9"/>
          <p:cNvSpPr/>
          <p:nvPr/>
        </p:nvSpPr>
        <p:spPr>
          <a:xfrm>
            <a:off x="428625" y="1038523"/>
            <a:ext cx="3993356" cy="582216"/>
          </a:xfrm>
          <a:prstGeom prst="rect">
            <a:avLst/>
          </a:prstGeom>
          <a:noFill/>
          <a:ln/>
        </p:spPr>
        <p:txBody>
          <a:bodyPr wrap="square" lIns="170053" tIns="170053" rIns="170053" bIns="170053" rtlCol="0" anchor="t">
            <a:spAutoFit/>
          </a:bodyPr>
          <a:lstStyle/>
          <a:p>
            <a:pPr algn="ctr" indent="0" marL="0">
              <a:buNone/>
            </a:pPr>
            <a:r>
              <a:rPr lang="en-US" sz="1400" b="1" dirty="0">
                <a:solidFill>
                  <a:srgbClr val="1565C0"/>
                </a:solidFill>
                <a:latin typeface="Noto Sans SC Bold" pitchFamily="34" charset="0"/>
                <a:ea typeface="Noto Sans SC Bold" pitchFamily="34" charset="-122"/>
                <a:cs typeface="Noto Sans SC Bold" pitchFamily="34" charset="-120"/>
              </a:rPr>
              <a:t>I型板</a:t>
            </a:r>
            <a:endParaRPr lang="en-US" sz="1400" dirty="0"/>
          </a:p>
        </p:txBody>
      </p:sp>
      <p:sp>
        <p:nvSpPr>
          <p:cNvPr id="14" name="Text 10"/>
          <p:cNvSpPr/>
          <p:nvPr/>
        </p:nvSpPr>
        <p:spPr>
          <a:xfrm>
            <a:off x="1807369" y="1849338"/>
            <a:ext cx="1235869" cy="248245"/>
          </a:xfrm>
          <a:prstGeom prst="rect">
            <a:avLst/>
          </a:prstGeom>
          <a:noFill/>
          <a:ln/>
        </p:spPr>
        <p:txBody>
          <a:bodyPr wrap="none" lIns="0" tIns="0" rIns="0" bIns="0" rtlCol="0" anchor="t">
            <a:spAutoFit/>
          </a:bodyPr>
          <a:lstStyle/>
          <a:p>
            <a:pPr algn="l" indent="0" marL="0">
              <a:buNone/>
            </a:pPr>
            <a:r>
              <a:rPr lang="en-US" sz="1200" b="1" dirty="0">
                <a:solidFill>
                  <a:srgbClr val="333333"/>
                </a:solidFill>
                <a:latin typeface="Noto Sans SC Bold" pitchFamily="34" charset="0"/>
                <a:ea typeface="Noto Sans SC Bold" pitchFamily="34" charset="-122"/>
                <a:cs typeface="Noto Sans SC Bold" pitchFamily="34" charset="-120"/>
              </a:rPr>
              <a:t>Q/CR 760-2020</a:t>
            </a:r>
            <a:endParaRPr lang="en-US" sz="1200" dirty="0"/>
          </a:p>
        </p:txBody>
      </p:sp>
      <p:sp>
        <p:nvSpPr>
          <p:cNvPr id="15" name="Shape 11"/>
          <p:cNvSpPr/>
          <p:nvPr/>
        </p:nvSpPr>
        <p:spPr>
          <a:xfrm>
            <a:off x="642938" y="2240459"/>
            <a:ext cx="3564731" cy="1000125"/>
          </a:xfrm>
          <a:prstGeom prst="rect">
            <a:avLst/>
          </a:prstGeom>
          <a:solidFill>
            <a:srgbClr val="FFFFFF"/>
          </a:solidFill>
          <a:ln w="9144">
            <a:solidFill>
              <a:srgbClr val="CCCCCC"/>
            </a:solidFill>
            <a:prstDash val="dash"/>
          </a:ln>
        </p:spPr>
      </p:sp>
      <p:sp>
        <p:nvSpPr>
          <p:cNvPr id="16" name="Text 12"/>
          <p:cNvSpPr/>
          <p:nvPr/>
        </p:nvSpPr>
        <p:spPr>
          <a:xfrm>
            <a:off x="642938" y="2240459"/>
            <a:ext cx="3564731" cy="1000125"/>
          </a:xfrm>
          <a:prstGeom prst="rect">
            <a:avLst/>
          </a:prstGeom>
          <a:noFill/>
          <a:ln/>
        </p:spPr>
        <p:txBody>
          <a:bodyPr wrap="square" lIns="0" tIns="0" rIns="0" bIns="0" rtlCol="0" anchor="ctr">
            <a:spAutoFit/>
          </a:bodyPr>
          <a:lstStyle/>
          <a:p>
            <a:pPr algn="ctr" indent="0" marL="0">
              <a:buNone/>
            </a:pPr>
            <a:r>
              <a:rPr lang="en-US" sz="850" dirty="0">
                <a:solidFill>
                  <a:srgbClr val="999999"/>
                </a:solidFill>
                <a:latin typeface="Noto Sans SC" pitchFamily="34" charset="0"/>
                <a:ea typeface="Noto Sans SC" pitchFamily="34" charset="-122"/>
                <a:cs typeface="Noto Sans SC" pitchFamily="34" charset="-120"/>
              </a:rPr>
              <a:t>[ I型板构造图示 ]</a:t>
            </a:r>
            <a:endParaRPr lang="en-US" sz="850" dirty="0"/>
          </a:p>
        </p:txBody>
      </p:sp>
      <p:sp>
        <p:nvSpPr>
          <p:cNvPr id="17" name="Shape 13"/>
          <p:cNvSpPr/>
          <p:nvPr/>
        </p:nvSpPr>
        <p:spPr>
          <a:xfrm>
            <a:off x="4707731" y="1038523"/>
            <a:ext cx="4007644" cy="2437805"/>
          </a:xfrm>
          <a:prstGeom prst="rect">
            <a:avLst/>
          </a:prstGeom>
          <a:solidFill>
            <a:srgbClr val="F8F9FA"/>
          </a:solidFill>
          <a:ln/>
        </p:spPr>
      </p:sp>
      <p:sp>
        <p:nvSpPr>
          <p:cNvPr id="18" name="Shape 14"/>
          <p:cNvSpPr/>
          <p:nvPr/>
        </p:nvSpPr>
        <p:spPr>
          <a:xfrm>
            <a:off x="4707731" y="1038523"/>
            <a:ext cx="4007644" cy="28575"/>
          </a:xfrm>
          <a:prstGeom prst="rect">
            <a:avLst/>
          </a:prstGeom>
          <a:solidFill>
            <a:srgbClr val="1A3A6B"/>
          </a:solidFill>
          <a:ln/>
        </p:spPr>
      </p:sp>
      <p:sp>
        <p:nvSpPr>
          <p:cNvPr id="19" name="Shape 15"/>
          <p:cNvSpPr/>
          <p:nvPr/>
        </p:nvSpPr>
        <p:spPr>
          <a:xfrm>
            <a:off x="8708231" y="1038523"/>
            <a:ext cx="7144" cy="2437805"/>
          </a:xfrm>
          <a:prstGeom prst="rect">
            <a:avLst/>
          </a:prstGeom>
          <a:solidFill>
            <a:srgbClr val="E0E0E0"/>
          </a:solidFill>
          <a:ln/>
        </p:spPr>
      </p:sp>
      <p:sp>
        <p:nvSpPr>
          <p:cNvPr id="20" name="Shape 16"/>
          <p:cNvSpPr/>
          <p:nvPr/>
        </p:nvSpPr>
        <p:spPr>
          <a:xfrm>
            <a:off x="4707731" y="3469184"/>
            <a:ext cx="4007644" cy="7144"/>
          </a:xfrm>
          <a:prstGeom prst="rect">
            <a:avLst/>
          </a:prstGeom>
          <a:solidFill>
            <a:srgbClr val="E0E0E0"/>
          </a:solidFill>
          <a:ln/>
        </p:spPr>
      </p:sp>
      <p:sp>
        <p:nvSpPr>
          <p:cNvPr id="21" name="Shape 17"/>
          <p:cNvSpPr/>
          <p:nvPr/>
        </p:nvSpPr>
        <p:spPr>
          <a:xfrm>
            <a:off x="4707731" y="1038523"/>
            <a:ext cx="7144" cy="2437805"/>
          </a:xfrm>
          <a:prstGeom prst="rect">
            <a:avLst/>
          </a:prstGeom>
          <a:solidFill>
            <a:srgbClr val="E0E0E0"/>
          </a:solidFill>
          <a:ln/>
        </p:spPr>
      </p:sp>
      <p:sp>
        <p:nvSpPr>
          <p:cNvPr id="22" name="Shape 18"/>
          <p:cNvSpPr/>
          <p:nvPr/>
        </p:nvSpPr>
        <p:spPr>
          <a:xfrm>
            <a:off x="4714875" y="1056382"/>
            <a:ext cx="4000500" cy="582216"/>
          </a:xfrm>
          <a:prstGeom prst="rect">
            <a:avLst/>
          </a:prstGeom>
          <a:solidFill>
            <a:srgbClr val="EAEAEA"/>
          </a:solidFill>
          <a:ln/>
        </p:spPr>
      </p:sp>
      <p:sp>
        <p:nvSpPr>
          <p:cNvPr id="23" name="Shape 19"/>
          <p:cNvSpPr/>
          <p:nvPr/>
        </p:nvSpPr>
        <p:spPr>
          <a:xfrm>
            <a:off x="4714875" y="1631454"/>
            <a:ext cx="4000500" cy="7144"/>
          </a:xfrm>
          <a:prstGeom prst="rect">
            <a:avLst/>
          </a:prstGeom>
          <a:solidFill>
            <a:srgbClr val="E0E0E0"/>
          </a:solidFill>
          <a:ln/>
        </p:spPr>
      </p:sp>
      <p:sp>
        <p:nvSpPr>
          <p:cNvPr id="24" name="Text 20"/>
          <p:cNvSpPr/>
          <p:nvPr/>
        </p:nvSpPr>
        <p:spPr>
          <a:xfrm>
            <a:off x="4714875" y="1056382"/>
            <a:ext cx="4000500" cy="582216"/>
          </a:xfrm>
          <a:prstGeom prst="rect">
            <a:avLst/>
          </a:prstGeom>
          <a:noFill/>
          <a:ln/>
        </p:spPr>
        <p:txBody>
          <a:bodyPr wrap="square" lIns="170053" tIns="170053" rIns="170053" bIns="170053" rtlCol="0" anchor="t">
            <a:spAutoFit/>
          </a:bodyPr>
          <a:lstStyle/>
          <a:p>
            <a:pPr algn="ctr" indent="0" marL="0">
              <a:buNone/>
            </a:pPr>
            <a:r>
              <a:rPr lang="en-US" sz="1400" b="1" dirty="0">
                <a:solidFill>
                  <a:srgbClr val="1A3A6B"/>
                </a:solidFill>
                <a:latin typeface="Noto Sans SC Bold" pitchFamily="34" charset="0"/>
                <a:ea typeface="Noto Sans SC Bold" pitchFamily="34" charset="-122"/>
                <a:cs typeface="Noto Sans SC Bold" pitchFamily="34" charset="-120"/>
              </a:rPr>
              <a:t>II型板</a:t>
            </a:r>
            <a:endParaRPr lang="en-US" sz="1400" dirty="0"/>
          </a:p>
        </p:txBody>
      </p:sp>
      <p:sp>
        <p:nvSpPr>
          <p:cNvPr id="25" name="Text 21"/>
          <p:cNvSpPr/>
          <p:nvPr/>
        </p:nvSpPr>
        <p:spPr>
          <a:xfrm>
            <a:off x="6097191" y="1849338"/>
            <a:ext cx="1235869" cy="248245"/>
          </a:xfrm>
          <a:prstGeom prst="rect">
            <a:avLst/>
          </a:prstGeom>
          <a:noFill/>
          <a:ln/>
        </p:spPr>
        <p:txBody>
          <a:bodyPr wrap="none" lIns="0" tIns="0" rIns="0" bIns="0" rtlCol="0" anchor="t">
            <a:spAutoFit/>
          </a:bodyPr>
          <a:lstStyle/>
          <a:p>
            <a:pPr algn="l" indent="0" marL="0">
              <a:buNone/>
            </a:pPr>
            <a:r>
              <a:rPr lang="en-US" sz="1200" b="1" dirty="0">
                <a:solidFill>
                  <a:srgbClr val="333333"/>
                </a:solidFill>
                <a:latin typeface="Noto Sans SC Bold" pitchFamily="34" charset="0"/>
                <a:ea typeface="Noto Sans SC Bold" pitchFamily="34" charset="-122"/>
                <a:cs typeface="Noto Sans SC Bold" pitchFamily="34" charset="-120"/>
              </a:rPr>
              <a:t>Q/CR 870-2022</a:t>
            </a:r>
            <a:endParaRPr lang="en-US" sz="1200" dirty="0"/>
          </a:p>
        </p:txBody>
      </p:sp>
      <p:sp>
        <p:nvSpPr>
          <p:cNvPr id="26" name="Shape 22"/>
          <p:cNvSpPr/>
          <p:nvPr/>
        </p:nvSpPr>
        <p:spPr>
          <a:xfrm>
            <a:off x="4929188" y="2240459"/>
            <a:ext cx="3571875" cy="1000125"/>
          </a:xfrm>
          <a:prstGeom prst="rect">
            <a:avLst/>
          </a:prstGeom>
          <a:solidFill>
            <a:srgbClr val="FFFFFF"/>
          </a:solidFill>
          <a:ln w="9144">
            <a:solidFill>
              <a:srgbClr val="CCCCCC"/>
            </a:solidFill>
            <a:prstDash val="dash"/>
          </a:ln>
        </p:spPr>
      </p:sp>
      <p:sp>
        <p:nvSpPr>
          <p:cNvPr id="27" name="Text 23"/>
          <p:cNvSpPr/>
          <p:nvPr/>
        </p:nvSpPr>
        <p:spPr>
          <a:xfrm>
            <a:off x="4929188" y="2240459"/>
            <a:ext cx="3571875" cy="1000125"/>
          </a:xfrm>
          <a:prstGeom prst="rect">
            <a:avLst/>
          </a:prstGeom>
          <a:noFill/>
          <a:ln/>
        </p:spPr>
        <p:txBody>
          <a:bodyPr wrap="square" lIns="0" tIns="0" rIns="0" bIns="0" rtlCol="0" anchor="ctr">
            <a:spAutoFit/>
          </a:bodyPr>
          <a:lstStyle/>
          <a:p>
            <a:pPr algn="ctr" indent="0" marL="0">
              <a:buNone/>
            </a:pPr>
            <a:r>
              <a:rPr lang="en-US" sz="850" dirty="0">
                <a:solidFill>
                  <a:srgbClr val="999999"/>
                </a:solidFill>
                <a:latin typeface="Noto Sans SC" pitchFamily="34" charset="0"/>
                <a:ea typeface="Noto Sans SC" pitchFamily="34" charset="-122"/>
                <a:cs typeface="Noto Sans SC" pitchFamily="34" charset="-120"/>
              </a:rPr>
              <a:t>[ II型板构造图示 ]</a:t>
            </a:r>
            <a:endParaRPr lang="en-US" sz="850" dirty="0"/>
          </a:p>
        </p:txBody>
      </p:sp>
      <p:sp>
        <p:nvSpPr>
          <p:cNvPr id="28" name="Shape 24"/>
          <p:cNvSpPr/>
          <p:nvPr/>
        </p:nvSpPr>
        <p:spPr>
          <a:xfrm>
            <a:off x="428625" y="3740646"/>
            <a:ext cx="8286750" cy="1200150"/>
          </a:xfrm>
          <a:prstGeom prst="rect">
            <a:avLst/>
          </a:prstGeom>
          <a:solidFill>
            <a:srgbClr val="1A3A6B"/>
          </a:solidFill>
          <a:ln/>
        </p:spPr>
      </p:sp>
      <p:sp>
        <p:nvSpPr>
          <p:cNvPr id="29" name="Text 25"/>
          <p:cNvSpPr/>
          <p:nvPr/>
        </p:nvSpPr>
        <p:spPr>
          <a:xfrm>
            <a:off x="714375" y="4092476"/>
            <a:ext cx="135731" cy="496491"/>
          </a:xfrm>
          <a:prstGeom prst="rect">
            <a:avLst/>
          </a:prstGeom>
          <a:noFill/>
          <a:ln/>
        </p:spPr>
        <p:txBody>
          <a:bodyPr wrap="none" lIns="0" tIns="0" rIns="0" bIns="0" rtlCol="0" anchor="t">
            <a:spAutoFit/>
          </a:bodyPr>
          <a:lstStyle/>
          <a:p>
            <a:pPr algn="l" indent="0" marL="0">
              <a:buNone/>
            </a:pPr>
            <a:r>
              <a:rPr lang="en-US" sz="2450" b="1" dirty="0">
                <a:solidFill>
                  <a:srgbClr val="E3F0FB"/>
                </a:solidFill>
                <a:latin typeface="Noto Sans SC Black" pitchFamily="34" charset="0"/>
                <a:ea typeface="Noto Sans SC Black" pitchFamily="34" charset="-122"/>
                <a:cs typeface="Noto Sans SC Black" pitchFamily="34" charset="-120"/>
              </a:rPr>
              <a:t>!</a:t>
            </a:r>
            <a:endParaRPr lang="en-US" sz="2450" dirty="0"/>
          </a:p>
        </p:txBody>
      </p:sp>
      <p:sp>
        <p:nvSpPr>
          <p:cNvPr id="30" name="Text 26"/>
          <p:cNvSpPr/>
          <p:nvPr/>
        </p:nvSpPr>
        <p:spPr>
          <a:xfrm>
            <a:off x="1064419" y="3954959"/>
            <a:ext cx="7365206" cy="771525"/>
          </a:xfrm>
          <a:prstGeom prst="rect">
            <a:avLst/>
          </a:prstGeom>
          <a:noFill/>
          <a:ln/>
        </p:spPr>
        <p:txBody>
          <a:bodyPr wrap="square" lIns="0" tIns="0" rIns="0" bIns="0" rtlCol="0" anchor="t">
            <a:spAutoFit/>
          </a:bodyPr>
          <a:lstStyle/>
          <a:p>
            <a:pPr algn="l" indent="0" marL="0">
              <a:lnSpc>
                <a:spcPct val="144000"/>
              </a:lnSpc>
              <a:buNone/>
            </a:pPr>
            <a:r>
              <a:rPr lang="en-US" sz="1000" b="1" dirty="0">
                <a:solidFill>
                  <a:srgbClr val="FFFFFF"/>
                </a:solidFill>
                <a:latin typeface="Noto Sans SC Bold" pitchFamily="34" charset="0"/>
                <a:ea typeface="Noto Sans SC Bold" pitchFamily="34" charset="-122"/>
                <a:cs typeface="Noto Sans SC Bold" pitchFamily="34" charset="-120"/>
              </a:rPr>
              <a:t>I、II型板说明：</a:t>
            </a:r>
            <a:r>
              <a:rPr lang="en-US" sz="1050" dirty="0">
                <a:solidFill>
                  <a:srgbClr val="FFFFFF"/>
                </a:solidFill>
                <a:latin typeface="Noto Sans SC" pitchFamily="34" charset="0"/>
                <a:ea typeface="Noto Sans SC" pitchFamily="34" charset="-122"/>
                <a:cs typeface="Noto Sans SC" pitchFamily="34" charset="-120"/>
              </a:rPr>
              <a:t>
</a:t>
            </a:r>
            <a:r>
              <a:rPr lang="en-US" sz="1050" dirty="0">
                <a:solidFill>
                  <a:srgbClr val="FFFFFF"/>
                </a:solidFill>
                <a:latin typeface="Noto Sans SC" pitchFamily="34" charset="0"/>
                <a:ea typeface="Noto Sans SC" pitchFamily="34" charset="-122"/>
                <a:cs typeface="Noto Sans SC" pitchFamily="34" charset="-120"/>
              </a:rPr>
              <a:t>除满足TB/T3122、Q/CR759通用要求外，Q/CR760、870标准中明确了具体的构造，需充分参考产品构造进行生产。</a:t>
            </a:r>
            <a:r>
              <a:rPr lang="en-US" sz="1050" dirty="0">
                <a:solidFill>
                  <a:srgbClr val="FFFFFF"/>
                </a:solidFill>
                <a:latin typeface="Noto Sans SC" pitchFamily="34" charset="0"/>
                <a:ea typeface="Noto Sans SC" pitchFamily="34" charset="-122"/>
                <a:cs typeface="Noto Sans SC" pitchFamily="34" charset="-120"/>
              </a:rPr>
              <a:t>
</a:t>
            </a:r>
            <a:r>
              <a:rPr lang="en-US" sz="1000" b="1" dirty="0">
                <a:solidFill>
                  <a:srgbClr val="FFD54F"/>
                </a:solidFill>
                <a:latin typeface="Noto Sans SC Bold" pitchFamily="34" charset="0"/>
                <a:ea typeface="Noto Sans SC Bold" pitchFamily="34" charset="-122"/>
                <a:cs typeface="Noto Sans SC Bold" pitchFamily="34" charset="-120"/>
              </a:rPr>
              <a:t>其中I型板由于内部构造复杂，目前几乎无应用。</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7891109" y="357188"/>
            <a:ext cx="824266" cy="342900"/>
          </a:xfrm>
          <a:prstGeom prst="rect">
            <a:avLst/>
          </a:prstGeom>
        </p:spPr>
      </p:pic>
      <p:sp>
        <p:nvSpPr>
          <p:cNvPr id="4" name="Text 0"/>
          <p:cNvSpPr/>
          <p:nvPr/>
        </p:nvSpPr>
        <p:spPr>
          <a:xfrm>
            <a:off x="428625" y="357188"/>
            <a:ext cx="203597" cy="248245"/>
          </a:xfrm>
          <a:prstGeom prst="rect">
            <a:avLst/>
          </a:prstGeom>
          <a:noFill/>
          <a:ln/>
        </p:spPr>
        <p:txBody>
          <a:bodyPr wrap="none" lIns="0" tIns="0" rIns="0" bIns="0" rtlCol="0" anchor="t">
            <a:spAutoFit/>
          </a:bodyPr>
          <a:lstStyle/>
          <a:p>
            <a:pPr algn="l" indent="0" marL="0">
              <a:buNone/>
            </a:pPr>
            <a:r>
              <a:rPr lang="en-US" sz="1200" b="1" dirty="0">
                <a:solidFill>
                  <a:srgbClr val="1565C0"/>
                </a:solidFill>
                <a:latin typeface="Noto Sans SC Bold" pitchFamily="34" charset="0"/>
                <a:ea typeface="Noto Sans SC Bold" pitchFamily="34" charset="-122"/>
                <a:cs typeface="Noto Sans SC Bold" pitchFamily="34" charset="-120"/>
              </a:rPr>
              <a:t>12</a:t>
            </a:r>
            <a:endParaRPr lang="en-US" sz="1200" dirty="0"/>
          </a:p>
        </p:txBody>
      </p:sp>
      <p:sp>
        <p:nvSpPr>
          <p:cNvPr id="5" name="Text 1"/>
          <p:cNvSpPr/>
          <p:nvPr/>
        </p:nvSpPr>
        <p:spPr>
          <a:xfrm>
            <a:off x="785813" y="357188"/>
            <a:ext cx="4000500" cy="248245"/>
          </a:xfrm>
          <a:prstGeom prst="rect">
            <a:avLst/>
          </a:prstGeom>
          <a:noFill/>
          <a:ln/>
        </p:spPr>
        <p:txBody>
          <a:bodyPr wrap="square" lIns="0" tIns="0" rIns="0" bIns="0" rtlCol="0" anchor="t">
            <a:spAutoFit/>
          </a:bodyPr>
          <a:lstStyle/>
          <a:p>
            <a:pPr algn="l" indent="0" marL="0">
              <a:buNone/>
            </a:pPr>
            <a:r>
              <a:rPr lang="en-US" sz="1200" b="1" dirty="0">
                <a:solidFill>
                  <a:srgbClr val="333333"/>
                </a:solidFill>
                <a:latin typeface="Noto Sans SC Bold" pitchFamily="34" charset="0"/>
                <a:ea typeface="Noto Sans SC Bold" pitchFamily="34" charset="-122"/>
                <a:cs typeface="Noto Sans SC Bold" pitchFamily="34" charset="-120"/>
              </a:rPr>
              <a:t>铁路声屏障产品形式——企标产品专利情况（I型板）</a:t>
            </a:r>
            <a:endParaRPr lang="en-US" sz="1200" dirty="0"/>
          </a:p>
        </p:txBody>
      </p:sp>
      <p:sp>
        <p:nvSpPr>
          <p:cNvPr id="6" name="Shape 2"/>
          <p:cNvSpPr/>
          <p:nvPr/>
        </p:nvSpPr>
        <p:spPr>
          <a:xfrm>
            <a:off x="428625" y="857250"/>
            <a:ext cx="8286750" cy="1057275"/>
          </a:xfrm>
          <a:prstGeom prst="rect">
            <a:avLst/>
          </a:prstGeom>
          <a:solidFill>
            <a:srgbClr val="FFF9E6"/>
          </a:solidFill>
          <a:ln/>
        </p:spPr>
      </p:sp>
      <p:sp>
        <p:nvSpPr>
          <p:cNvPr id="7" name="Shape 3"/>
          <p:cNvSpPr/>
          <p:nvPr/>
        </p:nvSpPr>
        <p:spPr>
          <a:xfrm>
            <a:off x="428625" y="857250"/>
            <a:ext cx="8286750" cy="7144"/>
          </a:xfrm>
          <a:prstGeom prst="rect">
            <a:avLst/>
          </a:prstGeom>
          <a:solidFill>
            <a:srgbClr val="FFC107"/>
          </a:solidFill>
          <a:ln/>
        </p:spPr>
      </p:sp>
      <p:sp>
        <p:nvSpPr>
          <p:cNvPr id="8" name="Shape 4"/>
          <p:cNvSpPr/>
          <p:nvPr/>
        </p:nvSpPr>
        <p:spPr>
          <a:xfrm>
            <a:off x="8708231" y="857250"/>
            <a:ext cx="7144" cy="1057275"/>
          </a:xfrm>
          <a:prstGeom prst="rect">
            <a:avLst/>
          </a:prstGeom>
          <a:solidFill>
            <a:srgbClr val="FFC107"/>
          </a:solidFill>
          <a:ln/>
        </p:spPr>
      </p:sp>
      <p:sp>
        <p:nvSpPr>
          <p:cNvPr id="9" name="Shape 5"/>
          <p:cNvSpPr/>
          <p:nvPr/>
        </p:nvSpPr>
        <p:spPr>
          <a:xfrm>
            <a:off x="428625" y="1907381"/>
            <a:ext cx="8286750" cy="7144"/>
          </a:xfrm>
          <a:prstGeom prst="rect">
            <a:avLst/>
          </a:prstGeom>
          <a:solidFill>
            <a:srgbClr val="FFC107"/>
          </a:solidFill>
          <a:ln/>
        </p:spPr>
      </p:sp>
      <p:sp>
        <p:nvSpPr>
          <p:cNvPr id="10" name="Shape 6"/>
          <p:cNvSpPr/>
          <p:nvPr/>
        </p:nvSpPr>
        <p:spPr>
          <a:xfrm>
            <a:off x="428625" y="857250"/>
            <a:ext cx="57150" cy="1057275"/>
          </a:xfrm>
          <a:prstGeom prst="rect">
            <a:avLst/>
          </a:prstGeom>
          <a:solidFill>
            <a:srgbClr val="FF9800"/>
          </a:solidFill>
          <a:ln/>
        </p:spPr>
      </p:sp>
      <p:sp>
        <p:nvSpPr>
          <p:cNvPr id="11" name="Text 7"/>
          <p:cNvSpPr/>
          <p:nvPr/>
        </p:nvSpPr>
        <p:spPr>
          <a:xfrm>
            <a:off x="642938" y="1035844"/>
            <a:ext cx="91083" cy="228600"/>
          </a:xfrm>
          <a:prstGeom prst="rect">
            <a:avLst/>
          </a:prstGeom>
          <a:noFill/>
          <a:ln/>
        </p:spPr>
        <p:txBody>
          <a:bodyPr wrap="none" lIns="0" tIns="0" rIns="0" bIns="0" rtlCol="0" anchor="t">
            <a:spAutoFit/>
          </a:bodyPr>
          <a:lstStyle/>
          <a:p>
            <a:pPr algn="l" indent="0" marL="0">
              <a:lnSpc>
                <a:spcPct val="80000"/>
              </a:lnSpc>
              <a:buNone/>
            </a:pPr>
            <a:r>
              <a:rPr lang="en-US" sz="1600" b="1" dirty="0">
                <a:solidFill>
                  <a:srgbClr val="FF9800"/>
                </a:solidFill>
                <a:latin typeface="Noto Sans SC Black" pitchFamily="34" charset="0"/>
                <a:ea typeface="Noto Sans SC Black" pitchFamily="34" charset="-122"/>
                <a:cs typeface="Noto Sans SC Black" pitchFamily="34" charset="-120"/>
              </a:rPr>
              <a:t>!</a:t>
            </a:r>
            <a:endParaRPr lang="en-US" sz="1600" dirty="0"/>
          </a:p>
        </p:txBody>
      </p:sp>
      <p:sp>
        <p:nvSpPr>
          <p:cNvPr id="12" name="Text 8"/>
          <p:cNvSpPr/>
          <p:nvPr/>
        </p:nvSpPr>
        <p:spPr>
          <a:xfrm>
            <a:off x="876895" y="1035844"/>
            <a:ext cx="7624167" cy="6858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333333"/>
                </a:solidFill>
                <a:latin typeface="Noto Sans SC" pitchFamily="34" charset="0"/>
                <a:ea typeface="Noto Sans SC" pitchFamily="34" charset="-122"/>
                <a:cs typeface="Noto Sans SC" pitchFamily="34" charset="-120"/>
              </a:rPr>
              <a:t>《铁路插板式金属声屏障 Ⅰ型单元板》Q/CR 760-2020标准中的产品为</a:t>
            </a:r>
            <a:r>
              <a:rPr lang="en-US" sz="1000" b="1" dirty="0">
                <a:solidFill>
                  <a:srgbClr val="1565C0"/>
                </a:solidFill>
                <a:latin typeface="Noto Sans SC Bold" pitchFamily="34" charset="0"/>
                <a:ea typeface="Noto Sans SC Bold" pitchFamily="34" charset="-122"/>
                <a:cs typeface="Noto Sans SC Bold" pitchFamily="34" charset="-120"/>
              </a:rPr>
              <a:t>中国铁道科学研究院集团有限公司</a:t>
            </a:r>
            <a:r>
              <a:rPr lang="en-US" sz="1050" dirty="0">
                <a:solidFill>
                  <a:srgbClr val="333333"/>
                </a:solidFill>
                <a:latin typeface="Noto Sans SC" pitchFamily="34" charset="0"/>
                <a:ea typeface="Noto Sans SC" pitchFamily="34" charset="-122"/>
                <a:cs typeface="Noto Sans SC" pitchFamily="34" charset="-120"/>
              </a:rPr>
              <a:t>的专利产品，</a:t>
            </a:r>
            <a:r>
              <a:rPr lang="en-US" sz="1050" dirty="0">
                <a:solidFill>
                  <a:srgbClr val="333333"/>
                </a:solidFill>
                <a:latin typeface="Noto Sans SC" pitchFamily="34" charset="0"/>
                <a:ea typeface="Noto Sans SC" pitchFamily="34" charset="-122"/>
                <a:cs typeface="Noto Sans SC" pitchFamily="34" charset="-120"/>
              </a:rPr>
              <a:t>其他单位在未获得该单位授权的情况下使用将涉及到法律侵权。</a:t>
            </a:r>
            <a:r>
              <a:rPr lang="en-US" sz="1050" dirty="0">
                <a:solidFill>
                  <a:srgbClr val="333333"/>
                </a:solidFill>
                <a:latin typeface="Noto Sans SC" pitchFamily="34" charset="0"/>
                <a:ea typeface="Noto Sans SC" pitchFamily="34" charset="-122"/>
                <a:cs typeface="Noto Sans SC" pitchFamily="34" charset="-120"/>
              </a:rPr>
              <a:t>
</a:t>
            </a:r>
            <a:r>
              <a:rPr lang="en-US" sz="1000" b="1" dirty="0">
                <a:solidFill>
                  <a:srgbClr val="D32F2F"/>
                </a:solidFill>
                <a:latin typeface="Noto Sans SC Bold" pitchFamily="34" charset="0"/>
                <a:ea typeface="Noto Sans SC Bold" pitchFamily="34" charset="-122"/>
                <a:cs typeface="Noto Sans SC Bold" pitchFamily="34" charset="-120"/>
              </a:rPr>
              <a:t>法律法规明确规定公开招标采购是不允许使用无法替代的专利或专有技术！</a:t>
            </a:r>
            <a:endParaRPr lang="en-US" sz="1050" dirty="0"/>
          </a:p>
        </p:txBody>
      </p:sp>
      <p:sp>
        <p:nvSpPr>
          <p:cNvPr id="13" name="Shape 9"/>
          <p:cNvSpPr/>
          <p:nvPr/>
        </p:nvSpPr>
        <p:spPr>
          <a:xfrm>
            <a:off x="428625" y="2185988"/>
            <a:ext cx="4000500" cy="2671763"/>
          </a:xfrm>
          <a:prstGeom prst="rect">
            <a:avLst/>
          </a:prstGeom>
          <a:solidFill>
            <a:srgbClr val="F8F9FA"/>
          </a:solidFill>
          <a:ln/>
        </p:spPr>
      </p:sp>
      <p:sp>
        <p:nvSpPr>
          <p:cNvPr id="14" name="Shape 10"/>
          <p:cNvSpPr/>
          <p:nvPr/>
        </p:nvSpPr>
        <p:spPr>
          <a:xfrm>
            <a:off x="428625" y="2185988"/>
            <a:ext cx="4000500" cy="28575"/>
          </a:xfrm>
          <a:prstGeom prst="rect">
            <a:avLst/>
          </a:prstGeom>
          <a:solidFill>
            <a:srgbClr val="1565C0"/>
          </a:solidFill>
          <a:ln/>
        </p:spPr>
      </p:sp>
      <p:sp>
        <p:nvSpPr>
          <p:cNvPr id="15" name="Shape 11"/>
          <p:cNvSpPr/>
          <p:nvPr/>
        </p:nvSpPr>
        <p:spPr>
          <a:xfrm>
            <a:off x="4421981" y="2185988"/>
            <a:ext cx="7144" cy="2671763"/>
          </a:xfrm>
          <a:prstGeom prst="rect">
            <a:avLst/>
          </a:prstGeom>
          <a:solidFill>
            <a:srgbClr val="E0E0E0"/>
          </a:solidFill>
          <a:ln/>
        </p:spPr>
      </p:sp>
      <p:sp>
        <p:nvSpPr>
          <p:cNvPr id="16" name="Shape 12"/>
          <p:cNvSpPr/>
          <p:nvPr/>
        </p:nvSpPr>
        <p:spPr>
          <a:xfrm>
            <a:off x="428625" y="4850606"/>
            <a:ext cx="4000500" cy="7144"/>
          </a:xfrm>
          <a:prstGeom prst="rect">
            <a:avLst/>
          </a:prstGeom>
          <a:solidFill>
            <a:srgbClr val="E0E0E0"/>
          </a:solidFill>
          <a:ln/>
        </p:spPr>
      </p:sp>
      <p:sp>
        <p:nvSpPr>
          <p:cNvPr id="17" name="Shape 13"/>
          <p:cNvSpPr/>
          <p:nvPr/>
        </p:nvSpPr>
        <p:spPr>
          <a:xfrm>
            <a:off x="428625" y="2185988"/>
            <a:ext cx="7144" cy="2671763"/>
          </a:xfrm>
          <a:prstGeom prst="rect">
            <a:avLst/>
          </a:prstGeom>
          <a:solidFill>
            <a:srgbClr val="E0E0E0"/>
          </a:solidFill>
          <a:ln/>
        </p:spPr>
      </p:sp>
      <p:sp>
        <p:nvSpPr>
          <p:cNvPr id="18" name="Shape 14"/>
          <p:cNvSpPr/>
          <p:nvPr/>
        </p:nvSpPr>
        <p:spPr>
          <a:xfrm>
            <a:off x="571500" y="2386013"/>
            <a:ext cx="3707606" cy="1714500"/>
          </a:xfrm>
          <a:prstGeom prst="rect">
            <a:avLst/>
          </a:prstGeom>
          <a:solidFill>
            <a:srgbClr val="FFFFFF"/>
          </a:solidFill>
          <a:ln w="9144">
            <a:solidFill>
              <a:srgbClr val="CCCCCC"/>
            </a:solidFill>
            <a:prstDash val="dash"/>
          </a:ln>
        </p:spPr>
      </p:sp>
      <p:sp>
        <p:nvSpPr>
          <p:cNvPr id="19" name="Text 15"/>
          <p:cNvSpPr/>
          <p:nvPr/>
        </p:nvSpPr>
        <p:spPr>
          <a:xfrm>
            <a:off x="571500" y="2386013"/>
            <a:ext cx="3707606" cy="1714500"/>
          </a:xfrm>
          <a:prstGeom prst="rect">
            <a:avLst/>
          </a:prstGeom>
          <a:noFill/>
          <a:ln/>
        </p:spPr>
        <p:txBody>
          <a:bodyPr wrap="square" lIns="0" tIns="0" rIns="0" bIns="0" rtlCol="0" anchor="ctr">
            <a:spAutoFit/>
          </a:bodyPr>
          <a:lstStyle/>
          <a:p>
            <a:pPr algn="ctr" indent="0" marL="0">
              <a:buNone/>
            </a:pPr>
            <a:r>
              <a:rPr lang="en-US" sz="950" dirty="0">
                <a:solidFill>
                  <a:srgbClr val="999999"/>
                </a:solidFill>
                <a:latin typeface="Noto Sans SC" pitchFamily="34" charset="0"/>
                <a:ea typeface="Noto Sans SC" pitchFamily="34" charset="-122"/>
                <a:cs typeface="Noto Sans SC" pitchFamily="34" charset="-120"/>
              </a:rPr>
              <a:t>[ 标准截图图示区域 ]</a:t>
            </a:r>
            <a:endParaRPr lang="en-US" sz="950" dirty="0"/>
          </a:p>
        </p:txBody>
      </p:sp>
      <p:sp>
        <p:nvSpPr>
          <p:cNvPr id="20" name="Text 16"/>
          <p:cNvSpPr/>
          <p:nvPr/>
        </p:nvSpPr>
        <p:spPr>
          <a:xfrm>
            <a:off x="1194792" y="4243388"/>
            <a:ext cx="2461022" cy="414338"/>
          </a:xfrm>
          <a:prstGeom prst="rect">
            <a:avLst/>
          </a:prstGeom>
          <a:noFill/>
          <a:ln/>
        </p:spPr>
        <p:txBody>
          <a:bodyPr wrap="square" lIns="0" tIns="0" rIns="0" bIns="0" rtlCol="0" anchor="t">
            <a:spAutoFit/>
          </a:bodyPr>
          <a:lstStyle/>
          <a:p>
            <a:pPr algn="ctr" indent="0" marL="0">
              <a:buNone/>
            </a:pPr>
            <a:r>
              <a:rPr lang="en-US" sz="1000" b="1" dirty="0">
                <a:solidFill>
                  <a:srgbClr val="1A3A6B"/>
                </a:solidFill>
                <a:latin typeface="Noto Sans SC Bold" pitchFamily="34" charset="0"/>
                <a:ea typeface="Noto Sans SC Bold" pitchFamily="34" charset="-122"/>
                <a:cs typeface="Noto Sans SC Bold" pitchFamily="34" charset="-120"/>
              </a:rPr>
              <a:t>《铁路插板式金属声屏障 Ⅰ型单元板》</a:t>
            </a:r>
            <a:r>
              <a:rPr lang="en-US" sz="1000" b="1" dirty="0">
                <a:solidFill>
                  <a:srgbClr val="1A3A6B"/>
                </a:solidFill>
                <a:latin typeface="Noto Sans SC Bold" pitchFamily="34" charset="0"/>
                <a:ea typeface="Noto Sans SC Bold" pitchFamily="34" charset="-122"/>
                <a:cs typeface="Noto Sans SC Bold" pitchFamily="34" charset="-120"/>
              </a:rPr>
              <a:t>
</a:t>
            </a:r>
            <a:r>
              <a:rPr lang="en-US" sz="1000" b="1" dirty="0">
                <a:solidFill>
                  <a:srgbClr val="1A3A6B"/>
                </a:solidFill>
                <a:latin typeface="Noto Sans SC Bold" pitchFamily="34" charset="0"/>
                <a:ea typeface="Noto Sans SC Bold" pitchFamily="34" charset="-122"/>
                <a:cs typeface="Noto Sans SC Bold" pitchFamily="34" charset="-120"/>
              </a:rPr>
              <a:t>Q/CR 760-2020标准截图</a:t>
            </a:r>
            <a:endParaRPr lang="en-US" sz="1000" dirty="0"/>
          </a:p>
        </p:txBody>
      </p:sp>
      <p:sp>
        <p:nvSpPr>
          <p:cNvPr id="21" name="Shape 17"/>
          <p:cNvSpPr/>
          <p:nvPr/>
        </p:nvSpPr>
        <p:spPr>
          <a:xfrm>
            <a:off x="4707731" y="2185988"/>
            <a:ext cx="4007644" cy="2671763"/>
          </a:xfrm>
          <a:prstGeom prst="rect">
            <a:avLst/>
          </a:prstGeom>
          <a:solidFill>
            <a:srgbClr val="F8F9FA"/>
          </a:solidFill>
          <a:ln/>
        </p:spPr>
      </p:sp>
      <p:sp>
        <p:nvSpPr>
          <p:cNvPr id="22" name="Shape 18"/>
          <p:cNvSpPr/>
          <p:nvPr/>
        </p:nvSpPr>
        <p:spPr>
          <a:xfrm>
            <a:off x="4707731" y="2185988"/>
            <a:ext cx="4007644" cy="28575"/>
          </a:xfrm>
          <a:prstGeom prst="rect">
            <a:avLst/>
          </a:prstGeom>
          <a:solidFill>
            <a:srgbClr val="1A3A6B"/>
          </a:solidFill>
          <a:ln/>
        </p:spPr>
      </p:sp>
      <p:sp>
        <p:nvSpPr>
          <p:cNvPr id="23" name="Shape 19"/>
          <p:cNvSpPr/>
          <p:nvPr/>
        </p:nvSpPr>
        <p:spPr>
          <a:xfrm>
            <a:off x="8708231" y="2185988"/>
            <a:ext cx="7144" cy="2671763"/>
          </a:xfrm>
          <a:prstGeom prst="rect">
            <a:avLst/>
          </a:prstGeom>
          <a:solidFill>
            <a:srgbClr val="E0E0E0"/>
          </a:solidFill>
          <a:ln/>
        </p:spPr>
      </p:sp>
      <p:sp>
        <p:nvSpPr>
          <p:cNvPr id="24" name="Shape 20"/>
          <p:cNvSpPr/>
          <p:nvPr/>
        </p:nvSpPr>
        <p:spPr>
          <a:xfrm>
            <a:off x="4707731" y="4850606"/>
            <a:ext cx="4007644" cy="7144"/>
          </a:xfrm>
          <a:prstGeom prst="rect">
            <a:avLst/>
          </a:prstGeom>
          <a:solidFill>
            <a:srgbClr val="E0E0E0"/>
          </a:solidFill>
          <a:ln/>
        </p:spPr>
      </p:sp>
      <p:sp>
        <p:nvSpPr>
          <p:cNvPr id="25" name="Shape 21"/>
          <p:cNvSpPr/>
          <p:nvPr/>
        </p:nvSpPr>
        <p:spPr>
          <a:xfrm>
            <a:off x="4707731" y="2185988"/>
            <a:ext cx="7144" cy="2671763"/>
          </a:xfrm>
          <a:prstGeom prst="rect">
            <a:avLst/>
          </a:prstGeom>
          <a:solidFill>
            <a:srgbClr val="E0E0E0"/>
          </a:solidFill>
          <a:ln/>
        </p:spPr>
      </p:sp>
      <p:sp>
        <p:nvSpPr>
          <p:cNvPr id="26" name="Shape 22"/>
          <p:cNvSpPr/>
          <p:nvPr/>
        </p:nvSpPr>
        <p:spPr>
          <a:xfrm>
            <a:off x="4857750" y="2489597"/>
            <a:ext cx="3714750" cy="1714500"/>
          </a:xfrm>
          <a:prstGeom prst="rect">
            <a:avLst/>
          </a:prstGeom>
          <a:solidFill>
            <a:srgbClr val="FFFFFF"/>
          </a:solidFill>
          <a:ln w="9144">
            <a:solidFill>
              <a:srgbClr val="CCCCCC"/>
            </a:solidFill>
            <a:prstDash val="dash"/>
          </a:ln>
        </p:spPr>
      </p:sp>
      <p:sp>
        <p:nvSpPr>
          <p:cNvPr id="27" name="Text 23"/>
          <p:cNvSpPr/>
          <p:nvPr/>
        </p:nvSpPr>
        <p:spPr>
          <a:xfrm>
            <a:off x="4857750" y="2489597"/>
            <a:ext cx="3714750" cy="1714500"/>
          </a:xfrm>
          <a:prstGeom prst="rect">
            <a:avLst/>
          </a:prstGeom>
          <a:noFill/>
          <a:ln/>
        </p:spPr>
        <p:txBody>
          <a:bodyPr wrap="square" lIns="0" tIns="0" rIns="0" bIns="0" rtlCol="0" anchor="ctr">
            <a:spAutoFit/>
          </a:bodyPr>
          <a:lstStyle/>
          <a:p>
            <a:pPr algn="ctr" indent="0" marL="0">
              <a:buNone/>
            </a:pPr>
            <a:r>
              <a:rPr lang="en-US" sz="950" dirty="0">
                <a:solidFill>
                  <a:srgbClr val="999999"/>
                </a:solidFill>
                <a:latin typeface="Noto Sans SC" pitchFamily="34" charset="0"/>
                <a:ea typeface="Noto Sans SC" pitchFamily="34" charset="-122"/>
                <a:cs typeface="Noto Sans SC" pitchFamily="34" charset="-120"/>
              </a:rPr>
              <a:t>[ 专利证书图示区域 ]</a:t>
            </a:r>
            <a:endParaRPr lang="en-US" sz="950" dirty="0"/>
          </a:p>
        </p:txBody>
      </p:sp>
      <p:sp>
        <p:nvSpPr>
          <p:cNvPr id="28" name="Text 24"/>
          <p:cNvSpPr/>
          <p:nvPr/>
        </p:nvSpPr>
        <p:spPr>
          <a:xfrm>
            <a:off x="5500688" y="4346972"/>
            <a:ext cx="2428875" cy="207169"/>
          </a:xfrm>
          <a:prstGeom prst="rect">
            <a:avLst/>
          </a:prstGeom>
          <a:noFill/>
          <a:ln/>
        </p:spPr>
        <p:txBody>
          <a:bodyPr wrap="square" lIns="0" tIns="0" rIns="0" bIns="0" rtlCol="0" anchor="t">
            <a:spAutoFit/>
          </a:bodyPr>
          <a:lstStyle/>
          <a:p>
            <a:pPr algn="ctr" indent="0" marL="0">
              <a:buNone/>
            </a:pPr>
            <a:r>
              <a:rPr lang="en-US" sz="1000" b="1" dirty="0">
                <a:solidFill>
                  <a:srgbClr val="1A3A6B"/>
                </a:solidFill>
                <a:latin typeface="Noto Sans SC Bold" pitchFamily="34" charset="0"/>
                <a:ea typeface="Noto Sans SC Bold" pitchFamily="34" charset="-122"/>
                <a:cs typeface="Noto Sans SC Bold" pitchFamily="34" charset="-120"/>
              </a:rPr>
              <a:t>中国铁道科学研究院集团有限公司专利</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7891109" y="357188"/>
            <a:ext cx="824266" cy="342900"/>
          </a:xfrm>
          <a:prstGeom prst="rect">
            <a:avLst/>
          </a:prstGeom>
        </p:spPr>
      </p:pic>
      <p:sp>
        <p:nvSpPr>
          <p:cNvPr id="4" name="Text 0"/>
          <p:cNvSpPr/>
          <p:nvPr/>
        </p:nvSpPr>
        <p:spPr>
          <a:xfrm>
            <a:off x="428625" y="357188"/>
            <a:ext cx="203597" cy="248245"/>
          </a:xfrm>
          <a:prstGeom prst="rect">
            <a:avLst/>
          </a:prstGeom>
          <a:noFill/>
          <a:ln/>
        </p:spPr>
        <p:txBody>
          <a:bodyPr wrap="none" lIns="0" tIns="0" rIns="0" bIns="0" rtlCol="0" anchor="t">
            <a:spAutoFit/>
          </a:bodyPr>
          <a:lstStyle/>
          <a:p>
            <a:pPr algn="l" indent="0" marL="0">
              <a:buNone/>
            </a:pPr>
            <a:r>
              <a:rPr lang="en-US" sz="1200" b="1" dirty="0">
                <a:solidFill>
                  <a:srgbClr val="1565C0"/>
                </a:solidFill>
                <a:latin typeface="Noto Sans SC Bold" pitchFamily="34" charset="0"/>
                <a:ea typeface="Noto Sans SC Bold" pitchFamily="34" charset="-122"/>
                <a:cs typeface="Noto Sans SC Bold" pitchFamily="34" charset="-120"/>
              </a:rPr>
              <a:t>13</a:t>
            </a:r>
            <a:endParaRPr lang="en-US" sz="1200" dirty="0"/>
          </a:p>
        </p:txBody>
      </p:sp>
      <p:sp>
        <p:nvSpPr>
          <p:cNvPr id="5" name="Text 1"/>
          <p:cNvSpPr/>
          <p:nvPr/>
        </p:nvSpPr>
        <p:spPr>
          <a:xfrm>
            <a:off x="785813" y="357188"/>
            <a:ext cx="4057650" cy="248245"/>
          </a:xfrm>
          <a:prstGeom prst="rect">
            <a:avLst/>
          </a:prstGeom>
          <a:noFill/>
          <a:ln/>
        </p:spPr>
        <p:txBody>
          <a:bodyPr wrap="square" lIns="0" tIns="0" rIns="0" bIns="0" rtlCol="0" anchor="t">
            <a:spAutoFit/>
          </a:bodyPr>
          <a:lstStyle/>
          <a:p>
            <a:pPr algn="l" indent="0" marL="0">
              <a:buNone/>
            </a:pPr>
            <a:r>
              <a:rPr lang="en-US" sz="1200" b="1" dirty="0">
                <a:solidFill>
                  <a:srgbClr val="333333"/>
                </a:solidFill>
                <a:latin typeface="Noto Sans SC Bold" pitchFamily="34" charset="0"/>
                <a:ea typeface="Noto Sans SC Bold" pitchFamily="34" charset="-122"/>
                <a:cs typeface="Noto Sans SC Bold" pitchFamily="34" charset="-120"/>
              </a:rPr>
              <a:t>铁路声屏障产品形式——企标产品专利情况（II型板）</a:t>
            </a:r>
            <a:endParaRPr lang="en-US" sz="1200" dirty="0"/>
          </a:p>
        </p:txBody>
      </p:sp>
      <p:sp>
        <p:nvSpPr>
          <p:cNvPr id="6" name="Shape 2"/>
          <p:cNvSpPr/>
          <p:nvPr/>
        </p:nvSpPr>
        <p:spPr>
          <a:xfrm>
            <a:off x="428625" y="1000125"/>
            <a:ext cx="8286750" cy="1200150"/>
          </a:xfrm>
          <a:prstGeom prst="rect">
            <a:avLst/>
          </a:prstGeom>
          <a:solidFill>
            <a:srgbClr val="1A3A6B"/>
          </a:solidFill>
          <a:ln/>
        </p:spPr>
      </p:sp>
      <p:sp>
        <p:nvSpPr>
          <p:cNvPr id="7" name="Shape 3"/>
          <p:cNvSpPr/>
          <p:nvPr/>
        </p:nvSpPr>
        <p:spPr>
          <a:xfrm>
            <a:off x="428625" y="1000125"/>
            <a:ext cx="57150" cy="1200150"/>
          </a:xfrm>
          <a:prstGeom prst="rect">
            <a:avLst/>
          </a:prstGeom>
          <a:solidFill>
            <a:srgbClr val="E53935"/>
          </a:solidFill>
          <a:ln/>
        </p:spPr>
      </p:sp>
      <p:sp>
        <p:nvSpPr>
          <p:cNvPr id="8" name="Text 4"/>
          <p:cNvSpPr/>
          <p:nvPr/>
        </p:nvSpPr>
        <p:spPr>
          <a:xfrm>
            <a:off x="714375" y="1214438"/>
            <a:ext cx="114300" cy="285750"/>
          </a:xfrm>
          <a:prstGeom prst="rect">
            <a:avLst/>
          </a:prstGeom>
          <a:noFill/>
          <a:ln/>
        </p:spPr>
        <p:txBody>
          <a:bodyPr wrap="none" lIns="0" tIns="0" rIns="0" bIns="0" rtlCol="0" anchor="t">
            <a:spAutoFit/>
          </a:bodyPr>
          <a:lstStyle/>
          <a:p>
            <a:pPr algn="l" indent="0" marL="0">
              <a:lnSpc>
                <a:spcPct val="80000"/>
              </a:lnSpc>
              <a:buNone/>
            </a:pPr>
            <a:r>
              <a:rPr lang="en-US" sz="2000" b="1" dirty="0">
                <a:solidFill>
                  <a:srgbClr val="E53935"/>
                </a:solidFill>
                <a:latin typeface="Noto Sans SC Black" pitchFamily="34" charset="0"/>
                <a:ea typeface="Noto Sans SC Black" pitchFamily="34" charset="-122"/>
                <a:cs typeface="Noto Sans SC Black" pitchFamily="34" charset="-120"/>
              </a:rPr>
              <a:t>!</a:t>
            </a:r>
            <a:endParaRPr lang="en-US" sz="2000" dirty="0"/>
          </a:p>
        </p:txBody>
      </p:sp>
      <p:sp>
        <p:nvSpPr>
          <p:cNvPr id="9" name="Text 5"/>
          <p:cNvSpPr/>
          <p:nvPr/>
        </p:nvSpPr>
        <p:spPr>
          <a:xfrm>
            <a:off x="1007269" y="1214438"/>
            <a:ext cx="7422356" cy="771525"/>
          </a:xfrm>
          <a:prstGeom prst="rect">
            <a:avLst/>
          </a:prstGeom>
          <a:noFill/>
          <a:ln/>
        </p:spPr>
        <p:txBody>
          <a:bodyPr wrap="square" lIns="0" tIns="0" rIns="0" bIns="0" rtlCol="0" anchor="t">
            <a:spAutoFit/>
          </a:bodyPr>
          <a:lstStyle/>
          <a:p>
            <a:pPr algn="l" indent="0" marL="0">
              <a:lnSpc>
                <a:spcPct val="144000"/>
              </a:lnSpc>
              <a:buNone/>
            </a:pPr>
            <a:r>
              <a:rPr lang="en-US" sz="1050" dirty="0">
                <a:solidFill>
                  <a:srgbClr val="FFFFFF"/>
                </a:solidFill>
                <a:latin typeface="Noto Sans SC Medium" pitchFamily="34" charset="0"/>
                <a:ea typeface="Noto Sans SC Medium" pitchFamily="34" charset="-122"/>
                <a:cs typeface="Noto Sans SC Medium" pitchFamily="34" charset="-120"/>
              </a:rPr>
              <a:t>《铁路插板式金属声屏障Ⅱ型单元板》Q/CR 870-2022标准中的产品为</a:t>
            </a:r>
            <a:r>
              <a:rPr lang="en-US" sz="1000" b="1" dirty="0">
                <a:solidFill>
                  <a:srgbClr val="FFD54F"/>
                </a:solidFill>
                <a:latin typeface="Noto Sans SC Bold" pitchFamily="34" charset="0"/>
                <a:ea typeface="Noto Sans SC Bold" pitchFamily="34" charset="-122"/>
                <a:cs typeface="Noto Sans SC Bold" pitchFamily="34" charset="-120"/>
              </a:rPr>
              <a:t>中国铁路经济规划研究院有限公司</a:t>
            </a:r>
            <a:r>
              <a:rPr lang="en-US" sz="1050" dirty="0">
                <a:solidFill>
                  <a:srgbClr val="FFFFFF"/>
                </a:solidFill>
                <a:latin typeface="Noto Sans SC Medium" pitchFamily="34" charset="0"/>
                <a:ea typeface="Noto Sans SC Medium" pitchFamily="34" charset="-122"/>
                <a:cs typeface="Noto Sans SC Medium" pitchFamily="34" charset="-120"/>
              </a:rPr>
              <a:t>的专利产</a:t>
            </a:r>
            <a:r>
              <a:rPr lang="en-US" sz="1050" dirty="0">
                <a:solidFill>
                  <a:srgbClr val="FFFFFF"/>
                </a:solidFill>
                <a:latin typeface="Noto Sans SC Medium" pitchFamily="34" charset="0"/>
                <a:ea typeface="Noto Sans SC Medium" pitchFamily="34" charset="-122"/>
                <a:cs typeface="Noto Sans SC Medium" pitchFamily="34" charset="-120"/>
              </a:rPr>
              <a:t>品，其他单位在未获得该单位授权的情况下使用将涉及到</a:t>
            </a:r>
            <a:r>
              <a:rPr lang="en-US" sz="1000" b="1" dirty="0">
                <a:solidFill>
                  <a:srgbClr val="FFCDD2"/>
                </a:solidFill>
                <a:latin typeface="Noto Sans SC Bold" pitchFamily="34" charset="0"/>
                <a:ea typeface="Noto Sans SC Bold" pitchFamily="34" charset="-122"/>
                <a:cs typeface="Noto Sans SC Bold" pitchFamily="34" charset="-120"/>
              </a:rPr>
              <a:t>法律侵权</a:t>
            </a:r>
            <a:r>
              <a:rPr lang="en-US" sz="1050" dirty="0">
                <a:solidFill>
                  <a:srgbClr val="FFFFFF"/>
                </a:solidFill>
                <a:latin typeface="Noto Sans SC Medium" pitchFamily="34" charset="0"/>
                <a:ea typeface="Noto Sans SC Medium" pitchFamily="34" charset="-122"/>
                <a:cs typeface="Noto Sans SC Medium" pitchFamily="34" charset="-120"/>
              </a:rPr>
              <a:t>。</a:t>
            </a:r>
            <a:r>
              <a:rPr lang="en-US" sz="1050" dirty="0">
                <a:solidFill>
                  <a:srgbClr val="FFFFFF"/>
                </a:solidFill>
                <a:latin typeface="Noto Sans SC Medium" pitchFamily="34" charset="0"/>
                <a:ea typeface="Noto Sans SC Medium" pitchFamily="34" charset="-122"/>
                <a:cs typeface="Noto Sans SC Medium" pitchFamily="34" charset="-120"/>
              </a:rPr>
              <a:t>
</a:t>
            </a:r>
            <a:r>
              <a:rPr lang="en-US" sz="1050" dirty="0">
                <a:solidFill>
                  <a:srgbClr val="FFFFFF"/>
                </a:solidFill>
                <a:latin typeface="Noto Sans SC Medium" pitchFamily="34" charset="0"/>
                <a:ea typeface="Noto Sans SC Medium" pitchFamily="34" charset="-122"/>
                <a:cs typeface="Noto Sans SC Medium" pitchFamily="34" charset="-120"/>
              </a:rPr>
              <a:t>法律法规明确规定公开招标采购是</a:t>
            </a:r>
            <a:r>
              <a:rPr lang="en-US" sz="1000" b="1" dirty="0">
                <a:solidFill>
                  <a:srgbClr val="FFCDD2"/>
                </a:solidFill>
                <a:latin typeface="Noto Sans SC Bold" pitchFamily="34" charset="0"/>
                <a:ea typeface="Noto Sans SC Bold" pitchFamily="34" charset="-122"/>
                <a:cs typeface="Noto Sans SC Bold" pitchFamily="34" charset="-120"/>
              </a:rPr>
              <a:t>不允许使用无法替代的专利或专有技术！</a:t>
            </a:r>
            <a:endParaRPr lang="en-US" sz="1050" dirty="0"/>
          </a:p>
        </p:txBody>
      </p:sp>
      <p:sp>
        <p:nvSpPr>
          <p:cNvPr id="10" name="Shape 6"/>
          <p:cNvSpPr/>
          <p:nvPr/>
        </p:nvSpPr>
        <p:spPr>
          <a:xfrm>
            <a:off x="428625" y="2486025"/>
            <a:ext cx="4000500" cy="2228850"/>
          </a:xfrm>
          <a:prstGeom prst="rect">
            <a:avLst/>
          </a:prstGeom>
          <a:solidFill>
            <a:srgbClr val="F8F9FA"/>
          </a:solidFill>
          <a:ln/>
        </p:spPr>
      </p:sp>
      <p:sp>
        <p:nvSpPr>
          <p:cNvPr id="11" name="Shape 7"/>
          <p:cNvSpPr/>
          <p:nvPr/>
        </p:nvSpPr>
        <p:spPr>
          <a:xfrm>
            <a:off x="428625" y="2486025"/>
            <a:ext cx="4000500" cy="28575"/>
          </a:xfrm>
          <a:prstGeom prst="rect">
            <a:avLst/>
          </a:prstGeom>
          <a:solidFill>
            <a:srgbClr val="1565C0"/>
          </a:solidFill>
          <a:ln/>
        </p:spPr>
      </p:sp>
      <p:sp>
        <p:nvSpPr>
          <p:cNvPr id="12" name="Shape 8"/>
          <p:cNvSpPr/>
          <p:nvPr/>
        </p:nvSpPr>
        <p:spPr>
          <a:xfrm>
            <a:off x="4421981" y="2486025"/>
            <a:ext cx="7144" cy="2228850"/>
          </a:xfrm>
          <a:prstGeom prst="rect">
            <a:avLst/>
          </a:prstGeom>
          <a:solidFill>
            <a:srgbClr val="E0E0E0"/>
          </a:solidFill>
          <a:ln/>
        </p:spPr>
      </p:sp>
      <p:sp>
        <p:nvSpPr>
          <p:cNvPr id="13" name="Shape 9"/>
          <p:cNvSpPr/>
          <p:nvPr/>
        </p:nvSpPr>
        <p:spPr>
          <a:xfrm>
            <a:off x="428625" y="4707731"/>
            <a:ext cx="4000500" cy="7144"/>
          </a:xfrm>
          <a:prstGeom prst="rect">
            <a:avLst/>
          </a:prstGeom>
          <a:solidFill>
            <a:srgbClr val="E0E0E0"/>
          </a:solidFill>
          <a:ln/>
        </p:spPr>
      </p:sp>
      <p:sp>
        <p:nvSpPr>
          <p:cNvPr id="14" name="Shape 10"/>
          <p:cNvSpPr/>
          <p:nvPr/>
        </p:nvSpPr>
        <p:spPr>
          <a:xfrm>
            <a:off x="428625" y="2486025"/>
            <a:ext cx="7144" cy="2228850"/>
          </a:xfrm>
          <a:prstGeom prst="rect">
            <a:avLst/>
          </a:prstGeom>
          <a:solidFill>
            <a:srgbClr val="E0E0E0"/>
          </a:solidFill>
          <a:ln/>
        </p:spPr>
      </p:sp>
      <p:sp>
        <p:nvSpPr>
          <p:cNvPr id="15" name="Shape 11"/>
          <p:cNvSpPr/>
          <p:nvPr/>
        </p:nvSpPr>
        <p:spPr>
          <a:xfrm>
            <a:off x="428625" y="2486025"/>
            <a:ext cx="3993356" cy="635794"/>
          </a:xfrm>
          <a:prstGeom prst="rect">
            <a:avLst/>
          </a:prstGeom>
          <a:solidFill>
            <a:srgbClr val="E3F0FB"/>
          </a:solidFill>
          <a:ln/>
        </p:spPr>
      </p:sp>
      <p:sp>
        <p:nvSpPr>
          <p:cNvPr id="16" name="Shape 12"/>
          <p:cNvSpPr/>
          <p:nvPr/>
        </p:nvSpPr>
        <p:spPr>
          <a:xfrm>
            <a:off x="428625" y="3114675"/>
            <a:ext cx="3993356" cy="7144"/>
          </a:xfrm>
          <a:prstGeom prst="rect">
            <a:avLst/>
          </a:prstGeom>
          <a:solidFill>
            <a:srgbClr val="E0E0E0"/>
          </a:solidFill>
          <a:ln/>
        </p:spPr>
      </p:sp>
      <p:sp>
        <p:nvSpPr>
          <p:cNvPr id="17" name="Text 13"/>
          <p:cNvSpPr/>
          <p:nvPr/>
        </p:nvSpPr>
        <p:spPr>
          <a:xfrm>
            <a:off x="428625" y="2486025"/>
            <a:ext cx="3993356" cy="635794"/>
          </a:xfrm>
          <a:prstGeom prst="rect">
            <a:avLst/>
          </a:prstGeom>
          <a:noFill/>
          <a:ln/>
        </p:spPr>
        <p:txBody>
          <a:bodyPr wrap="square" lIns="127508" tIns="127508" rIns="127508" bIns="127508" rtlCol="0" anchor="t">
            <a:spAutoFit/>
          </a:bodyPr>
          <a:lstStyle/>
          <a:p>
            <a:pPr algn="ctr" indent="0" marL="0">
              <a:buNone/>
            </a:pPr>
            <a:r>
              <a:rPr lang="en-US" sz="1000" b="1" dirty="0">
                <a:solidFill>
                  <a:srgbClr val="1565C0"/>
                </a:solidFill>
                <a:latin typeface="Noto Sans SC Bold" pitchFamily="34" charset="0"/>
                <a:ea typeface="Noto Sans SC Bold" pitchFamily="34" charset="-122"/>
                <a:cs typeface="Noto Sans SC Bold" pitchFamily="34" charset="-120"/>
              </a:rPr>
              <a:t>《铁路插板式金属声屏障Ⅱ型单元板》Q/CR 870-2022标准截图</a:t>
            </a:r>
            <a:endParaRPr lang="en-US" sz="1000" dirty="0"/>
          </a:p>
        </p:txBody>
      </p:sp>
      <p:sp>
        <p:nvSpPr>
          <p:cNvPr id="18" name="Text 14"/>
          <p:cNvSpPr/>
          <p:nvPr/>
        </p:nvSpPr>
        <p:spPr>
          <a:xfrm>
            <a:off x="428625" y="3114675"/>
            <a:ext cx="3993356" cy="1600200"/>
          </a:xfrm>
          <a:prstGeom prst="rect">
            <a:avLst/>
          </a:prstGeom>
          <a:noFill/>
          <a:ln/>
        </p:spPr>
        <p:txBody>
          <a:bodyPr wrap="square" lIns="170053" tIns="170053" rIns="170053" bIns="170053" rtlCol="0" anchor="ctr">
            <a:spAutoFit/>
          </a:bodyPr>
          <a:lstStyle/>
          <a:p>
            <a:pPr algn="ctr" indent="0" marL="0">
              <a:buNone/>
            </a:pPr>
            <a:r>
              <a:rPr lang="en-US" sz="950" dirty="0">
                <a:solidFill>
                  <a:srgbClr val="999999"/>
                </a:solidFill>
                <a:latin typeface="Noto Sans SC" pitchFamily="34" charset="0"/>
                <a:ea typeface="Noto Sans SC" pitchFamily="34" charset="-122"/>
                <a:cs typeface="Noto Sans SC" pitchFamily="34" charset="-120"/>
              </a:rPr>
              <a:t>[ 请在此处插入原PPT中的标准截图 ]</a:t>
            </a:r>
            <a:endParaRPr lang="en-US" sz="950" dirty="0"/>
          </a:p>
        </p:txBody>
      </p:sp>
      <p:sp>
        <p:nvSpPr>
          <p:cNvPr id="19" name="Shape 15"/>
          <p:cNvSpPr/>
          <p:nvPr/>
        </p:nvSpPr>
        <p:spPr>
          <a:xfrm>
            <a:off x="4707731" y="2486025"/>
            <a:ext cx="4007644" cy="2228850"/>
          </a:xfrm>
          <a:prstGeom prst="rect">
            <a:avLst/>
          </a:prstGeom>
          <a:solidFill>
            <a:srgbClr val="F8F9FA"/>
          </a:solidFill>
          <a:ln/>
        </p:spPr>
      </p:sp>
      <p:sp>
        <p:nvSpPr>
          <p:cNvPr id="20" name="Shape 16"/>
          <p:cNvSpPr/>
          <p:nvPr/>
        </p:nvSpPr>
        <p:spPr>
          <a:xfrm>
            <a:off x="4707731" y="2486025"/>
            <a:ext cx="4007644" cy="28575"/>
          </a:xfrm>
          <a:prstGeom prst="rect">
            <a:avLst/>
          </a:prstGeom>
          <a:solidFill>
            <a:srgbClr val="1565C0"/>
          </a:solidFill>
          <a:ln/>
        </p:spPr>
      </p:sp>
      <p:sp>
        <p:nvSpPr>
          <p:cNvPr id="21" name="Shape 17"/>
          <p:cNvSpPr/>
          <p:nvPr/>
        </p:nvSpPr>
        <p:spPr>
          <a:xfrm>
            <a:off x="8708231" y="2486025"/>
            <a:ext cx="7144" cy="2228850"/>
          </a:xfrm>
          <a:prstGeom prst="rect">
            <a:avLst/>
          </a:prstGeom>
          <a:solidFill>
            <a:srgbClr val="E0E0E0"/>
          </a:solidFill>
          <a:ln/>
        </p:spPr>
      </p:sp>
      <p:sp>
        <p:nvSpPr>
          <p:cNvPr id="22" name="Shape 18"/>
          <p:cNvSpPr/>
          <p:nvPr/>
        </p:nvSpPr>
        <p:spPr>
          <a:xfrm>
            <a:off x="4707731" y="4707731"/>
            <a:ext cx="4007644" cy="7144"/>
          </a:xfrm>
          <a:prstGeom prst="rect">
            <a:avLst/>
          </a:prstGeom>
          <a:solidFill>
            <a:srgbClr val="E0E0E0"/>
          </a:solidFill>
          <a:ln/>
        </p:spPr>
      </p:sp>
      <p:sp>
        <p:nvSpPr>
          <p:cNvPr id="23" name="Shape 19"/>
          <p:cNvSpPr/>
          <p:nvPr/>
        </p:nvSpPr>
        <p:spPr>
          <a:xfrm>
            <a:off x="4707731" y="2486025"/>
            <a:ext cx="7144" cy="2228850"/>
          </a:xfrm>
          <a:prstGeom prst="rect">
            <a:avLst/>
          </a:prstGeom>
          <a:solidFill>
            <a:srgbClr val="E0E0E0"/>
          </a:solidFill>
          <a:ln/>
        </p:spPr>
      </p:sp>
      <p:sp>
        <p:nvSpPr>
          <p:cNvPr id="24" name="Shape 20"/>
          <p:cNvSpPr/>
          <p:nvPr/>
        </p:nvSpPr>
        <p:spPr>
          <a:xfrm>
            <a:off x="4714875" y="2486025"/>
            <a:ext cx="4000500" cy="428625"/>
          </a:xfrm>
          <a:prstGeom prst="rect">
            <a:avLst/>
          </a:prstGeom>
          <a:solidFill>
            <a:srgbClr val="E3F0FB"/>
          </a:solidFill>
          <a:ln/>
        </p:spPr>
      </p:sp>
      <p:sp>
        <p:nvSpPr>
          <p:cNvPr id="25" name="Shape 21"/>
          <p:cNvSpPr/>
          <p:nvPr/>
        </p:nvSpPr>
        <p:spPr>
          <a:xfrm>
            <a:off x="4714875" y="2907506"/>
            <a:ext cx="4000500" cy="7144"/>
          </a:xfrm>
          <a:prstGeom prst="rect">
            <a:avLst/>
          </a:prstGeom>
          <a:solidFill>
            <a:srgbClr val="E0E0E0"/>
          </a:solidFill>
          <a:ln/>
        </p:spPr>
      </p:sp>
      <p:sp>
        <p:nvSpPr>
          <p:cNvPr id="26" name="Text 22"/>
          <p:cNvSpPr/>
          <p:nvPr/>
        </p:nvSpPr>
        <p:spPr>
          <a:xfrm>
            <a:off x="4714875" y="2486025"/>
            <a:ext cx="4000500" cy="428625"/>
          </a:xfrm>
          <a:prstGeom prst="rect">
            <a:avLst/>
          </a:prstGeom>
          <a:noFill/>
          <a:ln/>
        </p:spPr>
        <p:txBody>
          <a:bodyPr wrap="square" lIns="127508" tIns="127508" rIns="127508" bIns="127508" rtlCol="0" anchor="t">
            <a:spAutoFit/>
          </a:bodyPr>
          <a:lstStyle/>
          <a:p>
            <a:pPr algn="ctr" indent="0" marL="0">
              <a:buNone/>
            </a:pPr>
            <a:r>
              <a:rPr lang="en-US" sz="1000" b="1" dirty="0">
                <a:solidFill>
                  <a:srgbClr val="1565C0"/>
                </a:solidFill>
                <a:latin typeface="Noto Sans SC Bold" pitchFamily="34" charset="0"/>
                <a:ea typeface="Noto Sans SC Bold" pitchFamily="34" charset="-122"/>
                <a:cs typeface="Noto Sans SC Bold" pitchFamily="34" charset="-120"/>
              </a:rPr>
              <a:t>中国铁路经济规划研究院有限公司专利</a:t>
            </a:r>
            <a:endParaRPr lang="en-US" sz="1000" dirty="0"/>
          </a:p>
        </p:txBody>
      </p:sp>
      <p:sp>
        <p:nvSpPr>
          <p:cNvPr id="27" name="Text 23"/>
          <p:cNvSpPr/>
          <p:nvPr/>
        </p:nvSpPr>
        <p:spPr>
          <a:xfrm>
            <a:off x="4714875" y="2907506"/>
            <a:ext cx="4000500" cy="1807369"/>
          </a:xfrm>
          <a:prstGeom prst="rect">
            <a:avLst/>
          </a:prstGeom>
          <a:noFill/>
          <a:ln/>
        </p:spPr>
        <p:txBody>
          <a:bodyPr wrap="square" lIns="170053" tIns="170053" rIns="170053" bIns="170053" rtlCol="0" anchor="ctr">
            <a:spAutoFit/>
          </a:bodyPr>
          <a:lstStyle/>
          <a:p>
            <a:pPr algn="ctr" indent="0" marL="0">
              <a:buNone/>
            </a:pPr>
            <a:r>
              <a:rPr lang="en-US" sz="950" dirty="0">
                <a:solidFill>
                  <a:srgbClr val="999999"/>
                </a:solidFill>
                <a:latin typeface="Noto Sans SC" pitchFamily="34" charset="0"/>
                <a:ea typeface="Noto Sans SC" pitchFamily="34" charset="-122"/>
                <a:cs typeface="Noto Sans SC" pitchFamily="34" charset="-120"/>
              </a:rPr>
              <a:t>[ 请在此处插入原PPT中的专利证书截图 ]</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7891109" y="357188"/>
            <a:ext cx="824266" cy="342900"/>
          </a:xfrm>
          <a:prstGeom prst="rect">
            <a:avLst/>
          </a:prstGeom>
        </p:spPr>
      </p:pic>
      <p:sp>
        <p:nvSpPr>
          <p:cNvPr id="4" name="Text 0"/>
          <p:cNvSpPr/>
          <p:nvPr/>
        </p:nvSpPr>
        <p:spPr>
          <a:xfrm>
            <a:off x="428625" y="357188"/>
            <a:ext cx="203597" cy="248245"/>
          </a:xfrm>
          <a:prstGeom prst="rect">
            <a:avLst/>
          </a:prstGeom>
          <a:noFill/>
          <a:ln/>
        </p:spPr>
        <p:txBody>
          <a:bodyPr wrap="none" lIns="0" tIns="0" rIns="0" bIns="0" rtlCol="0" anchor="t">
            <a:spAutoFit/>
          </a:bodyPr>
          <a:lstStyle/>
          <a:p>
            <a:pPr algn="l" indent="0" marL="0">
              <a:buNone/>
            </a:pPr>
            <a:r>
              <a:rPr lang="en-US" sz="1200" b="1" dirty="0">
                <a:solidFill>
                  <a:srgbClr val="1565C0"/>
                </a:solidFill>
                <a:latin typeface="Noto Sans SC Bold" pitchFamily="34" charset="0"/>
                <a:ea typeface="Noto Sans SC Bold" pitchFamily="34" charset="-122"/>
                <a:cs typeface="Noto Sans SC Bold" pitchFamily="34" charset="-120"/>
              </a:rPr>
              <a:t>14</a:t>
            </a:r>
            <a:endParaRPr lang="en-US" sz="1200" dirty="0"/>
          </a:p>
        </p:txBody>
      </p:sp>
      <p:sp>
        <p:nvSpPr>
          <p:cNvPr id="5" name="Text 1"/>
          <p:cNvSpPr/>
          <p:nvPr/>
        </p:nvSpPr>
        <p:spPr>
          <a:xfrm>
            <a:off x="785813" y="357188"/>
            <a:ext cx="2914650" cy="248245"/>
          </a:xfrm>
          <a:prstGeom prst="rect">
            <a:avLst/>
          </a:prstGeom>
          <a:noFill/>
          <a:ln/>
        </p:spPr>
        <p:txBody>
          <a:bodyPr wrap="square" lIns="0" tIns="0" rIns="0" bIns="0" rtlCol="0" anchor="t">
            <a:spAutoFit/>
          </a:bodyPr>
          <a:lstStyle/>
          <a:p>
            <a:pPr algn="l" indent="0" marL="0">
              <a:buNone/>
            </a:pPr>
            <a:r>
              <a:rPr lang="en-US" sz="1200" b="1" dirty="0">
                <a:solidFill>
                  <a:srgbClr val="333333"/>
                </a:solidFill>
                <a:latin typeface="Noto Sans SC Bold" pitchFamily="34" charset="0"/>
                <a:ea typeface="Noto Sans SC Bold" pitchFamily="34" charset="-122"/>
                <a:cs typeface="Noto Sans SC Bold" pitchFamily="34" charset="-120"/>
              </a:rPr>
              <a:t>铁路声屏障产品形式——产品性能对比</a:t>
            </a:r>
            <a:endParaRPr lang="en-US" sz="1200" dirty="0"/>
          </a:p>
        </p:txBody>
      </p:sp>
      <p:sp>
        <p:nvSpPr>
          <p:cNvPr id="6" name="Text 2"/>
          <p:cNvSpPr/>
          <p:nvPr/>
        </p:nvSpPr>
        <p:spPr>
          <a:xfrm>
            <a:off x="428625" y="1000125"/>
            <a:ext cx="8286750" cy="451842"/>
          </a:xfrm>
          <a:prstGeom prst="rect">
            <a:avLst/>
          </a:prstGeom>
          <a:noFill/>
          <a:ln/>
        </p:spPr>
        <p:txBody>
          <a:bodyPr wrap="square" lIns="0" tIns="0" rIns="0" bIns="127508" rtlCol="0" anchor="t">
            <a:spAutoFit/>
          </a:bodyPr>
          <a:lstStyle/>
          <a:p>
            <a:pPr algn="l" indent="0" marL="0">
              <a:buNone/>
            </a:pPr>
            <a:r>
              <a:rPr lang="en-US" sz="1600" b="1" dirty="0">
                <a:solidFill>
                  <a:srgbClr val="1A3A6B"/>
                </a:solidFill>
                <a:latin typeface="Noto Sans SC Black" pitchFamily="34" charset="0"/>
                <a:ea typeface="Noto Sans SC Black" pitchFamily="34" charset="-122"/>
                <a:cs typeface="Noto Sans SC Black" pitchFamily="34" charset="-120"/>
              </a:rPr>
              <a:t>对比分析结论</a:t>
            </a:r>
            <a:endParaRPr lang="en-US" sz="1600" dirty="0"/>
          </a:p>
        </p:txBody>
      </p:sp>
      <p:sp>
        <p:nvSpPr>
          <p:cNvPr id="7" name="Shape 3"/>
          <p:cNvSpPr/>
          <p:nvPr/>
        </p:nvSpPr>
        <p:spPr>
          <a:xfrm>
            <a:off x="428625" y="1737717"/>
            <a:ext cx="8286750" cy="857250"/>
          </a:xfrm>
          <a:prstGeom prst="rect">
            <a:avLst/>
          </a:prstGeom>
          <a:solidFill>
            <a:srgbClr val="F8F9FA"/>
          </a:solidFill>
          <a:ln/>
        </p:spPr>
      </p:sp>
      <p:sp>
        <p:nvSpPr>
          <p:cNvPr id="8" name="Shape 4"/>
          <p:cNvSpPr/>
          <p:nvPr/>
        </p:nvSpPr>
        <p:spPr>
          <a:xfrm>
            <a:off x="428625" y="1737717"/>
            <a:ext cx="8286750" cy="7144"/>
          </a:xfrm>
          <a:prstGeom prst="rect">
            <a:avLst/>
          </a:prstGeom>
          <a:solidFill>
            <a:srgbClr val="E0E0E0"/>
          </a:solidFill>
          <a:ln/>
        </p:spPr>
      </p:sp>
      <p:sp>
        <p:nvSpPr>
          <p:cNvPr id="9" name="Shape 5"/>
          <p:cNvSpPr/>
          <p:nvPr/>
        </p:nvSpPr>
        <p:spPr>
          <a:xfrm>
            <a:off x="8708231" y="1737717"/>
            <a:ext cx="7144" cy="857250"/>
          </a:xfrm>
          <a:prstGeom prst="rect">
            <a:avLst/>
          </a:prstGeom>
          <a:solidFill>
            <a:srgbClr val="E0E0E0"/>
          </a:solidFill>
          <a:ln/>
        </p:spPr>
      </p:sp>
      <p:sp>
        <p:nvSpPr>
          <p:cNvPr id="10" name="Shape 6"/>
          <p:cNvSpPr/>
          <p:nvPr/>
        </p:nvSpPr>
        <p:spPr>
          <a:xfrm>
            <a:off x="428625" y="2587823"/>
            <a:ext cx="8286750" cy="7144"/>
          </a:xfrm>
          <a:prstGeom prst="rect">
            <a:avLst/>
          </a:prstGeom>
          <a:solidFill>
            <a:srgbClr val="E0E0E0"/>
          </a:solidFill>
          <a:ln/>
        </p:spPr>
      </p:sp>
      <p:sp>
        <p:nvSpPr>
          <p:cNvPr id="11" name="Shape 7"/>
          <p:cNvSpPr/>
          <p:nvPr/>
        </p:nvSpPr>
        <p:spPr>
          <a:xfrm>
            <a:off x="428625" y="1737717"/>
            <a:ext cx="57150" cy="857250"/>
          </a:xfrm>
          <a:prstGeom prst="rect">
            <a:avLst/>
          </a:prstGeom>
          <a:solidFill>
            <a:srgbClr val="1565C0"/>
          </a:solidFill>
          <a:ln/>
        </p:spPr>
      </p:sp>
      <p:sp>
        <p:nvSpPr>
          <p:cNvPr id="12" name="Shape 8"/>
          <p:cNvSpPr/>
          <p:nvPr/>
        </p:nvSpPr>
        <p:spPr>
          <a:xfrm>
            <a:off x="428625" y="1737717"/>
            <a:ext cx="571500" cy="857250"/>
          </a:xfrm>
          <a:prstGeom prst="rect">
            <a:avLst/>
          </a:prstGeom>
          <a:solidFill>
            <a:srgbClr val="E3F0FB"/>
          </a:solidFill>
          <a:ln/>
        </p:spPr>
      </p:sp>
      <p:sp>
        <p:nvSpPr>
          <p:cNvPr id="13" name="Shape 9"/>
          <p:cNvSpPr/>
          <p:nvPr/>
        </p:nvSpPr>
        <p:spPr>
          <a:xfrm>
            <a:off x="992981" y="1737717"/>
            <a:ext cx="7144" cy="857250"/>
          </a:xfrm>
          <a:prstGeom prst="rect">
            <a:avLst/>
          </a:prstGeom>
          <a:solidFill>
            <a:srgbClr val="E0E0E0"/>
          </a:solidFill>
          <a:ln/>
        </p:spPr>
      </p:sp>
      <p:sp>
        <p:nvSpPr>
          <p:cNvPr id="14" name="Text 10"/>
          <p:cNvSpPr/>
          <p:nvPr/>
        </p:nvSpPr>
        <p:spPr>
          <a:xfrm>
            <a:off x="428625" y="1737717"/>
            <a:ext cx="571500" cy="857250"/>
          </a:xfrm>
          <a:prstGeom prst="rect">
            <a:avLst/>
          </a:prstGeom>
          <a:noFill/>
          <a:ln/>
        </p:spPr>
        <p:txBody>
          <a:bodyPr wrap="none" lIns="0" tIns="0" rIns="0" bIns="0" rtlCol="0" anchor="ctr">
            <a:spAutoFit/>
          </a:bodyPr>
          <a:lstStyle/>
          <a:p>
            <a:pPr algn="ctr" indent="0" marL="0">
              <a:buNone/>
            </a:pPr>
            <a:r>
              <a:rPr lang="en-US" sz="1800" b="1" dirty="0">
                <a:solidFill>
                  <a:srgbClr val="1565C0"/>
                </a:solidFill>
                <a:latin typeface="Noto Sans SC Black" pitchFamily="34" charset="0"/>
                <a:ea typeface="Noto Sans SC Black" pitchFamily="34" charset="-122"/>
                <a:cs typeface="Noto Sans SC Black" pitchFamily="34" charset="-120"/>
              </a:rPr>
              <a:t>1</a:t>
            </a:r>
            <a:endParaRPr lang="en-US" sz="1800" dirty="0"/>
          </a:p>
        </p:txBody>
      </p:sp>
      <p:sp>
        <p:nvSpPr>
          <p:cNvPr id="15" name="Text 11"/>
          <p:cNvSpPr/>
          <p:nvPr/>
        </p:nvSpPr>
        <p:spPr>
          <a:xfrm>
            <a:off x="1285875" y="2040601"/>
            <a:ext cx="5029200" cy="251454"/>
          </a:xfrm>
          <a:prstGeom prst="rect">
            <a:avLst/>
          </a:prstGeom>
          <a:noFill/>
          <a:ln/>
        </p:spPr>
        <p:txBody>
          <a:bodyPr wrap="none" lIns="0" tIns="0" rIns="0" bIns="0" rtlCol="0" anchor="t">
            <a:spAutoFit/>
          </a:bodyPr>
          <a:lstStyle/>
          <a:p>
            <a:pPr algn="l" indent="0" marL="0">
              <a:lnSpc>
                <a:spcPct val="128000"/>
              </a:lnSpc>
              <a:buNone/>
            </a:pPr>
            <a:r>
              <a:rPr lang="en-US" sz="1150" dirty="0">
                <a:solidFill>
                  <a:srgbClr val="333333"/>
                </a:solidFill>
                <a:latin typeface="Noto Sans SC" pitchFamily="34" charset="0"/>
                <a:ea typeface="Noto Sans SC" pitchFamily="34" charset="-122"/>
                <a:cs typeface="Noto Sans SC" pitchFamily="34" charset="-120"/>
              </a:rPr>
              <a:t>除降噪系数及吸声材料岩棉的密度要求不一致外，</a:t>
            </a:r>
            <a:r>
              <a:rPr lang="en-US" sz="1100" b="1" dirty="0">
                <a:solidFill>
                  <a:srgbClr val="1565C0"/>
                </a:solidFill>
                <a:latin typeface="Noto Sans SC Bold" pitchFamily="34" charset="0"/>
                <a:ea typeface="Noto Sans SC Bold" pitchFamily="34" charset="-122"/>
                <a:cs typeface="Noto Sans SC Bold" pitchFamily="34" charset="-120"/>
              </a:rPr>
              <a:t>其余指标要求均一致</a:t>
            </a:r>
            <a:r>
              <a:rPr lang="en-US" sz="1150" dirty="0">
                <a:solidFill>
                  <a:srgbClr val="333333"/>
                </a:solidFill>
                <a:latin typeface="Noto Sans SC" pitchFamily="34" charset="0"/>
                <a:ea typeface="Noto Sans SC" pitchFamily="34" charset="-122"/>
                <a:cs typeface="Noto Sans SC" pitchFamily="34" charset="-120"/>
              </a:rPr>
              <a:t>。</a:t>
            </a:r>
            <a:endParaRPr lang="en-US" sz="1150" dirty="0"/>
          </a:p>
        </p:txBody>
      </p:sp>
      <p:sp>
        <p:nvSpPr>
          <p:cNvPr id="16" name="Shape 12"/>
          <p:cNvSpPr/>
          <p:nvPr/>
        </p:nvSpPr>
        <p:spPr>
          <a:xfrm>
            <a:off x="428625" y="2809280"/>
            <a:ext cx="8286750" cy="945821"/>
          </a:xfrm>
          <a:prstGeom prst="rect">
            <a:avLst/>
          </a:prstGeom>
          <a:solidFill>
            <a:srgbClr val="F8F9FA"/>
          </a:solidFill>
          <a:ln/>
        </p:spPr>
      </p:sp>
      <p:sp>
        <p:nvSpPr>
          <p:cNvPr id="17" name="Shape 13"/>
          <p:cNvSpPr/>
          <p:nvPr/>
        </p:nvSpPr>
        <p:spPr>
          <a:xfrm>
            <a:off x="428625" y="2809280"/>
            <a:ext cx="8286750" cy="7144"/>
          </a:xfrm>
          <a:prstGeom prst="rect">
            <a:avLst/>
          </a:prstGeom>
          <a:solidFill>
            <a:srgbClr val="E0E0E0"/>
          </a:solidFill>
          <a:ln/>
        </p:spPr>
      </p:sp>
      <p:sp>
        <p:nvSpPr>
          <p:cNvPr id="18" name="Shape 14"/>
          <p:cNvSpPr/>
          <p:nvPr/>
        </p:nvSpPr>
        <p:spPr>
          <a:xfrm>
            <a:off x="8708231" y="2809280"/>
            <a:ext cx="7144" cy="945821"/>
          </a:xfrm>
          <a:prstGeom prst="rect">
            <a:avLst/>
          </a:prstGeom>
          <a:solidFill>
            <a:srgbClr val="E0E0E0"/>
          </a:solidFill>
          <a:ln/>
        </p:spPr>
      </p:sp>
      <p:sp>
        <p:nvSpPr>
          <p:cNvPr id="19" name="Shape 15"/>
          <p:cNvSpPr/>
          <p:nvPr/>
        </p:nvSpPr>
        <p:spPr>
          <a:xfrm>
            <a:off x="428625" y="3747957"/>
            <a:ext cx="8286750" cy="7144"/>
          </a:xfrm>
          <a:prstGeom prst="rect">
            <a:avLst/>
          </a:prstGeom>
          <a:solidFill>
            <a:srgbClr val="E0E0E0"/>
          </a:solidFill>
          <a:ln/>
        </p:spPr>
      </p:sp>
      <p:sp>
        <p:nvSpPr>
          <p:cNvPr id="20" name="Shape 16"/>
          <p:cNvSpPr/>
          <p:nvPr/>
        </p:nvSpPr>
        <p:spPr>
          <a:xfrm>
            <a:off x="428625" y="2809280"/>
            <a:ext cx="57150" cy="945821"/>
          </a:xfrm>
          <a:prstGeom prst="rect">
            <a:avLst/>
          </a:prstGeom>
          <a:solidFill>
            <a:srgbClr val="1565C0"/>
          </a:solidFill>
          <a:ln/>
        </p:spPr>
      </p:sp>
      <p:sp>
        <p:nvSpPr>
          <p:cNvPr id="21" name="Shape 17"/>
          <p:cNvSpPr/>
          <p:nvPr/>
        </p:nvSpPr>
        <p:spPr>
          <a:xfrm>
            <a:off x="428625" y="2809280"/>
            <a:ext cx="571500" cy="931534"/>
          </a:xfrm>
          <a:prstGeom prst="rect">
            <a:avLst/>
          </a:prstGeom>
          <a:solidFill>
            <a:srgbClr val="E3F0FB"/>
          </a:solidFill>
          <a:ln/>
        </p:spPr>
      </p:sp>
      <p:sp>
        <p:nvSpPr>
          <p:cNvPr id="22" name="Shape 18"/>
          <p:cNvSpPr/>
          <p:nvPr/>
        </p:nvSpPr>
        <p:spPr>
          <a:xfrm>
            <a:off x="992981" y="2809280"/>
            <a:ext cx="7144" cy="931534"/>
          </a:xfrm>
          <a:prstGeom prst="rect">
            <a:avLst/>
          </a:prstGeom>
          <a:solidFill>
            <a:srgbClr val="E0E0E0"/>
          </a:solidFill>
          <a:ln/>
        </p:spPr>
      </p:sp>
      <p:sp>
        <p:nvSpPr>
          <p:cNvPr id="23" name="Text 19"/>
          <p:cNvSpPr/>
          <p:nvPr/>
        </p:nvSpPr>
        <p:spPr>
          <a:xfrm>
            <a:off x="428625" y="2809280"/>
            <a:ext cx="571500" cy="931534"/>
          </a:xfrm>
          <a:prstGeom prst="rect">
            <a:avLst/>
          </a:prstGeom>
          <a:noFill/>
          <a:ln/>
        </p:spPr>
        <p:txBody>
          <a:bodyPr wrap="none" lIns="0" tIns="0" rIns="0" bIns="0" rtlCol="0" anchor="ctr">
            <a:spAutoFit/>
          </a:bodyPr>
          <a:lstStyle/>
          <a:p>
            <a:pPr algn="ctr" indent="0" marL="0">
              <a:buNone/>
            </a:pPr>
            <a:r>
              <a:rPr lang="en-US" sz="1800" b="1" dirty="0">
                <a:solidFill>
                  <a:srgbClr val="1565C0"/>
                </a:solidFill>
                <a:latin typeface="Noto Sans SC Black" pitchFamily="34" charset="0"/>
                <a:ea typeface="Noto Sans SC Black" pitchFamily="34" charset="-122"/>
                <a:cs typeface="Noto Sans SC Black" pitchFamily="34" charset="-120"/>
              </a:rPr>
              <a:t>2</a:t>
            </a:r>
            <a:endParaRPr lang="en-US" sz="1800" dirty="0"/>
          </a:p>
        </p:txBody>
      </p:sp>
      <p:sp>
        <p:nvSpPr>
          <p:cNvPr id="24" name="Text 20"/>
          <p:cNvSpPr/>
          <p:nvPr/>
        </p:nvSpPr>
        <p:spPr>
          <a:xfrm>
            <a:off x="1285875" y="3023592"/>
            <a:ext cx="7143750" cy="502909"/>
          </a:xfrm>
          <a:prstGeom prst="rect">
            <a:avLst/>
          </a:prstGeom>
          <a:noFill/>
          <a:ln/>
        </p:spPr>
        <p:txBody>
          <a:bodyPr wrap="square" lIns="0" tIns="0" rIns="0" bIns="0" rtlCol="0" anchor="t">
            <a:spAutoFit/>
          </a:bodyPr>
          <a:lstStyle/>
          <a:p>
            <a:pPr algn="l" indent="0" marL="0">
              <a:lnSpc>
                <a:spcPct val="128000"/>
              </a:lnSpc>
              <a:buNone/>
            </a:pPr>
            <a:r>
              <a:rPr lang="en-US" sz="1150" dirty="0">
                <a:solidFill>
                  <a:srgbClr val="333333"/>
                </a:solidFill>
                <a:latin typeface="Noto Sans SC" pitchFamily="34" charset="0"/>
                <a:ea typeface="Noto Sans SC" pitchFamily="34" charset="-122"/>
                <a:cs typeface="Noto Sans SC" pitchFamily="34" charset="-120"/>
              </a:rPr>
              <a:t>降噪系数NRC≥0.7是铁路标准的基本要求，只要使用规范要求的岩棉，降噪系数普遍能达到</a:t>
            </a:r>
            <a:r>
              <a:rPr lang="en-US" sz="1150" dirty="0">
                <a:solidFill>
                  <a:srgbClr val="333333"/>
                </a:solidFill>
                <a:latin typeface="Noto Sans SC" pitchFamily="34" charset="0"/>
                <a:ea typeface="Noto Sans SC" pitchFamily="34" charset="-122"/>
                <a:cs typeface="Noto Sans SC" pitchFamily="34" charset="-120"/>
              </a:rPr>
              <a:t>0.85~0.9，</a:t>
            </a:r>
            <a:r>
              <a:rPr lang="en-US" sz="1100" b="1" dirty="0">
                <a:solidFill>
                  <a:srgbClr val="1565C0"/>
                </a:solidFill>
                <a:latin typeface="Noto Sans SC Bold" pitchFamily="34" charset="0"/>
                <a:ea typeface="Noto Sans SC Bold" pitchFamily="34" charset="-122"/>
                <a:cs typeface="Noto Sans SC Bold" pitchFamily="34" charset="-120"/>
              </a:rPr>
              <a:t>并不是核心的差异型指标</a:t>
            </a:r>
            <a:r>
              <a:rPr lang="en-US" sz="1150" dirty="0">
                <a:solidFill>
                  <a:srgbClr val="333333"/>
                </a:solidFill>
                <a:latin typeface="Noto Sans SC" pitchFamily="34" charset="0"/>
                <a:ea typeface="Noto Sans SC" pitchFamily="34" charset="-122"/>
                <a:cs typeface="Noto Sans SC" pitchFamily="34" charset="-120"/>
              </a:rPr>
              <a:t>。</a:t>
            </a:r>
            <a:endParaRPr lang="en-US" sz="1150" dirty="0"/>
          </a:p>
        </p:txBody>
      </p:sp>
      <p:sp>
        <p:nvSpPr>
          <p:cNvPr id="25" name="Shape 21"/>
          <p:cNvSpPr/>
          <p:nvPr/>
        </p:nvSpPr>
        <p:spPr>
          <a:xfrm>
            <a:off x="428625" y="3955126"/>
            <a:ext cx="8286750" cy="857250"/>
          </a:xfrm>
          <a:prstGeom prst="rect">
            <a:avLst/>
          </a:prstGeom>
          <a:solidFill>
            <a:srgbClr val="F8F9FA"/>
          </a:solidFill>
          <a:ln/>
        </p:spPr>
      </p:sp>
      <p:sp>
        <p:nvSpPr>
          <p:cNvPr id="26" name="Shape 22"/>
          <p:cNvSpPr/>
          <p:nvPr/>
        </p:nvSpPr>
        <p:spPr>
          <a:xfrm>
            <a:off x="428625" y="3955126"/>
            <a:ext cx="8286750" cy="7144"/>
          </a:xfrm>
          <a:prstGeom prst="rect">
            <a:avLst/>
          </a:prstGeom>
          <a:solidFill>
            <a:srgbClr val="E0E0E0"/>
          </a:solidFill>
          <a:ln/>
        </p:spPr>
      </p:sp>
      <p:sp>
        <p:nvSpPr>
          <p:cNvPr id="27" name="Shape 23"/>
          <p:cNvSpPr/>
          <p:nvPr/>
        </p:nvSpPr>
        <p:spPr>
          <a:xfrm>
            <a:off x="8708231" y="3955126"/>
            <a:ext cx="7144" cy="857250"/>
          </a:xfrm>
          <a:prstGeom prst="rect">
            <a:avLst/>
          </a:prstGeom>
          <a:solidFill>
            <a:srgbClr val="E0E0E0"/>
          </a:solidFill>
          <a:ln/>
        </p:spPr>
      </p:sp>
      <p:sp>
        <p:nvSpPr>
          <p:cNvPr id="28" name="Shape 24"/>
          <p:cNvSpPr/>
          <p:nvPr/>
        </p:nvSpPr>
        <p:spPr>
          <a:xfrm>
            <a:off x="428625" y="4805232"/>
            <a:ext cx="8286750" cy="7144"/>
          </a:xfrm>
          <a:prstGeom prst="rect">
            <a:avLst/>
          </a:prstGeom>
          <a:solidFill>
            <a:srgbClr val="E0E0E0"/>
          </a:solidFill>
          <a:ln/>
        </p:spPr>
      </p:sp>
      <p:sp>
        <p:nvSpPr>
          <p:cNvPr id="29" name="Shape 25"/>
          <p:cNvSpPr/>
          <p:nvPr/>
        </p:nvSpPr>
        <p:spPr>
          <a:xfrm>
            <a:off x="428625" y="3955126"/>
            <a:ext cx="57150" cy="857250"/>
          </a:xfrm>
          <a:prstGeom prst="rect">
            <a:avLst/>
          </a:prstGeom>
          <a:solidFill>
            <a:srgbClr val="1565C0"/>
          </a:solidFill>
          <a:ln/>
        </p:spPr>
      </p:sp>
      <p:sp>
        <p:nvSpPr>
          <p:cNvPr id="30" name="Shape 26"/>
          <p:cNvSpPr/>
          <p:nvPr/>
        </p:nvSpPr>
        <p:spPr>
          <a:xfrm>
            <a:off x="428625" y="3955126"/>
            <a:ext cx="571500" cy="857250"/>
          </a:xfrm>
          <a:prstGeom prst="rect">
            <a:avLst/>
          </a:prstGeom>
          <a:solidFill>
            <a:srgbClr val="E3F0FB"/>
          </a:solidFill>
          <a:ln/>
        </p:spPr>
      </p:sp>
      <p:sp>
        <p:nvSpPr>
          <p:cNvPr id="31" name="Shape 27"/>
          <p:cNvSpPr/>
          <p:nvPr/>
        </p:nvSpPr>
        <p:spPr>
          <a:xfrm>
            <a:off x="992981" y="3955126"/>
            <a:ext cx="7144" cy="857250"/>
          </a:xfrm>
          <a:prstGeom prst="rect">
            <a:avLst/>
          </a:prstGeom>
          <a:solidFill>
            <a:srgbClr val="E0E0E0"/>
          </a:solidFill>
          <a:ln/>
        </p:spPr>
      </p:sp>
      <p:sp>
        <p:nvSpPr>
          <p:cNvPr id="32" name="Text 28"/>
          <p:cNvSpPr/>
          <p:nvPr/>
        </p:nvSpPr>
        <p:spPr>
          <a:xfrm>
            <a:off x="428625" y="3955126"/>
            <a:ext cx="571500" cy="857250"/>
          </a:xfrm>
          <a:prstGeom prst="rect">
            <a:avLst/>
          </a:prstGeom>
          <a:noFill/>
          <a:ln/>
        </p:spPr>
        <p:txBody>
          <a:bodyPr wrap="none" lIns="0" tIns="0" rIns="0" bIns="0" rtlCol="0" anchor="ctr">
            <a:spAutoFit/>
          </a:bodyPr>
          <a:lstStyle/>
          <a:p>
            <a:pPr algn="ctr" indent="0" marL="0">
              <a:buNone/>
            </a:pPr>
            <a:r>
              <a:rPr lang="en-US" sz="1800" b="1" dirty="0">
                <a:solidFill>
                  <a:srgbClr val="1565C0"/>
                </a:solidFill>
                <a:latin typeface="Noto Sans SC Black" pitchFamily="34" charset="0"/>
                <a:ea typeface="Noto Sans SC Black" pitchFamily="34" charset="-122"/>
                <a:cs typeface="Noto Sans SC Black" pitchFamily="34" charset="-120"/>
              </a:rPr>
              <a:t>3</a:t>
            </a:r>
            <a:endParaRPr lang="en-US" sz="1800" dirty="0"/>
          </a:p>
        </p:txBody>
      </p:sp>
      <p:sp>
        <p:nvSpPr>
          <p:cNvPr id="33" name="Text 29"/>
          <p:cNvSpPr/>
          <p:nvPr/>
        </p:nvSpPr>
        <p:spPr>
          <a:xfrm>
            <a:off x="1285875" y="4258010"/>
            <a:ext cx="6075759" cy="251454"/>
          </a:xfrm>
          <a:prstGeom prst="rect">
            <a:avLst/>
          </a:prstGeom>
          <a:noFill/>
          <a:ln/>
        </p:spPr>
        <p:txBody>
          <a:bodyPr wrap="none" lIns="0" tIns="0" rIns="0" bIns="0" rtlCol="0" anchor="t">
            <a:spAutoFit/>
          </a:bodyPr>
          <a:lstStyle/>
          <a:p>
            <a:pPr algn="l" indent="0" marL="0">
              <a:lnSpc>
                <a:spcPct val="128000"/>
              </a:lnSpc>
              <a:buNone/>
            </a:pPr>
            <a:r>
              <a:rPr lang="en-US" sz="1150" dirty="0">
                <a:solidFill>
                  <a:srgbClr val="333333"/>
                </a:solidFill>
                <a:latin typeface="Noto Sans SC" pitchFamily="34" charset="0"/>
                <a:ea typeface="Noto Sans SC" pitchFamily="34" charset="-122"/>
                <a:cs typeface="Noto Sans SC" pitchFamily="34" charset="-120"/>
              </a:rPr>
              <a:t>I型板、II型板制造工艺用材、造型相比通用性能板更为复杂，</a:t>
            </a:r>
            <a:r>
              <a:rPr lang="en-US" sz="1100" b="1" dirty="0">
                <a:solidFill>
                  <a:srgbClr val="D32F2F"/>
                </a:solidFill>
                <a:latin typeface="Noto Sans SC Bold" pitchFamily="34" charset="0"/>
                <a:ea typeface="Noto Sans SC Bold" pitchFamily="34" charset="-122"/>
                <a:cs typeface="Noto Sans SC Bold" pitchFamily="34" charset="-120"/>
              </a:rPr>
              <a:t>价格每平方贵200元以上</a:t>
            </a:r>
            <a:r>
              <a:rPr lang="en-US" sz="1150" dirty="0">
                <a:solidFill>
                  <a:srgbClr val="333333"/>
                </a:solidFill>
                <a:latin typeface="Noto Sans SC" pitchFamily="34" charset="0"/>
                <a:ea typeface="Noto Sans SC" pitchFamily="34" charset="-122"/>
                <a:cs typeface="Noto Sans SC" pitchFamily="34" charset="-120"/>
              </a:rPr>
              <a:t>。</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7891109" y="357188"/>
            <a:ext cx="824266" cy="342900"/>
          </a:xfrm>
          <a:prstGeom prst="rect">
            <a:avLst/>
          </a:prstGeom>
        </p:spPr>
      </p:pic>
      <p:sp>
        <p:nvSpPr>
          <p:cNvPr id="4" name="Text 0"/>
          <p:cNvSpPr/>
          <p:nvPr/>
        </p:nvSpPr>
        <p:spPr>
          <a:xfrm>
            <a:off x="428625" y="357188"/>
            <a:ext cx="203597" cy="248245"/>
          </a:xfrm>
          <a:prstGeom prst="rect">
            <a:avLst/>
          </a:prstGeom>
          <a:noFill/>
          <a:ln/>
        </p:spPr>
        <p:txBody>
          <a:bodyPr wrap="none" lIns="0" tIns="0" rIns="0" bIns="0" rtlCol="0" anchor="t">
            <a:spAutoFit/>
          </a:bodyPr>
          <a:lstStyle/>
          <a:p>
            <a:pPr algn="l" indent="0" marL="0">
              <a:buNone/>
            </a:pPr>
            <a:r>
              <a:rPr lang="en-US" sz="1200" b="1" dirty="0">
                <a:solidFill>
                  <a:srgbClr val="1565C0"/>
                </a:solidFill>
                <a:latin typeface="Noto Sans SC Bold" pitchFamily="34" charset="0"/>
                <a:ea typeface="Noto Sans SC Bold" pitchFamily="34" charset="-122"/>
                <a:cs typeface="Noto Sans SC Bold" pitchFamily="34" charset="-120"/>
              </a:rPr>
              <a:t>15</a:t>
            </a:r>
            <a:endParaRPr lang="en-US" sz="1200" dirty="0"/>
          </a:p>
        </p:txBody>
      </p:sp>
      <p:sp>
        <p:nvSpPr>
          <p:cNvPr id="5" name="Text 1"/>
          <p:cNvSpPr/>
          <p:nvPr/>
        </p:nvSpPr>
        <p:spPr>
          <a:xfrm>
            <a:off x="785813" y="357188"/>
            <a:ext cx="3600450" cy="248245"/>
          </a:xfrm>
          <a:prstGeom prst="rect">
            <a:avLst/>
          </a:prstGeom>
          <a:noFill/>
          <a:ln/>
        </p:spPr>
        <p:txBody>
          <a:bodyPr wrap="square" lIns="0" tIns="0" rIns="0" bIns="0" rtlCol="0" anchor="t">
            <a:spAutoFit/>
          </a:bodyPr>
          <a:lstStyle/>
          <a:p>
            <a:pPr algn="l" indent="0" marL="0">
              <a:buNone/>
            </a:pPr>
            <a:r>
              <a:rPr lang="en-US" sz="1200" b="1" dirty="0">
                <a:solidFill>
                  <a:srgbClr val="333333"/>
                </a:solidFill>
                <a:latin typeface="Noto Sans SC Bold" pitchFamily="34" charset="0"/>
                <a:ea typeface="Noto Sans SC Bold" pitchFamily="34" charset="-122"/>
                <a:cs typeface="Noto Sans SC Bold" pitchFamily="34" charset="-120"/>
              </a:rPr>
              <a:t>铁路声屏障产品形式——产品性能对比（续表）</a:t>
            </a:r>
            <a:endParaRPr lang="en-US" sz="1200" dirty="0"/>
          </a:p>
        </p:txBody>
      </p:sp>
      <p:sp>
        <p:nvSpPr>
          <p:cNvPr id="6" name="Shape 2"/>
          <p:cNvSpPr/>
          <p:nvPr/>
        </p:nvSpPr>
        <p:spPr>
          <a:xfrm>
            <a:off x="439341" y="1032272"/>
            <a:ext cx="2066330" cy="428625"/>
          </a:xfrm>
          <a:prstGeom prst="rect">
            <a:avLst/>
          </a:prstGeom>
          <a:solidFill>
            <a:srgbClr val="1565C0"/>
          </a:solidFill>
          <a:ln w="9144">
            <a:solidFill>
              <a:srgbClr val="E0E0E0"/>
            </a:solidFill>
            <a:prstDash val="solid"/>
          </a:ln>
        </p:spPr>
      </p:sp>
      <p:sp>
        <p:nvSpPr>
          <p:cNvPr id="7" name="Text 3"/>
          <p:cNvSpPr/>
          <p:nvPr/>
        </p:nvSpPr>
        <p:spPr>
          <a:xfrm>
            <a:off x="439341" y="1032272"/>
            <a:ext cx="2066330" cy="428625"/>
          </a:xfrm>
          <a:prstGeom prst="rect">
            <a:avLst/>
          </a:prstGeom>
          <a:noFill/>
          <a:ln/>
        </p:spPr>
        <p:txBody>
          <a:bodyPr wrap="square" lIns="170053" tIns="127508" rIns="170053" bIns="127508" rtlCol="0" anchor="ctr">
            <a:spAutoFit/>
          </a:bodyPr>
          <a:lstStyle/>
          <a:p>
            <a:pPr algn="ctr" indent="0" marL="0">
              <a:buNone/>
            </a:pPr>
            <a:r>
              <a:rPr lang="en-US" sz="1000" b="1" dirty="0">
                <a:solidFill>
                  <a:srgbClr val="FFFFFF"/>
                </a:solidFill>
                <a:latin typeface="Noto Sans SC Bold" pitchFamily="34" charset="0"/>
                <a:ea typeface="Noto Sans SC Bold" pitchFamily="34" charset="-122"/>
                <a:cs typeface="Noto Sans SC Bold" pitchFamily="34" charset="-120"/>
              </a:rPr>
              <a:t>性能指标</a:t>
            </a:r>
            <a:endParaRPr lang="en-US" sz="1000" dirty="0"/>
          </a:p>
        </p:txBody>
      </p:sp>
      <p:sp>
        <p:nvSpPr>
          <p:cNvPr id="8" name="Shape 4"/>
          <p:cNvSpPr/>
          <p:nvPr/>
        </p:nvSpPr>
        <p:spPr>
          <a:xfrm>
            <a:off x="2505670" y="1032272"/>
            <a:ext cx="2066330" cy="428625"/>
          </a:xfrm>
          <a:prstGeom prst="rect">
            <a:avLst/>
          </a:prstGeom>
          <a:solidFill>
            <a:srgbClr val="1565C0"/>
          </a:solidFill>
          <a:ln w="9144">
            <a:solidFill>
              <a:srgbClr val="E0E0E0"/>
            </a:solidFill>
            <a:prstDash val="solid"/>
          </a:ln>
        </p:spPr>
      </p:sp>
      <p:sp>
        <p:nvSpPr>
          <p:cNvPr id="9" name="Text 5"/>
          <p:cNvSpPr/>
          <p:nvPr/>
        </p:nvSpPr>
        <p:spPr>
          <a:xfrm>
            <a:off x="2505670" y="1032272"/>
            <a:ext cx="2066330" cy="428625"/>
          </a:xfrm>
          <a:prstGeom prst="rect">
            <a:avLst/>
          </a:prstGeom>
          <a:noFill/>
          <a:ln/>
        </p:spPr>
        <p:txBody>
          <a:bodyPr wrap="square" lIns="170053" tIns="127508" rIns="170053" bIns="127508" rtlCol="0" anchor="ctr">
            <a:spAutoFit/>
          </a:bodyPr>
          <a:lstStyle/>
          <a:p>
            <a:pPr algn="ctr" indent="0" marL="0">
              <a:buNone/>
            </a:pPr>
            <a:r>
              <a:rPr lang="en-US" sz="1000" b="1" dirty="0">
                <a:solidFill>
                  <a:srgbClr val="FFFFFF"/>
                </a:solidFill>
                <a:latin typeface="Noto Sans SC Bold" pitchFamily="34" charset="0"/>
                <a:ea typeface="Noto Sans SC Bold" pitchFamily="34" charset="-122"/>
                <a:cs typeface="Noto Sans SC Bold" pitchFamily="34" charset="-120"/>
              </a:rPr>
              <a:t>通用要求产品</a:t>
            </a:r>
            <a:endParaRPr lang="en-US" sz="1000" dirty="0"/>
          </a:p>
        </p:txBody>
      </p:sp>
      <p:sp>
        <p:nvSpPr>
          <p:cNvPr id="10" name="Shape 6"/>
          <p:cNvSpPr/>
          <p:nvPr/>
        </p:nvSpPr>
        <p:spPr>
          <a:xfrm>
            <a:off x="4572000" y="1032272"/>
            <a:ext cx="2066330" cy="428625"/>
          </a:xfrm>
          <a:prstGeom prst="rect">
            <a:avLst/>
          </a:prstGeom>
          <a:solidFill>
            <a:srgbClr val="1565C0"/>
          </a:solidFill>
          <a:ln w="9144">
            <a:solidFill>
              <a:srgbClr val="E0E0E0"/>
            </a:solidFill>
            <a:prstDash val="solid"/>
          </a:ln>
        </p:spPr>
      </p:sp>
      <p:sp>
        <p:nvSpPr>
          <p:cNvPr id="11" name="Text 7"/>
          <p:cNvSpPr/>
          <p:nvPr/>
        </p:nvSpPr>
        <p:spPr>
          <a:xfrm>
            <a:off x="4572000" y="1032272"/>
            <a:ext cx="2066330" cy="428625"/>
          </a:xfrm>
          <a:prstGeom prst="rect">
            <a:avLst/>
          </a:prstGeom>
          <a:noFill/>
          <a:ln/>
        </p:spPr>
        <p:txBody>
          <a:bodyPr wrap="square" lIns="170053" tIns="127508" rIns="170053" bIns="127508" rtlCol="0" anchor="ctr">
            <a:spAutoFit/>
          </a:bodyPr>
          <a:lstStyle/>
          <a:p>
            <a:pPr algn="ctr" indent="0" marL="0">
              <a:buNone/>
            </a:pPr>
            <a:r>
              <a:rPr lang="en-US" sz="1000" b="1" dirty="0">
                <a:solidFill>
                  <a:srgbClr val="FFFFFF"/>
                </a:solidFill>
                <a:latin typeface="Noto Sans SC Bold" pitchFamily="34" charset="0"/>
                <a:ea typeface="Noto Sans SC Bold" pitchFamily="34" charset="-122"/>
                <a:cs typeface="Noto Sans SC Bold" pitchFamily="34" charset="-120"/>
              </a:rPr>
              <a:t>I型板 (Q/CR 760)</a:t>
            </a:r>
            <a:endParaRPr lang="en-US" sz="1000" dirty="0"/>
          </a:p>
        </p:txBody>
      </p:sp>
      <p:sp>
        <p:nvSpPr>
          <p:cNvPr id="12" name="Shape 8"/>
          <p:cNvSpPr/>
          <p:nvPr/>
        </p:nvSpPr>
        <p:spPr>
          <a:xfrm>
            <a:off x="6638330" y="1032272"/>
            <a:ext cx="2066330" cy="428625"/>
          </a:xfrm>
          <a:prstGeom prst="rect">
            <a:avLst/>
          </a:prstGeom>
          <a:solidFill>
            <a:srgbClr val="1565C0"/>
          </a:solidFill>
          <a:ln w="9144">
            <a:solidFill>
              <a:srgbClr val="E0E0E0"/>
            </a:solidFill>
            <a:prstDash val="solid"/>
          </a:ln>
        </p:spPr>
      </p:sp>
      <p:sp>
        <p:nvSpPr>
          <p:cNvPr id="13" name="Text 9"/>
          <p:cNvSpPr/>
          <p:nvPr/>
        </p:nvSpPr>
        <p:spPr>
          <a:xfrm>
            <a:off x="6638330" y="1032272"/>
            <a:ext cx="2066330" cy="428625"/>
          </a:xfrm>
          <a:prstGeom prst="rect">
            <a:avLst/>
          </a:prstGeom>
          <a:noFill/>
          <a:ln/>
        </p:spPr>
        <p:txBody>
          <a:bodyPr wrap="square" lIns="170053" tIns="127508" rIns="170053" bIns="127508" rtlCol="0" anchor="ctr">
            <a:spAutoFit/>
          </a:bodyPr>
          <a:lstStyle/>
          <a:p>
            <a:pPr algn="ctr" indent="0" marL="0">
              <a:buNone/>
            </a:pPr>
            <a:r>
              <a:rPr lang="en-US" sz="1000" b="1" dirty="0">
                <a:solidFill>
                  <a:srgbClr val="FFFFFF"/>
                </a:solidFill>
                <a:latin typeface="Noto Sans SC Bold" pitchFamily="34" charset="0"/>
                <a:ea typeface="Noto Sans SC Bold" pitchFamily="34" charset="-122"/>
                <a:cs typeface="Noto Sans SC Bold" pitchFamily="34" charset="-120"/>
              </a:rPr>
              <a:t>II型板 (Q/CR 870)</a:t>
            </a:r>
            <a:endParaRPr lang="en-US" sz="1000" dirty="0"/>
          </a:p>
        </p:txBody>
      </p:sp>
      <p:sp>
        <p:nvSpPr>
          <p:cNvPr id="14" name="Text 10"/>
          <p:cNvSpPr/>
          <p:nvPr/>
        </p:nvSpPr>
        <p:spPr>
          <a:xfrm>
            <a:off x="439341" y="1453753"/>
            <a:ext cx="2066330" cy="408980"/>
          </a:xfrm>
          <a:prstGeom prst="rect">
            <a:avLst/>
          </a:prstGeom>
          <a:noFill/>
          <a:ln/>
        </p:spPr>
        <p:txBody>
          <a:bodyPr wrap="square" lIns="170053" tIns="127508" rIns="170053" bIns="127508" rtlCol="0" anchor="ctr">
            <a:spAutoFit/>
          </a:bodyPr>
          <a:lstStyle/>
          <a:p>
            <a:pPr algn="ctr" indent="0" marL="0">
              <a:buNone/>
            </a:pPr>
            <a:r>
              <a:rPr lang="en-US" sz="950" dirty="0">
                <a:solidFill>
                  <a:srgbClr val="333333"/>
                </a:solidFill>
                <a:latin typeface="Noto Sans SC" pitchFamily="34" charset="0"/>
                <a:ea typeface="Noto Sans SC" pitchFamily="34" charset="-122"/>
                <a:cs typeface="Noto Sans SC" pitchFamily="34" charset="-120"/>
              </a:rPr>
              <a:t>抗风压性能</a:t>
            </a:r>
            <a:endParaRPr lang="en-US" sz="950" dirty="0"/>
          </a:p>
        </p:txBody>
      </p:sp>
      <p:sp>
        <p:nvSpPr>
          <p:cNvPr id="15" name="Text 11"/>
          <p:cNvSpPr/>
          <p:nvPr/>
        </p:nvSpPr>
        <p:spPr>
          <a:xfrm>
            <a:off x="2505670" y="1453753"/>
            <a:ext cx="2066330" cy="408980"/>
          </a:xfrm>
          <a:prstGeom prst="rect">
            <a:avLst/>
          </a:prstGeom>
          <a:noFill/>
          <a:ln/>
        </p:spPr>
        <p:txBody>
          <a:bodyPr wrap="square" lIns="170053" tIns="127508" rIns="170053" bIns="127508" rtlCol="0" anchor="ctr">
            <a:spAutoFit/>
          </a:bodyPr>
          <a:lstStyle/>
          <a:p>
            <a:pPr algn="ctr" indent="0" marL="0">
              <a:buNone/>
            </a:pPr>
            <a:r>
              <a:rPr lang="en-US" sz="950" dirty="0">
                <a:solidFill>
                  <a:srgbClr val="333333"/>
                </a:solidFill>
                <a:latin typeface="Noto Sans SC" pitchFamily="34" charset="0"/>
                <a:ea typeface="Noto Sans SC" pitchFamily="34" charset="-122"/>
                <a:cs typeface="Noto Sans SC" pitchFamily="34" charset="-120"/>
              </a:rPr>
              <a:t>[ 数据占位 ]</a:t>
            </a:r>
            <a:endParaRPr lang="en-US" sz="950" dirty="0"/>
          </a:p>
        </p:txBody>
      </p:sp>
      <p:sp>
        <p:nvSpPr>
          <p:cNvPr id="16" name="Text 12"/>
          <p:cNvSpPr/>
          <p:nvPr/>
        </p:nvSpPr>
        <p:spPr>
          <a:xfrm>
            <a:off x="4572000" y="1453753"/>
            <a:ext cx="2066330" cy="408980"/>
          </a:xfrm>
          <a:prstGeom prst="rect">
            <a:avLst/>
          </a:prstGeom>
          <a:noFill/>
          <a:ln/>
        </p:spPr>
        <p:txBody>
          <a:bodyPr wrap="square" lIns="170053" tIns="127508" rIns="170053" bIns="127508" rtlCol="0" anchor="ctr">
            <a:spAutoFit/>
          </a:bodyPr>
          <a:lstStyle/>
          <a:p>
            <a:pPr algn="ctr" indent="0" marL="0">
              <a:buNone/>
            </a:pPr>
            <a:r>
              <a:rPr lang="en-US" sz="950" dirty="0">
                <a:solidFill>
                  <a:srgbClr val="333333"/>
                </a:solidFill>
                <a:latin typeface="Noto Sans SC" pitchFamily="34" charset="0"/>
                <a:ea typeface="Noto Sans SC" pitchFamily="34" charset="-122"/>
                <a:cs typeface="Noto Sans SC" pitchFamily="34" charset="-120"/>
              </a:rPr>
              <a:t>[ 数据占位 ]</a:t>
            </a:r>
            <a:endParaRPr lang="en-US" sz="950" dirty="0"/>
          </a:p>
        </p:txBody>
      </p:sp>
      <p:sp>
        <p:nvSpPr>
          <p:cNvPr id="17" name="Text 13"/>
          <p:cNvSpPr/>
          <p:nvPr/>
        </p:nvSpPr>
        <p:spPr>
          <a:xfrm>
            <a:off x="6638330" y="1453753"/>
            <a:ext cx="2066330" cy="408980"/>
          </a:xfrm>
          <a:prstGeom prst="rect">
            <a:avLst/>
          </a:prstGeom>
          <a:noFill/>
          <a:ln/>
        </p:spPr>
        <p:txBody>
          <a:bodyPr wrap="square" lIns="170053" tIns="127508" rIns="170053" bIns="127508" rtlCol="0" anchor="ctr">
            <a:spAutoFit/>
          </a:bodyPr>
          <a:lstStyle/>
          <a:p>
            <a:pPr algn="ctr" indent="0" marL="0">
              <a:buNone/>
            </a:pPr>
            <a:r>
              <a:rPr lang="en-US" sz="950" dirty="0">
                <a:solidFill>
                  <a:srgbClr val="333333"/>
                </a:solidFill>
                <a:latin typeface="Noto Sans SC" pitchFamily="34" charset="0"/>
                <a:ea typeface="Noto Sans SC" pitchFamily="34" charset="-122"/>
                <a:cs typeface="Noto Sans SC" pitchFamily="34" charset="-120"/>
              </a:rPr>
              <a:t>[ 数据占位 ]</a:t>
            </a:r>
            <a:endParaRPr lang="en-US" sz="950" dirty="0"/>
          </a:p>
        </p:txBody>
      </p:sp>
      <p:sp>
        <p:nvSpPr>
          <p:cNvPr id="18" name="Shape 14"/>
          <p:cNvSpPr/>
          <p:nvPr/>
        </p:nvSpPr>
        <p:spPr>
          <a:xfrm>
            <a:off x="439341" y="1862733"/>
            <a:ext cx="8265319" cy="408980"/>
          </a:xfrm>
          <a:prstGeom prst="rect">
            <a:avLst/>
          </a:prstGeom>
          <a:solidFill>
            <a:srgbClr val="F8F9FA"/>
          </a:solidFill>
          <a:ln/>
        </p:spPr>
      </p:sp>
      <p:sp>
        <p:nvSpPr>
          <p:cNvPr id="19" name="Text 15"/>
          <p:cNvSpPr/>
          <p:nvPr/>
        </p:nvSpPr>
        <p:spPr>
          <a:xfrm>
            <a:off x="439341" y="1862733"/>
            <a:ext cx="2066330" cy="408980"/>
          </a:xfrm>
          <a:prstGeom prst="rect">
            <a:avLst/>
          </a:prstGeom>
          <a:noFill/>
          <a:ln/>
        </p:spPr>
        <p:txBody>
          <a:bodyPr wrap="square" lIns="170053" tIns="127508" rIns="170053" bIns="127508" rtlCol="0" anchor="ctr">
            <a:spAutoFit/>
          </a:bodyPr>
          <a:lstStyle/>
          <a:p>
            <a:pPr algn="ctr" indent="0" marL="0">
              <a:buNone/>
            </a:pPr>
            <a:r>
              <a:rPr lang="en-US" sz="950" dirty="0">
                <a:solidFill>
                  <a:srgbClr val="333333"/>
                </a:solidFill>
                <a:latin typeface="Noto Sans SC" pitchFamily="34" charset="0"/>
                <a:ea typeface="Noto Sans SC" pitchFamily="34" charset="-122"/>
                <a:cs typeface="Noto Sans SC" pitchFamily="34" charset="-120"/>
              </a:rPr>
              <a:t>抗疲劳性能</a:t>
            </a:r>
            <a:endParaRPr lang="en-US" sz="950" dirty="0"/>
          </a:p>
        </p:txBody>
      </p:sp>
      <p:sp>
        <p:nvSpPr>
          <p:cNvPr id="20" name="Text 16"/>
          <p:cNvSpPr/>
          <p:nvPr/>
        </p:nvSpPr>
        <p:spPr>
          <a:xfrm>
            <a:off x="2505670" y="1862733"/>
            <a:ext cx="2066330" cy="408980"/>
          </a:xfrm>
          <a:prstGeom prst="rect">
            <a:avLst/>
          </a:prstGeom>
          <a:noFill/>
          <a:ln/>
        </p:spPr>
        <p:txBody>
          <a:bodyPr wrap="square" lIns="170053" tIns="127508" rIns="170053" bIns="127508" rtlCol="0" anchor="ctr">
            <a:spAutoFit/>
          </a:bodyPr>
          <a:lstStyle/>
          <a:p>
            <a:pPr algn="ctr" indent="0" marL="0">
              <a:buNone/>
            </a:pPr>
            <a:r>
              <a:rPr lang="en-US" sz="950" dirty="0">
                <a:solidFill>
                  <a:srgbClr val="333333"/>
                </a:solidFill>
                <a:latin typeface="Noto Sans SC" pitchFamily="34" charset="0"/>
                <a:ea typeface="Noto Sans SC" pitchFamily="34" charset="-122"/>
                <a:cs typeface="Noto Sans SC" pitchFamily="34" charset="-120"/>
              </a:rPr>
              <a:t>[ 数据占位 ]</a:t>
            </a:r>
            <a:endParaRPr lang="en-US" sz="950" dirty="0"/>
          </a:p>
        </p:txBody>
      </p:sp>
      <p:sp>
        <p:nvSpPr>
          <p:cNvPr id="21" name="Text 17"/>
          <p:cNvSpPr/>
          <p:nvPr/>
        </p:nvSpPr>
        <p:spPr>
          <a:xfrm>
            <a:off x="4572000" y="1862733"/>
            <a:ext cx="2066330" cy="408980"/>
          </a:xfrm>
          <a:prstGeom prst="rect">
            <a:avLst/>
          </a:prstGeom>
          <a:noFill/>
          <a:ln/>
        </p:spPr>
        <p:txBody>
          <a:bodyPr wrap="square" lIns="170053" tIns="127508" rIns="170053" bIns="127508" rtlCol="0" anchor="ctr">
            <a:spAutoFit/>
          </a:bodyPr>
          <a:lstStyle/>
          <a:p>
            <a:pPr algn="ctr" indent="0" marL="0">
              <a:buNone/>
            </a:pPr>
            <a:r>
              <a:rPr lang="en-US" sz="950" dirty="0">
                <a:solidFill>
                  <a:srgbClr val="333333"/>
                </a:solidFill>
                <a:latin typeface="Noto Sans SC" pitchFamily="34" charset="0"/>
                <a:ea typeface="Noto Sans SC" pitchFamily="34" charset="-122"/>
                <a:cs typeface="Noto Sans SC" pitchFamily="34" charset="-120"/>
              </a:rPr>
              <a:t>[ 数据占位 ]</a:t>
            </a:r>
            <a:endParaRPr lang="en-US" sz="950" dirty="0"/>
          </a:p>
        </p:txBody>
      </p:sp>
      <p:sp>
        <p:nvSpPr>
          <p:cNvPr id="22" name="Text 18"/>
          <p:cNvSpPr/>
          <p:nvPr/>
        </p:nvSpPr>
        <p:spPr>
          <a:xfrm>
            <a:off x="6638330" y="1862733"/>
            <a:ext cx="2066330" cy="408980"/>
          </a:xfrm>
          <a:prstGeom prst="rect">
            <a:avLst/>
          </a:prstGeom>
          <a:noFill/>
          <a:ln/>
        </p:spPr>
        <p:txBody>
          <a:bodyPr wrap="square" lIns="170053" tIns="127508" rIns="170053" bIns="127508" rtlCol="0" anchor="ctr">
            <a:spAutoFit/>
          </a:bodyPr>
          <a:lstStyle/>
          <a:p>
            <a:pPr algn="ctr" indent="0" marL="0">
              <a:buNone/>
            </a:pPr>
            <a:r>
              <a:rPr lang="en-US" sz="950" dirty="0">
                <a:solidFill>
                  <a:srgbClr val="333333"/>
                </a:solidFill>
                <a:latin typeface="Noto Sans SC" pitchFamily="34" charset="0"/>
                <a:ea typeface="Noto Sans SC" pitchFamily="34" charset="-122"/>
                <a:cs typeface="Noto Sans SC" pitchFamily="34" charset="-120"/>
              </a:rPr>
              <a:t>[ 数据占位 ]</a:t>
            </a:r>
            <a:endParaRPr lang="en-US" sz="950" dirty="0"/>
          </a:p>
        </p:txBody>
      </p:sp>
      <p:sp>
        <p:nvSpPr>
          <p:cNvPr id="23" name="Text 19"/>
          <p:cNvSpPr/>
          <p:nvPr/>
        </p:nvSpPr>
        <p:spPr>
          <a:xfrm>
            <a:off x="439341" y="2271713"/>
            <a:ext cx="2066330" cy="408980"/>
          </a:xfrm>
          <a:prstGeom prst="rect">
            <a:avLst/>
          </a:prstGeom>
          <a:noFill/>
          <a:ln/>
        </p:spPr>
        <p:txBody>
          <a:bodyPr wrap="square" lIns="170053" tIns="127508" rIns="170053" bIns="127508" rtlCol="0" anchor="ctr">
            <a:spAutoFit/>
          </a:bodyPr>
          <a:lstStyle/>
          <a:p>
            <a:pPr algn="ctr" indent="0" marL="0">
              <a:buNone/>
            </a:pPr>
            <a:r>
              <a:rPr lang="en-US" sz="950" dirty="0">
                <a:solidFill>
                  <a:srgbClr val="333333"/>
                </a:solidFill>
                <a:latin typeface="Noto Sans SC" pitchFamily="34" charset="0"/>
                <a:ea typeface="Noto Sans SC" pitchFamily="34" charset="-122"/>
                <a:cs typeface="Noto Sans SC" pitchFamily="34" charset="-120"/>
              </a:rPr>
              <a:t>防腐年限</a:t>
            </a:r>
            <a:endParaRPr lang="en-US" sz="950" dirty="0"/>
          </a:p>
        </p:txBody>
      </p:sp>
      <p:sp>
        <p:nvSpPr>
          <p:cNvPr id="24" name="Text 20"/>
          <p:cNvSpPr/>
          <p:nvPr/>
        </p:nvSpPr>
        <p:spPr>
          <a:xfrm>
            <a:off x="2505670" y="2271713"/>
            <a:ext cx="2066330" cy="408980"/>
          </a:xfrm>
          <a:prstGeom prst="rect">
            <a:avLst/>
          </a:prstGeom>
          <a:noFill/>
          <a:ln/>
        </p:spPr>
        <p:txBody>
          <a:bodyPr wrap="square" lIns="170053" tIns="127508" rIns="170053" bIns="127508" rtlCol="0" anchor="ctr">
            <a:spAutoFit/>
          </a:bodyPr>
          <a:lstStyle/>
          <a:p>
            <a:pPr algn="ctr" indent="0" marL="0">
              <a:buNone/>
            </a:pPr>
            <a:r>
              <a:rPr lang="en-US" sz="950" dirty="0">
                <a:solidFill>
                  <a:srgbClr val="333333"/>
                </a:solidFill>
                <a:latin typeface="Noto Sans SC" pitchFamily="34" charset="0"/>
                <a:ea typeface="Noto Sans SC" pitchFamily="34" charset="-122"/>
                <a:cs typeface="Noto Sans SC" pitchFamily="34" charset="-120"/>
              </a:rPr>
              <a:t>[ 数据占位 ]</a:t>
            </a:r>
            <a:endParaRPr lang="en-US" sz="950" dirty="0"/>
          </a:p>
        </p:txBody>
      </p:sp>
      <p:sp>
        <p:nvSpPr>
          <p:cNvPr id="25" name="Text 21"/>
          <p:cNvSpPr/>
          <p:nvPr/>
        </p:nvSpPr>
        <p:spPr>
          <a:xfrm>
            <a:off x="4572000" y="2271713"/>
            <a:ext cx="2066330" cy="408980"/>
          </a:xfrm>
          <a:prstGeom prst="rect">
            <a:avLst/>
          </a:prstGeom>
          <a:noFill/>
          <a:ln/>
        </p:spPr>
        <p:txBody>
          <a:bodyPr wrap="square" lIns="170053" tIns="127508" rIns="170053" bIns="127508" rtlCol="0" anchor="ctr">
            <a:spAutoFit/>
          </a:bodyPr>
          <a:lstStyle/>
          <a:p>
            <a:pPr algn="ctr" indent="0" marL="0">
              <a:buNone/>
            </a:pPr>
            <a:r>
              <a:rPr lang="en-US" sz="950" dirty="0">
                <a:solidFill>
                  <a:srgbClr val="333333"/>
                </a:solidFill>
                <a:latin typeface="Noto Sans SC" pitchFamily="34" charset="0"/>
                <a:ea typeface="Noto Sans SC" pitchFamily="34" charset="-122"/>
                <a:cs typeface="Noto Sans SC" pitchFamily="34" charset="-120"/>
              </a:rPr>
              <a:t>[ 数据占位 ]</a:t>
            </a:r>
            <a:endParaRPr lang="en-US" sz="950" dirty="0"/>
          </a:p>
        </p:txBody>
      </p:sp>
      <p:sp>
        <p:nvSpPr>
          <p:cNvPr id="26" name="Text 22"/>
          <p:cNvSpPr/>
          <p:nvPr/>
        </p:nvSpPr>
        <p:spPr>
          <a:xfrm>
            <a:off x="6638330" y="2271713"/>
            <a:ext cx="2066330" cy="408980"/>
          </a:xfrm>
          <a:prstGeom prst="rect">
            <a:avLst/>
          </a:prstGeom>
          <a:noFill/>
          <a:ln/>
        </p:spPr>
        <p:txBody>
          <a:bodyPr wrap="square" lIns="170053" tIns="127508" rIns="170053" bIns="127508" rtlCol="0" anchor="ctr">
            <a:spAutoFit/>
          </a:bodyPr>
          <a:lstStyle/>
          <a:p>
            <a:pPr algn="ctr" indent="0" marL="0">
              <a:buNone/>
            </a:pPr>
            <a:r>
              <a:rPr lang="en-US" sz="950" dirty="0">
                <a:solidFill>
                  <a:srgbClr val="333333"/>
                </a:solidFill>
                <a:latin typeface="Noto Sans SC" pitchFamily="34" charset="0"/>
                <a:ea typeface="Noto Sans SC" pitchFamily="34" charset="-122"/>
                <a:cs typeface="Noto Sans SC" pitchFamily="34" charset="-120"/>
              </a:rPr>
              <a:t>[ 数据占位 ]</a:t>
            </a:r>
            <a:endParaRPr lang="en-US" sz="950" dirty="0"/>
          </a:p>
        </p:txBody>
      </p:sp>
      <p:sp>
        <p:nvSpPr>
          <p:cNvPr id="27" name="Shape 23"/>
          <p:cNvSpPr/>
          <p:nvPr/>
        </p:nvSpPr>
        <p:spPr>
          <a:xfrm>
            <a:off x="439341" y="2680692"/>
            <a:ext cx="8265319" cy="408980"/>
          </a:xfrm>
          <a:prstGeom prst="rect">
            <a:avLst/>
          </a:prstGeom>
          <a:solidFill>
            <a:srgbClr val="F8F9FA"/>
          </a:solidFill>
          <a:ln/>
        </p:spPr>
      </p:sp>
      <p:sp>
        <p:nvSpPr>
          <p:cNvPr id="28" name="Text 24"/>
          <p:cNvSpPr/>
          <p:nvPr/>
        </p:nvSpPr>
        <p:spPr>
          <a:xfrm>
            <a:off x="439341" y="2680692"/>
            <a:ext cx="2066330" cy="408980"/>
          </a:xfrm>
          <a:prstGeom prst="rect">
            <a:avLst/>
          </a:prstGeom>
          <a:noFill/>
          <a:ln/>
        </p:spPr>
        <p:txBody>
          <a:bodyPr wrap="square" lIns="170053" tIns="127508" rIns="170053" bIns="127508" rtlCol="0" anchor="ctr">
            <a:spAutoFit/>
          </a:bodyPr>
          <a:lstStyle/>
          <a:p>
            <a:pPr algn="ctr" indent="0" marL="0">
              <a:buNone/>
            </a:pPr>
            <a:r>
              <a:rPr lang="en-US" sz="950" dirty="0">
                <a:solidFill>
                  <a:srgbClr val="333333"/>
                </a:solidFill>
                <a:latin typeface="Noto Sans SC" pitchFamily="34" charset="0"/>
                <a:ea typeface="Noto Sans SC" pitchFamily="34" charset="-122"/>
                <a:cs typeface="Noto Sans SC" pitchFamily="34" charset="-120"/>
              </a:rPr>
              <a:t>防火等级</a:t>
            </a:r>
            <a:endParaRPr lang="en-US" sz="950" dirty="0"/>
          </a:p>
        </p:txBody>
      </p:sp>
      <p:sp>
        <p:nvSpPr>
          <p:cNvPr id="29" name="Text 25"/>
          <p:cNvSpPr/>
          <p:nvPr/>
        </p:nvSpPr>
        <p:spPr>
          <a:xfrm>
            <a:off x="2505670" y="2680692"/>
            <a:ext cx="2066330" cy="408980"/>
          </a:xfrm>
          <a:prstGeom prst="rect">
            <a:avLst/>
          </a:prstGeom>
          <a:noFill/>
          <a:ln/>
        </p:spPr>
        <p:txBody>
          <a:bodyPr wrap="square" lIns="170053" tIns="127508" rIns="170053" bIns="127508" rtlCol="0" anchor="ctr">
            <a:spAutoFit/>
          </a:bodyPr>
          <a:lstStyle/>
          <a:p>
            <a:pPr algn="ctr" indent="0" marL="0">
              <a:buNone/>
            </a:pPr>
            <a:r>
              <a:rPr lang="en-US" sz="950" dirty="0">
                <a:solidFill>
                  <a:srgbClr val="333333"/>
                </a:solidFill>
                <a:latin typeface="Noto Sans SC" pitchFamily="34" charset="0"/>
                <a:ea typeface="Noto Sans SC" pitchFamily="34" charset="-122"/>
                <a:cs typeface="Noto Sans SC" pitchFamily="34" charset="-120"/>
              </a:rPr>
              <a:t>[ 数据占位 ]</a:t>
            </a:r>
            <a:endParaRPr lang="en-US" sz="950" dirty="0"/>
          </a:p>
        </p:txBody>
      </p:sp>
      <p:sp>
        <p:nvSpPr>
          <p:cNvPr id="30" name="Text 26"/>
          <p:cNvSpPr/>
          <p:nvPr/>
        </p:nvSpPr>
        <p:spPr>
          <a:xfrm>
            <a:off x="4572000" y="2680692"/>
            <a:ext cx="2066330" cy="408980"/>
          </a:xfrm>
          <a:prstGeom prst="rect">
            <a:avLst/>
          </a:prstGeom>
          <a:noFill/>
          <a:ln/>
        </p:spPr>
        <p:txBody>
          <a:bodyPr wrap="square" lIns="170053" tIns="127508" rIns="170053" bIns="127508" rtlCol="0" anchor="ctr">
            <a:spAutoFit/>
          </a:bodyPr>
          <a:lstStyle/>
          <a:p>
            <a:pPr algn="ctr" indent="0" marL="0">
              <a:buNone/>
            </a:pPr>
            <a:r>
              <a:rPr lang="en-US" sz="950" dirty="0">
                <a:solidFill>
                  <a:srgbClr val="333333"/>
                </a:solidFill>
                <a:latin typeface="Noto Sans SC" pitchFamily="34" charset="0"/>
                <a:ea typeface="Noto Sans SC" pitchFamily="34" charset="-122"/>
                <a:cs typeface="Noto Sans SC" pitchFamily="34" charset="-120"/>
              </a:rPr>
              <a:t>[ 数据占位 ]</a:t>
            </a:r>
            <a:endParaRPr lang="en-US" sz="950" dirty="0"/>
          </a:p>
        </p:txBody>
      </p:sp>
      <p:sp>
        <p:nvSpPr>
          <p:cNvPr id="31" name="Text 27"/>
          <p:cNvSpPr/>
          <p:nvPr/>
        </p:nvSpPr>
        <p:spPr>
          <a:xfrm>
            <a:off x="6638330" y="2680692"/>
            <a:ext cx="2066330" cy="408980"/>
          </a:xfrm>
          <a:prstGeom prst="rect">
            <a:avLst/>
          </a:prstGeom>
          <a:noFill/>
          <a:ln/>
        </p:spPr>
        <p:txBody>
          <a:bodyPr wrap="square" lIns="170053" tIns="127508" rIns="170053" bIns="127508" rtlCol="0" anchor="ctr">
            <a:spAutoFit/>
          </a:bodyPr>
          <a:lstStyle/>
          <a:p>
            <a:pPr algn="ctr" indent="0" marL="0">
              <a:buNone/>
            </a:pPr>
            <a:r>
              <a:rPr lang="en-US" sz="950" dirty="0">
                <a:solidFill>
                  <a:srgbClr val="333333"/>
                </a:solidFill>
                <a:latin typeface="Noto Sans SC" pitchFamily="34" charset="0"/>
                <a:ea typeface="Noto Sans SC" pitchFamily="34" charset="-122"/>
                <a:cs typeface="Noto Sans SC" pitchFamily="34" charset="-120"/>
              </a:rPr>
              <a:t>[ 数据占位 ]</a:t>
            </a:r>
            <a:endParaRPr lang="en-US" sz="950" dirty="0"/>
          </a:p>
        </p:txBody>
      </p:sp>
      <p:sp>
        <p:nvSpPr>
          <p:cNvPr id="32" name="Text 28"/>
          <p:cNvSpPr/>
          <p:nvPr/>
        </p:nvSpPr>
        <p:spPr>
          <a:xfrm>
            <a:off x="439341" y="3089672"/>
            <a:ext cx="2066330" cy="408980"/>
          </a:xfrm>
          <a:prstGeom prst="rect">
            <a:avLst/>
          </a:prstGeom>
          <a:noFill/>
          <a:ln/>
        </p:spPr>
        <p:txBody>
          <a:bodyPr wrap="square" lIns="170053" tIns="127508" rIns="170053" bIns="127508" rtlCol="0" anchor="ctr">
            <a:spAutoFit/>
          </a:bodyPr>
          <a:lstStyle/>
          <a:p>
            <a:pPr algn="ctr" indent="0" marL="0">
              <a:buNone/>
            </a:pPr>
            <a:r>
              <a:rPr lang="en-US" sz="950" dirty="0">
                <a:solidFill>
                  <a:srgbClr val="333333"/>
                </a:solidFill>
                <a:latin typeface="Noto Sans SC" pitchFamily="34" charset="0"/>
                <a:ea typeface="Noto Sans SC" pitchFamily="34" charset="-122"/>
                <a:cs typeface="Noto Sans SC" pitchFamily="34" charset="-120"/>
              </a:rPr>
              <a:t>环保要求</a:t>
            </a:r>
            <a:endParaRPr lang="en-US" sz="950" dirty="0"/>
          </a:p>
        </p:txBody>
      </p:sp>
      <p:sp>
        <p:nvSpPr>
          <p:cNvPr id="33" name="Text 29"/>
          <p:cNvSpPr/>
          <p:nvPr/>
        </p:nvSpPr>
        <p:spPr>
          <a:xfrm>
            <a:off x="2505670" y="3089672"/>
            <a:ext cx="2066330" cy="408980"/>
          </a:xfrm>
          <a:prstGeom prst="rect">
            <a:avLst/>
          </a:prstGeom>
          <a:noFill/>
          <a:ln/>
        </p:spPr>
        <p:txBody>
          <a:bodyPr wrap="square" lIns="170053" tIns="127508" rIns="170053" bIns="127508" rtlCol="0" anchor="ctr">
            <a:spAutoFit/>
          </a:bodyPr>
          <a:lstStyle/>
          <a:p>
            <a:pPr algn="ctr" indent="0" marL="0">
              <a:buNone/>
            </a:pPr>
            <a:r>
              <a:rPr lang="en-US" sz="950" dirty="0">
                <a:solidFill>
                  <a:srgbClr val="333333"/>
                </a:solidFill>
                <a:latin typeface="Noto Sans SC" pitchFamily="34" charset="0"/>
                <a:ea typeface="Noto Sans SC" pitchFamily="34" charset="-122"/>
                <a:cs typeface="Noto Sans SC" pitchFamily="34" charset="-120"/>
              </a:rPr>
              <a:t>[ 数据占位 ]</a:t>
            </a:r>
            <a:endParaRPr lang="en-US" sz="950" dirty="0"/>
          </a:p>
        </p:txBody>
      </p:sp>
      <p:sp>
        <p:nvSpPr>
          <p:cNvPr id="34" name="Text 30"/>
          <p:cNvSpPr/>
          <p:nvPr/>
        </p:nvSpPr>
        <p:spPr>
          <a:xfrm>
            <a:off x="4572000" y="3089672"/>
            <a:ext cx="2066330" cy="408980"/>
          </a:xfrm>
          <a:prstGeom prst="rect">
            <a:avLst/>
          </a:prstGeom>
          <a:noFill/>
          <a:ln/>
        </p:spPr>
        <p:txBody>
          <a:bodyPr wrap="square" lIns="170053" tIns="127508" rIns="170053" bIns="127508" rtlCol="0" anchor="ctr">
            <a:spAutoFit/>
          </a:bodyPr>
          <a:lstStyle/>
          <a:p>
            <a:pPr algn="ctr" indent="0" marL="0">
              <a:buNone/>
            </a:pPr>
            <a:r>
              <a:rPr lang="en-US" sz="950" dirty="0">
                <a:solidFill>
                  <a:srgbClr val="333333"/>
                </a:solidFill>
                <a:latin typeface="Noto Sans SC" pitchFamily="34" charset="0"/>
                <a:ea typeface="Noto Sans SC" pitchFamily="34" charset="-122"/>
                <a:cs typeface="Noto Sans SC" pitchFamily="34" charset="-120"/>
              </a:rPr>
              <a:t>[ 数据占位 ]</a:t>
            </a:r>
            <a:endParaRPr lang="en-US" sz="950" dirty="0"/>
          </a:p>
        </p:txBody>
      </p:sp>
      <p:sp>
        <p:nvSpPr>
          <p:cNvPr id="35" name="Text 31"/>
          <p:cNvSpPr/>
          <p:nvPr/>
        </p:nvSpPr>
        <p:spPr>
          <a:xfrm>
            <a:off x="6638330" y="3089672"/>
            <a:ext cx="2066330" cy="408980"/>
          </a:xfrm>
          <a:prstGeom prst="rect">
            <a:avLst/>
          </a:prstGeom>
          <a:noFill/>
          <a:ln/>
        </p:spPr>
        <p:txBody>
          <a:bodyPr wrap="square" lIns="170053" tIns="127508" rIns="170053" bIns="127508" rtlCol="0" anchor="ctr">
            <a:spAutoFit/>
          </a:bodyPr>
          <a:lstStyle/>
          <a:p>
            <a:pPr algn="ctr" indent="0" marL="0">
              <a:buNone/>
            </a:pPr>
            <a:r>
              <a:rPr lang="en-US" sz="950" dirty="0">
                <a:solidFill>
                  <a:srgbClr val="333333"/>
                </a:solidFill>
                <a:latin typeface="Noto Sans SC" pitchFamily="34" charset="0"/>
                <a:ea typeface="Noto Sans SC" pitchFamily="34" charset="-122"/>
                <a:cs typeface="Noto Sans SC" pitchFamily="34" charset="-120"/>
              </a:rPr>
              <a:t>[ 数据占位 ]</a:t>
            </a:r>
            <a:endParaRPr lang="en-US" sz="950" dirty="0"/>
          </a:p>
        </p:txBody>
      </p:sp>
      <p:sp>
        <p:nvSpPr>
          <p:cNvPr id="36" name="Shape 32"/>
          <p:cNvSpPr/>
          <p:nvPr/>
        </p:nvSpPr>
        <p:spPr>
          <a:xfrm>
            <a:off x="439341" y="3498652"/>
            <a:ext cx="8265319" cy="623292"/>
          </a:xfrm>
          <a:prstGeom prst="rect">
            <a:avLst/>
          </a:prstGeom>
          <a:solidFill>
            <a:srgbClr val="F8F9FA"/>
          </a:solidFill>
          <a:ln/>
        </p:spPr>
      </p:sp>
      <p:sp>
        <p:nvSpPr>
          <p:cNvPr id="37" name="Text 33"/>
          <p:cNvSpPr/>
          <p:nvPr/>
        </p:nvSpPr>
        <p:spPr>
          <a:xfrm>
            <a:off x="439341" y="3498652"/>
            <a:ext cx="8265319" cy="623292"/>
          </a:xfrm>
          <a:prstGeom prst="rect">
            <a:avLst/>
          </a:prstGeom>
          <a:noFill/>
          <a:ln/>
        </p:spPr>
        <p:txBody>
          <a:bodyPr wrap="square" lIns="170053" tIns="255143" rIns="170053" bIns="255143" rtlCol="0" anchor="ctr">
            <a:spAutoFit/>
          </a:bodyPr>
          <a:lstStyle/>
          <a:p>
            <a:pPr algn="ctr" indent="0" marL="0">
              <a:buNone/>
            </a:pPr>
            <a:r>
              <a:rPr lang="en-US" sz="950" i="1" dirty="0">
                <a:solidFill>
                  <a:srgbClr val="999999"/>
                </a:solidFill>
                <a:latin typeface="Noto Sans SC" pitchFamily="34" charset="0"/>
                <a:ea typeface="Noto Sans SC" pitchFamily="34" charset="-122"/>
                <a:cs typeface="Noto Sans SC" pitchFamily="34" charset="-120"/>
              </a:rPr>
              <a:t>（请在此处插入原PPT中的详细性能对比数据）</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7891109" y="285750"/>
            <a:ext cx="824266" cy="342900"/>
          </a:xfrm>
          <a:prstGeom prst="rect">
            <a:avLst/>
          </a:prstGeom>
        </p:spPr>
      </p:pic>
      <p:sp>
        <p:nvSpPr>
          <p:cNvPr id="4" name="Text 0"/>
          <p:cNvSpPr/>
          <p:nvPr/>
        </p:nvSpPr>
        <p:spPr>
          <a:xfrm>
            <a:off x="2971800" y="1543050"/>
            <a:ext cx="3200400" cy="826889"/>
          </a:xfrm>
          <a:prstGeom prst="rect">
            <a:avLst/>
          </a:prstGeom>
          <a:noFill/>
          <a:ln/>
        </p:spPr>
        <p:txBody>
          <a:bodyPr wrap="square" lIns="0" tIns="0" rIns="0" bIns="0" rtlCol="0" anchor="t">
            <a:spAutoFit/>
          </a:bodyPr>
          <a:lstStyle/>
          <a:p>
            <a:pPr algn="ctr" indent="0" marL="0">
              <a:buNone/>
            </a:pPr>
            <a:r>
              <a:rPr lang="en-US" sz="4150" b="1" spc="3" kern="0" dirty="0">
                <a:solidFill>
                  <a:srgbClr val="1565C0"/>
                </a:solidFill>
                <a:latin typeface="Noto Sans SC Black" pitchFamily="34" charset="0"/>
                <a:ea typeface="Noto Sans SC Black" pitchFamily="34" charset="-122"/>
                <a:cs typeface="Noto Sans SC Black" pitchFamily="34" charset="-120"/>
              </a:rPr>
              <a:t>感谢观看</a:t>
            </a:r>
            <a:endParaRPr lang="en-US" sz="4150" dirty="0"/>
          </a:p>
        </p:txBody>
      </p:sp>
      <p:sp>
        <p:nvSpPr>
          <p:cNvPr id="5" name="Text 1"/>
          <p:cNvSpPr/>
          <p:nvPr/>
        </p:nvSpPr>
        <p:spPr>
          <a:xfrm>
            <a:off x="2971800" y="2512814"/>
            <a:ext cx="3200400" cy="330398"/>
          </a:xfrm>
          <a:prstGeom prst="rect">
            <a:avLst/>
          </a:prstGeom>
          <a:noFill/>
          <a:ln/>
        </p:spPr>
        <p:txBody>
          <a:bodyPr wrap="square" lIns="0" tIns="0" rIns="0" bIns="0" rtlCol="0" anchor="t">
            <a:spAutoFit/>
          </a:bodyPr>
          <a:lstStyle/>
          <a:p>
            <a:pPr algn="ctr" indent="0" marL="0">
              <a:buNone/>
            </a:pPr>
            <a:r>
              <a:rPr lang="en-US" sz="1700" dirty="0">
                <a:solidFill>
                  <a:srgbClr val="1A3A6B"/>
                </a:solidFill>
                <a:latin typeface="Noto Sans SC Medium" pitchFamily="34" charset="0"/>
                <a:ea typeface="Noto Sans SC Medium" pitchFamily="34" charset="-122"/>
                <a:cs typeface="Noto Sans SC Medium" pitchFamily="34" charset="-120"/>
              </a:rPr>
              <a:t>铁路声屏障行业背景与技术发展</a:t>
            </a:r>
            <a:endParaRPr lang="en-US" sz="1700" dirty="0"/>
          </a:p>
        </p:txBody>
      </p:sp>
      <p:sp>
        <p:nvSpPr>
          <p:cNvPr id="6" name="Shape 2"/>
          <p:cNvSpPr/>
          <p:nvPr/>
        </p:nvSpPr>
        <p:spPr>
          <a:xfrm>
            <a:off x="0" y="4143375"/>
            <a:ext cx="9144000" cy="1000125"/>
          </a:xfrm>
          <a:prstGeom prst="rect">
            <a:avLst/>
          </a:prstGeom>
          <a:solidFill>
            <a:srgbClr val="1A3A6B"/>
          </a:solidFill>
          <a:ln/>
        </p:spPr>
      </p:sp>
      <p:sp>
        <p:nvSpPr>
          <p:cNvPr id="7" name="Text 3"/>
          <p:cNvSpPr/>
          <p:nvPr/>
        </p:nvSpPr>
        <p:spPr>
          <a:xfrm>
            <a:off x="8258175" y="4563461"/>
            <a:ext cx="457200" cy="182863"/>
          </a:xfrm>
          <a:prstGeom prst="rect">
            <a:avLst/>
          </a:prstGeom>
          <a:noFill/>
          <a:ln/>
        </p:spPr>
        <p:txBody>
          <a:bodyPr wrap="none" lIns="0" tIns="0" rIns="0" bIns="0" rtlCol="0" anchor="t">
            <a:spAutoFit/>
          </a:bodyPr>
          <a:lstStyle/>
          <a:p>
            <a:pPr algn="r" indent="0" marL="0">
              <a:lnSpc>
                <a:spcPct val="128000"/>
              </a:lnSpc>
              <a:buNone/>
            </a:pPr>
            <a:r>
              <a:rPr lang="en-US" sz="850" dirty="0">
                <a:solidFill>
                  <a:srgbClr val="FFFFFF"/>
                </a:solidFill>
                <a:latin typeface="Noto Sans SC" pitchFamily="34" charset="0"/>
                <a:ea typeface="Noto Sans SC" pitchFamily="34" charset="-122"/>
                <a:cs typeface="Noto Sans SC" pitchFamily="34" charset="-120"/>
              </a:rPr>
              <a:t>中驰股份</a:t>
            </a:r>
            <a:endParaRPr lang="en-US" sz="850" dirty="0"/>
          </a:p>
        </p:txBody>
      </p:sp>
      <p:sp>
        <p:nvSpPr>
          <p:cNvPr id="8" name="Text 4"/>
          <p:cNvSpPr/>
          <p:nvPr/>
        </p:nvSpPr>
        <p:spPr>
          <a:xfrm>
            <a:off x="8258175" y="4746324"/>
            <a:ext cx="457200" cy="182863"/>
          </a:xfrm>
          <a:prstGeom prst="rect">
            <a:avLst/>
          </a:prstGeom>
          <a:noFill/>
          <a:ln/>
        </p:spPr>
        <p:txBody>
          <a:bodyPr wrap="none" lIns="0" tIns="0" rIns="0" bIns="0" rtlCol="0" anchor="t">
            <a:spAutoFit/>
          </a:bodyPr>
          <a:lstStyle/>
          <a:p>
            <a:pPr algn="r" indent="0" marL="0">
              <a:lnSpc>
                <a:spcPct val="128000"/>
              </a:lnSpc>
              <a:buNone/>
            </a:pPr>
            <a:r>
              <a:rPr lang="en-US" sz="850" dirty="0">
                <a:solidFill>
                  <a:srgbClr val="FFFFFF"/>
                </a:solidFill>
                <a:latin typeface="Noto Sans SC" pitchFamily="34" charset="0"/>
                <a:ea typeface="Noto Sans SC" pitchFamily="34" charset="-122"/>
                <a:cs typeface="Noto Sans SC" pitchFamily="34" charset="-120"/>
              </a:rPr>
              <a:t>2026年</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2026-05-05T12:20:28Z</dcterms:created>
  <dcterms:modified xsi:type="dcterms:W3CDTF">2026-05-05T12:20:28Z</dcterms:modified>
</cp:coreProperties>
</file>