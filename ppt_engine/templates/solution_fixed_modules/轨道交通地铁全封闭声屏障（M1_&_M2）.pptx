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61" r:id="rId3"/>
    <p:sldId id="262" r:id="rId4"/>
    <p:sldId id="263" r:id="rId5"/>
    <p:sldId id="264" r:id="rId6"/>
    <p:sldId id="265" r:id="rId7"/>
    <p:sldId id="266" r:id="rId8"/>
    <p:sldId id="271" r:id="rId9"/>
    <p:sldId id="272" r:id="rId10"/>
  </p:sldIdLst>
  <p:sldSz cx="11522075" cy="6480175"/>
  <p:notesSz cx="6797675" cy="9926320"/>
  <p:custDataLst>
    <p:tags r:id="rId17"/>
  </p:custDataLst>
  <p:defaultTextStyle>
    <a:defPPr>
      <a:defRPr lang="zh-CN"/>
    </a:defPPr>
    <a:lvl1pPr marL="0" lvl="0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1pPr>
    <a:lvl2pPr marL="457200" lvl="1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2pPr>
    <a:lvl3pPr marL="914400" lvl="2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3pPr>
    <a:lvl4pPr marL="1371600" lvl="3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4pPr>
    <a:lvl5pPr marL="1828800" lvl="4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5pPr>
    <a:lvl6pPr marL="2286000" lvl="5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6pPr>
    <a:lvl7pPr marL="2743200" lvl="6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7pPr>
    <a:lvl8pPr marL="3200400" lvl="7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8pPr>
    <a:lvl9pPr marL="3657600" lvl="8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2280" userDrawn="1">
          <p15:clr>
            <a:srgbClr val="A4A3A4"/>
          </p15:clr>
        </p15:guide>
        <p15:guide id="2" pos="370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曹萍萍" initials="cpp" lastIdx="1" clrIdx="0"/>
  <p:cmAuthor id="29" name="wefe" initials="w" lastIdx="0" clrIdx="28"/>
  <p:cmAuthor id="1" name="幸全" initials="幸全" lastIdx="1" clrIdx="0"/>
  <p:cmAuthor id="30" name="ushop" initials="u" lastIdx="0" clrIdx="29"/>
  <p:cmAuthor id="2" name="作者" initials="A" lastIdx="0" clrIdx="1"/>
  <p:cmAuthor id="31" name="admin" initials="a" lastIdx="0" clrIdx="30"/>
  <p:cmAuthor id="3" name="u3265" initials="u" lastIdx="2" clrIdx="2"/>
  <p:cmAuthor id="4" name="fuziyi" initials="f" lastIdx="1" clrIdx="3"/>
  <p:cmAuthor id="5" name="肖卫杰" initials="肖" lastIdx="10" clrIdx="0"/>
  <p:cmAuthor id="6" name="alj2016" initials="a" lastIdx="1" clrIdx="5"/>
  <p:cmAuthor id="8" name="fangyonghua" initials="f" lastIdx="1" clrIdx="7"/>
  <p:cmAuthor id="9" name="张娜_J7jynmI3" initials="authorId_2328097559" lastIdx="0" clrIdx="8"/>
  <p:cmAuthor id="10" name="zhanghongtao" initials="z" lastIdx="0" clrIdx="9"/>
  <p:cmAuthor id="11" name="840456548" initials="8" lastIdx="0" clrIdx="10"/>
  <p:cmAuthor id="12" name="裔蕾" initials="裔蕾" lastIdx="0" clrIdx="11"/>
  <p:cmAuthor id="13" name="龚挺" initials="龚挺" lastIdx="0" clrIdx="12"/>
  <p:cmAuthor id="14" name="soonersxb" initials="s" lastIdx="0" clrIdx="13"/>
  <p:cmAuthor id="15" name="wangdan" initials="王丹" lastIdx="0" clrIdx="14"/>
  <p:cmAuthor id="16" name="1206988966@qq.com" initials="1" lastIdx="0" clrIdx="15"/>
  <p:cmAuthor id="17" name="姜伟光" initials="姜" lastIdx="0" clrIdx="16"/>
  <p:cmAuthor id="18" name="lenovo" initials="l" lastIdx="0" clrIdx="17"/>
  <p:cmAuthor id="19" name="Administrator" initials="A" lastIdx="0" clrIdx="18"/>
  <p:cmAuthor id="20" name="宋洁然" initials="宋" lastIdx="0" clrIdx="19"/>
  <p:cmAuthor id="21" name="ming qiu" initials="m" lastIdx="0" clrIdx="20"/>
  <p:cmAuthor id="22" name="胡潇文" initials="胡" lastIdx="0" clrIdx="21"/>
  <p:cmAuthor id="23" name="hu Selene" initials="hS" lastIdx="0" clrIdx="22"/>
  <p:cmAuthor id="24" name="Wang Rui" initials="WR" lastIdx="0" clrIdx="23"/>
  <p:cmAuthor id="25" name="DrYan" initials="D" lastIdx="0" clrIdx="24"/>
  <p:cmAuthor id="26" name="Lenovo" initials="L" lastIdx="0" clrIdx="25"/>
  <p:cmAuthor id="27" name="李 金峰" initials="李" lastIdx="0" clrIdx="26"/>
  <p:cmAuthor id="28" name="秦方方" initials="秦方方" lastIdx="0" clrIdx="2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 scaleToFitPaper="1"/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58C4"/>
    <a:srgbClr val="BFBFBF"/>
    <a:srgbClr val="297ED5"/>
    <a:srgbClr val="0062B1"/>
    <a:srgbClr val="22C50C"/>
    <a:srgbClr val="C2BFD0"/>
    <a:srgbClr val="E4E5EA"/>
    <a:srgbClr val="C4BCC6"/>
    <a:srgbClr val="C4C3D5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75"/>
    <p:restoredTop sz="88943" autoAdjust="0"/>
  </p:normalViewPr>
  <p:slideViewPr>
    <p:cSldViewPr snapToObjects="1" showGuides="1">
      <p:cViewPr varScale="1">
        <p:scale>
          <a:sx n="103" d="100"/>
          <a:sy n="103" d="100"/>
        </p:scale>
        <p:origin x="168" y="96"/>
      </p:cViewPr>
      <p:guideLst>
        <p:guide orient="horz" pos="2280"/>
        <p:guide pos="3703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70" d="100"/>
        <a:sy n="70" d="100"/>
      </p:scale>
      <p:origin x="0" y="-2280"/>
    </p:cViewPr>
  </p:sorter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5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defRPr sz="1200" noProof="1"/>
            </a:lvl1pPr>
          </a:lstStyle>
          <a:p>
            <a:pPr marL="0" marR="0" lvl="0" indent="0" algn="l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 Linotype" panose="02040502050505030304" pitchFamily="18" charset="0"/>
              <a:ea typeface="宋体" panose="02010600030101010101" pitchFamily="2" charset="-122"/>
              <a:cs typeface="+mn-cs"/>
              <a:sym typeface="等线" panose="02010600030101010101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defRPr sz="1200" noProof="1" smtClean="0">
                <a:latin typeface="+mn-lt"/>
                <a:ea typeface="+mn-ea"/>
              </a:defRPr>
            </a:lvl1pPr>
          </a:lstStyle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4F3ECC0-6A79-47F3-B72E-62BC6FA2937C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等线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  <a:sym typeface="等线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defRPr sz="1200" noProof="1"/>
            </a:lvl1pPr>
          </a:lstStyle>
          <a:p>
            <a:pPr marL="0" marR="0" lvl="0" indent="0" algn="l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 Linotype" panose="02040502050505030304" pitchFamily="18" charset="0"/>
              <a:ea typeface="宋体" panose="02010600030101010101" pitchFamily="2" charset="-122"/>
              <a:cs typeface="+mn-cs"/>
              <a:sym typeface="等线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defRPr sz="1200" noProof="1" smtClean="0">
                <a:latin typeface="+mn-lt"/>
                <a:ea typeface="+mn-ea"/>
              </a:defRPr>
            </a:lvl1pPr>
          </a:lstStyle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0578AEC-777F-4531-87CC-AB874364F7C4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等线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  <a:sym typeface="等线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hape 14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6147" name="Shape 142"/>
          <p:cNvSpPr>
            <a:spLocks noGrp="1"/>
          </p:cNvSpPr>
          <p:nvPr>
            <p:ph type="body" sz="quarter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Hei Regular" pitchFamily="2" charset="-122"/>
        <a:ea typeface="Hei Regular" pitchFamily="2" charset="-122"/>
        <a:cs typeface="+mn-cs"/>
        <a:sym typeface="等线" panose="02010600030101010101" pitchFamily="2" charset="-122"/>
      </a:defRPr>
    </a:lvl1pPr>
    <a:lvl2pPr marL="742950" indent="-28575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2pPr>
    <a:lvl3pPr marL="1143000" indent="-22860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3pPr>
    <a:lvl4pPr marL="1600200" indent="-22860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4pPr>
    <a:lvl5pPr marL="2057400" indent="-22860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5pPr>
    <a:lvl6pPr indent="1080135" latinLnBrk="0">
      <a:defRPr sz="1100">
        <a:latin typeface="+mn-lt"/>
        <a:ea typeface="+mn-ea"/>
        <a:cs typeface="+mn-cs"/>
        <a:sym typeface="等线" panose="02010600030101010101" pitchFamily="2" charset="-122"/>
      </a:defRPr>
    </a:lvl6pPr>
    <a:lvl7pPr indent="1296035" latinLnBrk="0">
      <a:defRPr sz="1100">
        <a:latin typeface="+mn-lt"/>
        <a:ea typeface="+mn-ea"/>
        <a:cs typeface="+mn-cs"/>
        <a:sym typeface="等线" panose="02010600030101010101" pitchFamily="2" charset="-122"/>
      </a:defRPr>
    </a:lvl7pPr>
    <a:lvl8pPr indent="1511935" latinLnBrk="0">
      <a:defRPr sz="1100">
        <a:latin typeface="+mn-lt"/>
        <a:ea typeface="+mn-ea"/>
        <a:cs typeface="+mn-cs"/>
        <a:sym typeface="等线" panose="02010600030101010101" pitchFamily="2" charset="-122"/>
      </a:defRPr>
    </a:lvl8pPr>
    <a:lvl9pPr indent="1728470" latinLnBrk="0">
      <a:defRPr sz="1100">
        <a:latin typeface="+mn-lt"/>
        <a:ea typeface="+mn-ea"/>
        <a:cs typeface="+mn-cs"/>
        <a:sym typeface="等线" panose="02010600030101010101" pitchFamily="2" charset="-122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D65B7D-B529-4D68-BC16-03759A9C2313}" type="slidenum">
              <a:rPr kumimoji="0" lang="en-US" altLang="zh-CN" sz="11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Calibri" panose="020F0502020204030204"/>
              </a:rPr>
            </a:fld>
            <a:endParaRPr kumimoji="0" lang="en-US" altLang="zh-CN" sz="11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Calibri" panose="020F0502020204030204"/>
            </a:endParaRP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0" y="69122"/>
            <a:ext cx="11522075" cy="721494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10932937" y="6131190"/>
            <a:ext cx="589138" cy="323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6CBEC8B-D4F5-4765-BA16-D6C967C3AE9B}" type="slidenum">
              <a:rPr lang="zh-CN" altLang="en-US" sz="151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</a:fld>
            <a:endParaRPr lang="zh-CN" altLang="en-US" sz="151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7" name="图形 6"/>
          <p:cNvPicPr>
            <a:picLocks noChangeAspect="1"/>
          </p:cNvPicPr>
          <p:nvPr userDrawn="1"/>
        </p:nvPicPr>
        <p:blipFill rotWithShape="1">
          <a:blip r:embed="rId3" cstate="print"/>
          <a:srcRect l="2064" t="2" r="2064" b="-1"/>
          <a:stretch>
            <a:fillRect/>
          </a:stretch>
        </p:blipFill>
        <p:spPr>
          <a:xfrm>
            <a:off x="0" y="859694"/>
            <a:ext cx="11522075" cy="19307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/>
          <a:srcRect/>
          <a:stretch>
            <a:fillRect/>
          </a:stretch>
        </p:blipFill>
        <p:spPr>
          <a:xfrm>
            <a:off x="0" y="5813063"/>
            <a:ext cx="8483090" cy="59799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>
            <a:lvl1pPr algn="ctr">
              <a:defRPr sz="3020">
                <a:solidFill>
                  <a:srgbClr val="333333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581705" y="5965188"/>
            <a:ext cx="2550000" cy="299200"/>
          </a:xfrm>
        </p:spPr>
        <p:txBody>
          <a:bodyPr/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891038" y="5965188"/>
            <a:ext cx="3740000" cy="2992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image" Target="../media/image4.png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文本"/>
          <p:cNvSpPr txBox="1">
            <a:spLocks noGrp="1"/>
          </p:cNvSpPr>
          <p:nvPr>
            <p:ph type="title"/>
          </p:nvPr>
        </p:nvSpPr>
        <p:spPr>
          <a:xfrm>
            <a:off x="792163" y="344488"/>
            <a:ext cx="9937750" cy="1252537"/>
          </a:xfrm>
          <a:prstGeom prst="rect">
            <a:avLst/>
          </a:prstGeom>
          <a:noFill/>
          <a:ln w="12700">
            <a:noFill/>
          </a:ln>
        </p:spPr>
        <p:txBody>
          <a:bodyPr lIns="43204" tIns="43204" rIns="43204" bIns="43204" anchor="ctr" anchorCtr="0"/>
          <a:lstStyle/>
          <a:p>
            <a:pPr lvl="0"/>
            <a:r>
              <a:rPr lang="zh-CN" altLang="zh-CN" dirty="0"/>
              <a:t>标题文本</a:t>
            </a:r>
            <a:endParaRPr lang="zh-CN" altLang="zh-CN" dirty="0"/>
          </a:p>
        </p:txBody>
      </p:sp>
      <p:sp>
        <p:nvSpPr>
          <p:cNvPr id="1027" name="正文级别 1…"/>
          <p:cNvSpPr txBox="1">
            <a:spLocks noGrp="1"/>
          </p:cNvSpPr>
          <p:nvPr>
            <p:ph type="body"/>
          </p:nvPr>
        </p:nvSpPr>
        <p:spPr>
          <a:xfrm>
            <a:off x="792163" y="1725613"/>
            <a:ext cx="9937750" cy="4111625"/>
          </a:xfrm>
          <a:prstGeom prst="rect">
            <a:avLst/>
          </a:prstGeom>
          <a:noFill/>
          <a:ln w="12700">
            <a:noFill/>
          </a:ln>
        </p:spPr>
        <p:txBody>
          <a:bodyPr lIns="43204" tIns="43204" rIns="43204" bIns="43204"/>
          <a:lstStyle/>
          <a:p>
            <a:pPr lvl="0"/>
            <a:r>
              <a:rPr lang="zh-CN" altLang="zh-CN" dirty="0"/>
              <a:t>正文级别 1</a:t>
            </a:r>
            <a:endParaRPr lang="zh-CN" altLang="zh-CN" dirty="0"/>
          </a:p>
          <a:p>
            <a:pPr lvl="1"/>
            <a:r>
              <a:rPr lang="zh-CN" altLang="zh-CN" dirty="0"/>
              <a:t>正文级别 2</a:t>
            </a:r>
            <a:endParaRPr lang="zh-CN" altLang="zh-CN" dirty="0"/>
          </a:p>
          <a:p>
            <a:pPr lvl="2"/>
            <a:r>
              <a:rPr lang="zh-CN" altLang="zh-CN" dirty="0"/>
              <a:t>正文级别 3</a:t>
            </a:r>
            <a:endParaRPr lang="zh-CN" altLang="zh-CN" dirty="0"/>
          </a:p>
          <a:p>
            <a:pPr lvl="3"/>
            <a:r>
              <a:rPr lang="zh-CN" altLang="zh-CN" dirty="0"/>
              <a:t>正文级别 4</a:t>
            </a:r>
            <a:endParaRPr lang="zh-CN" altLang="zh-CN" dirty="0"/>
          </a:p>
          <a:p>
            <a:pPr lvl="4"/>
            <a:r>
              <a:rPr lang="zh-CN" altLang="zh-CN" dirty="0"/>
              <a:t>正文级别 5</a:t>
            </a:r>
            <a:endParaRPr lang="zh-CN" altLang="zh-CN" dirty="0"/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0845800" y="6049963"/>
            <a:ext cx="254000" cy="257175"/>
          </a:xfrm>
          <a:prstGeom prst="rect">
            <a:avLst/>
          </a:prstGeom>
          <a:ln w="12700">
            <a:miter lim="400000"/>
          </a:ln>
        </p:spPr>
        <p:txBody>
          <a:bodyPr wrap="none" lIns="43204" tIns="43204" rIns="43204" bIns="43204" anchor="ctr">
            <a:spAutoFit/>
          </a:bodyPr>
          <a:lstStyle>
            <a:lvl1pPr algn="r" eaLnBrk="1" fontAlgn="auto" hangingPunct="1">
              <a:defRPr sz="1100" b="0" i="0" noProof="1" smtClean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Calibri" panose="020F0502020204030204"/>
              </a:defRPr>
            </a:lvl1pPr>
          </a:lstStyle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D65B7D-B529-4D68-BC16-03759A9C2313}" type="slidenum">
              <a:rPr kumimoji="0" lang="en-US" altLang="zh-CN" sz="11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Calibri" panose="020F0502020204030204"/>
              </a:rPr>
            </a:fld>
            <a:endParaRPr kumimoji="0" lang="en-US" altLang="zh-CN" sz="11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Calibri" panose="020F0502020204030204"/>
            </a:endParaRPr>
          </a:p>
        </p:txBody>
      </p:sp>
      <p:pic>
        <p:nvPicPr>
          <p:cNvPr id="1029" name="图片 4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9577388" y="215900"/>
            <a:ext cx="1697037" cy="70485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ransition spd="med"/>
  <p:hf sldNum="0" hdr="0" ftr="0" dt="0"/>
  <p:txStyles>
    <p:titleStyle>
      <a:lvl1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 Regular" pitchFamily="2" charset="-122"/>
          <a:sym typeface="Heiti SC Medium"/>
        </a:defRPr>
      </a:lvl1pPr>
      <a:lvl2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2pPr>
      <a:lvl3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3pPr>
      <a:lvl4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4pPr>
      <a:lvl5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5pPr>
      <a:lvl6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6pPr>
      <a:lvl7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7pPr>
      <a:lvl8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8pPr>
      <a:lvl9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9pPr>
    </p:titleStyle>
    <p:bodyStyle>
      <a:lvl1pPr marL="215900" indent="-21590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1pPr>
      <a:lvl2pPr marL="684530" indent="-25273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2pPr>
      <a:lvl3pPr marL="1167130" indent="-30353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3pPr>
      <a:lvl4pPr marL="1631950" indent="-33655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4pPr>
      <a:lvl5pPr marL="2063750" indent="-33528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5pPr>
      <a:lvl6pPr marL="2496185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6pPr>
      <a:lvl7pPr marL="2928620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7pPr>
      <a:lvl8pPr marL="3360420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8pPr>
      <a:lvl9pPr marL="3792220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9pPr>
    </p:bodyStyle>
    <p:otherStyle>
      <a:lvl1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7.png"/><Relationship Id="rId2" Type="http://schemas.openxmlformats.org/officeDocument/2006/relationships/image" Target="../media/image8.jpe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" name="AutoShape 3"/>
          <p:cNvSpPr/>
          <p:nvPr/>
        </p:nvSpPr>
        <p:spPr>
          <a:xfrm>
            <a:off x="0" y="0"/>
            <a:ext cx="6167755" cy="6480175"/>
          </a:xfrm>
          <a:prstGeom prst="roundRect">
            <a:avLst>
              <a:gd name="adj" fmla="val 0"/>
            </a:avLst>
          </a:prstGeom>
          <a:solidFill>
            <a:srgbClr val="0052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algn="ctr">
              <a:defRPr/>
            </a:pPr>
          </a:p>
        </p:txBody>
      </p:sp>
      <p:grpSp>
        <p:nvGrpSpPr>
          <p:cNvPr id="41" name="组合 40"/>
          <p:cNvGrpSpPr/>
          <p:nvPr/>
        </p:nvGrpSpPr>
        <p:grpSpPr>
          <a:xfrm>
            <a:off x="9577302" y="215877"/>
            <a:ext cx="1695878" cy="706616"/>
            <a:chOff x="9577302" y="1165376"/>
            <a:chExt cx="1695878" cy="706616"/>
          </a:xfrm>
          <a:solidFill>
            <a:schemeClr val="bg1"/>
          </a:solidFill>
        </p:grpSpPr>
        <p:sp>
          <p:nvSpPr>
            <p:cNvPr id="42" name="矩形 41"/>
            <p:cNvSpPr/>
            <p:nvPr/>
          </p:nvSpPr>
          <p:spPr>
            <a:xfrm>
              <a:off x="9721312" y="1295952"/>
              <a:ext cx="1440100" cy="4320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accent2"/>
                </a:solidFill>
              </a:endParaRPr>
            </a:p>
          </p:txBody>
        </p:sp>
        <p:pic>
          <p:nvPicPr>
            <p:cNvPr id="43" name="图片 42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77302" y="1165376"/>
              <a:ext cx="1695878" cy="706616"/>
            </a:xfrm>
            <a:prstGeom prst="rect">
              <a:avLst/>
            </a:prstGeom>
            <a:grpFill/>
          </p:spPr>
        </p:pic>
      </p:grpSp>
      <p:sp>
        <p:nvSpPr>
          <p:cNvPr id="4" name="AutoShape 4"/>
          <p:cNvSpPr/>
          <p:nvPr/>
        </p:nvSpPr>
        <p:spPr>
          <a:xfrm>
            <a:off x="1224915" y="1368425"/>
            <a:ext cx="4000500" cy="1282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p>
            <a:pPr marL="0"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chemeClr val="bg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轨道交通</a:t>
            </a:r>
            <a:endParaRPr lang="en-US" sz="1100">
              <a:solidFill>
                <a:schemeClr val="bg1"/>
              </a:solidFill>
            </a:endParaRPr>
          </a:p>
          <a:p>
            <a:pPr marL="0" indent="0" algn="l">
              <a:lnSpc>
                <a:spcPct val="125000"/>
              </a:lnSpc>
            </a:pPr>
            <a:r>
              <a:rPr lang="en-US" sz="2700" b="1" i="0" u="none" strike="noStrike">
                <a:solidFill>
                  <a:schemeClr val="bg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声屏障系统</a:t>
            </a:r>
            <a:endParaRPr lang="en-US" sz="2700" b="1" i="0" u="none" strike="noStrike">
              <a:solidFill>
                <a:schemeClr val="bg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2700" b="1" i="0" u="none" strike="noStrike">
                <a:solidFill>
                  <a:schemeClr val="bg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全产业链行业洞察</a:t>
            </a:r>
            <a:endParaRPr lang="en-US" sz="2700" b="1" i="0" u="none" strike="noStrike">
              <a:solidFill>
                <a:schemeClr val="bg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" name="AutoShape 14"/>
          <p:cNvSpPr/>
          <p:nvPr/>
        </p:nvSpPr>
        <p:spPr>
          <a:xfrm>
            <a:off x="6553200" y="762000"/>
            <a:ext cx="4318000" cy="4318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127000" tIns="76200" rIns="127000" bIns="7620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chemeClr val="accent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行业核心概况：</a:t>
            </a:r>
            <a:endParaRPr lang="en-US" sz="1100">
              <a:solidFill>
                <a:schemeClr val="accent2"/>
              </a:solidFill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chemeClr val="accent2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随着城市化与轨道交通网络化进程加速，噪声污染已成为制约城市交通可持续发展的关键问题。声屏障作为轨道交通沿线降噪的核心设施，其技术研发、材料创新与工程应用正迎来全新的发展机遇。本报告深度剖析行业现状，从技术迭代、政策导向及工程实践痛点出发，为行业发展提供系统性参考框架。</a:t>
            </a:r>
            <a:endParaRPr lang="en-US" sz="1200" b="0" i="0" u="none" strike="noStrike">
              <a:solidFill>
                <a:schemeClr val="accent2">
                  <a:alpha val="90196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br>
              <a:rPr lang="en-US" sz="1400" b="0" i="0" u="none" strike="noStrike">
                <a:solidFill>
                  <a:schemeClr val="accent2">
                    <a:alpha val="94902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endParaRPr lang="en-US" sz="1400" b="0" i="0" u="none" strike="noStrike">
              <a:solidFill>
                <a:schemeClr val="accent2">
                  <a:alpha val="94902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500" b="1" i="0" u="none" strike="noStrike">
                <a:solidFill>
                  <a:schemeClr val="accent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关键关注维度：</a:t>
            </a:r>
            <a:endParaRPr lang="en-US" sz="1500" b="1" i="0" u="none" strike="noStrike">
              <a:solidFill>
                <a:schemeClr val="accent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chemeClr val="accent2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聚焦声学性能优化、结构轻量化、景观融合设计三大技术方向，同时针对成本控制、施工维护及环境适应性等行业痛点，探索标准化与定制化结合的解决方案，助力实现交通建设与生态宜居的平衡发展。</a:t>
            </a:r>
            <a:endParaRPr lang="en-US" sz="1200" b="0" i="0" u="none" strike="noStrike">
              <a:solidFill>
                <a:schemeClr val="accent2">
                  <a:alpha val="90196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342900" y="3528695"/>
            <a:ext cx="5785485" cy="863600"/>
            <a:chOff x="675" y="5730"/>
            <a:chExt cx="4680" cy="585"/>
          </a:xfrm>
        </p:grpSpPr>
        <p:sp>
          <p:nvSpPr>
            <p:cNvPr id="6" name="Shape 3"/>
            <p:cNvSpPr/>
            <p:nvPr/>
          </p:nvSpPr>
          <p:spPr>
            <a:xfrm>
              <a:off x="675" y="5730"/>
              <a:ext cx="2244" cy="585"/>
            </a:xfrm>
            <a:prstGeom prst="rect">
              <a:avLst/>
            </a:prstGeom>
            <a:solidFill>
              <a:srgbClr val="FFFFFF">
                <a:alpha val="8000"/>
              </a:srgbClr>
            </a:solidFill>
          </p:spPr>
        </p:sp>
        <p:sp>
          <p:nvSpPr>
            <p:cNvPr id="7" name="Shape 4"/>
            <p:cNvSpPr/>
            <p:nvPr/>
          </p:nvSpPr>
          <p:spPr>
            <a:xfrm>
              <a:off x="675" y="5730"/>
              <a:ext cx="45" cy="585"/>
            </a:xfrm>
            <a:prstGeom prst="rect">
              <a:avLst/>
            </a:prstGeom>
            <a:solidFill>
              <a:srgbClr val="D35400"/>
            </a:solidFill>
          </p:spPr>
        </p:sp>
        <p:sp>
          <p:nvSpPr>
            <p:cNvPr id="5" name="Text 5"/>
            <p:cNvSpPr/>
            <p:nvPr/>
          </p:nvSpPr>
          <p:spPr>
            <a:xfrm>
              <a:off x="833" y="5848"/>
              <a:ext cx="1316" cy="16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p>
              <a:pPr marL="0" indent="0" algn="l">
                <a:buNone/>
              </a:pPr>
              <a:r>
                <a:rPr lang="en-US" sz="1600" b="1" kern="0" spc="2" dirty="0">
                  <a:solidFill>
                    <a:schemeClr val="bg1"/>
                  </a:solidFill>
                  <a:latin typeface="Inter ExtraBold" pitchFamily="34" charset="0"/>
                  <a:ea typeface="Inter ExtraBold" pitchFamily="34" charset="-122"/>
                  <a:cs typeface="Inter ExtraBold" pitchFamily="34" charset="-120"/>
                </a:rPr>
                <a:t>M1</a:t>
              </a:r>
              <a:endParaRPr lang="en-US" sz="1600" b="1" kern="0" spc="2" dirty="0">
                <a:solidFill>
                  <a:schemeClr val="bg1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endParaRPr>
            </a:p>
          </p:txBody>
        </p:sp>
        <p:sp>
          <p:nvSpPr>
            <p:cNvPr id="32" name="Text 6"/>
            <p:cNvSpPr/>
            <p:nvPr/>
          </p:nvSpPr>
          <p:spPr>
            <a:xfrm>
              <a:off x="742" y="6000"/>
              <a:ext cx="2150" cy="18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p>
              <a:pPr marL="0" indent="0" algn="l">
                <a:buNone/>
              </a:pPr>
              <a:r>
                <a:rPr lang="en-US" sz="1800" dirty="0">
                  <a:solidFill>
                    <a:schemeClr val="bg1"/>
                  </a:solidFill>
                  <a:latin typeface="Inter Medium" pitchFamily="34" charset="0"/>
                  <a:ea typeface="Inter Medium" pitchFamily="34" charset="-122"/>
                  <a:cs typeface="Inter Medium" pitchFamily="34" charset="-120"/>
                </a:rPr>
                <a:t>行业背景与技术发展</a:t>
              </a:r>
              <a:endParaRPr lang="en-US" sz="1800" dirty="0">
                <a:solidFill>
                  <a:schemeClr val="bg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endParaRPr>
            </a:p>
          </p:txBody>
        </p:sp>
        <p:sp>
          <p:nvSpPr>
            <p:cNvPr id="33" name="Shape 7"/>
            <p:cNvSpPr/>
            <p:nvPr/>
          </p:nvSpPr>
          <p:spPr>
            <a:xfrm>
              <a:off x="3105" y="5730"/>
              <a:ext cx="2250" cy="585"/>
            </a:xfrm>
            <a:prstGeom prst="rect">
              <a:avLst/>
            </a:prstGeom>
            <a:solidFill>
              <a:srgbClr val="FFFFFF">
                <a:alpha val="8000"/>
              </a:srgbClr>
            </a:solidFill>
          </p:spPr>
        </p:sp>
        <p:sp>
          <p:nvSpPr>
            <p:cNvPr id="34" name="Shape 8"/>
            <p:cNvSpPr/>
            <p:nvPr/>
          </p:nvSpPr>
          <p:spPr>
            <a:xfrm>
              <a:off x="3105" y="5730"/>
              <a:ext cx="45" cy="585"/>
            </a:xfrm>
            <a:prstGeom prst="rect">
              <a:avLst/>
            </a:prstGeom>
            <a:solidFill>
              <a:srgbClr val="D35400"/>
            </a:solidFill>
          </p:spPr>
        </p:sp>
        <p:sp>
          <p:nvSpPr>
            <p:cNvPr id="35" name="Text 9"/>
            <p:cNvSpPr/>
            <p:nvPr/>
          </p:nvSpPr>
          <p:spPr>
            <a:xfrm>
              <a:off x="3263" y="5848"/>
              <a:ext cx="1316" cy="16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p>
              <a:pPr marL="0" indent="0" algn="l">
                <a:buNone/>
              </a:pPr>
              <a:r>
                <a:rPr lang="en-US" sz="1600" b="1" kern="0" spc="2" dirty="0">
                  <a:solidFill>
                    <a:schemeClr val="bg1"/>
                  </a:solidFill>
                  <a:latin typeface="Inter ExtraBold" pitchFamily="34" charset="0"/>
                  <a:ea typeface="Inter ExtraBold" pitchFamily="34" charset="-122"/>
                  <a:cs typeface="Inter ExtraBold" pitchFamily="34" charset="-120"/>
                </a:rPr>
                <a:t>M2</a:t>
              </a:r>
              <a:endParaRPr lang="en-US" sz="1600" b="1" kern="0" spc="2" dirty="0">
                <a:solidFill>
                  <a:schemeClr val="bg1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endParaRPr>
            </a:p>
          </p:txBody>
        </p:sp>
        <p:sp>
          <p:nvSpPr>
            <p:cNvPr id="36" name="Text 10"/>
            <p:cNvSpPr/>
            <p:nvPr/>
          </p:nvSpPr>
          <p:spPr>
            <a:xfrm>
              <a:off x="3263" y="6000"/>
              <a:ext cx="1962" cy="18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p>
              <a:pPr marL="0" indent="0" algn="l">
                <a:buNone/>
              </a:pPr>
              <a:r>
                <a:rPr lang="en-US" sz="1800" dirty="0">
                  <a:solidFill>
                    <a:schemeClr val="bg1"/>
                  </a:solidFill>
                  <a:latin typeface="Inter Medium" pitchFamily="34" charset="0"/>
                  <a:ea typeface="Inter Medium" pitchFamily="34" charset="-122"/>
                  <a:cs typeface="Inter Medium" pitchFamily="34" charset="-120"/>
                </a:rPr>
                <a:t>行业痛点与问题剖析</a:t>
              </a:r>
              <a:endParaRPr lang="en-US" sz="1800" dirty="0">
                <a:solidFill>
                  <a:schemeClr val="bg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endParaRPr>
            </a:p>
          </p:txBody>
        </p:sp>
      </p:grp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1" name="组合 40"/>
          <p:cNvGrpSpPr/>
          <p:nvPr/>
        </p:nvGrpSpPr>
        <p:grpSpPr>
          <a:xfrm>
            <a:off x="9577302" y="215877"/>
            <a:ext cx="1695878" cy="706616"/>
            <a:chOff x="9577302" y="1165376"/>
            <a:chExt cx="1695878" cy="706616"/>
          </a:xfrm>
          <a:solidFill>
            <a:schemeClr val="bg1"/>
          </a:solidFill>
        </p:grpSpPr>
        <p:sp>
          <p:nvSpPr>
            <p:cNvPr id="42" name="矩形 41"/>
            <p:cNvSpPr/>
            <p:nvPr/>
          </p:nvSpPr>
          <p:spPr>
            <a:xfrm>
              <a:off x="9721312" y="1295952"/>
              <a:ext cx="1440100" cy="4320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43" name="图片 42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77302" y="1165376"/>
              <a:ext cx="1695878" cy="706616"/>
            </a:xfrm>
            <a:prstGeom prst="rect">
              <a:avLst/>
            </a:prstGeom>
            <a:grpFill/>
          </p:spPr>
        </p:pic>
      </p:grpSp>
      <p:sp>
        <p:nvSpPr>
          <p:cNvPr id="35" name="文本框 34"/>
          <p:cNvSpPr txBox="1"/>
          <p:nvPr/>
        </p:nvSpPr>
        <p:spPr>
          <a:xfrm>
            <a:off x="576580" y="455295"/>
            <a:ext cx="5765800" cy="3232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510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  <a:sym typeface="+mn-ea"/>
              </a:rPr>
              <a:t>M1：行业技术标准与规范现状</a:t>
            </a:r>
            <a:endParaRPr lang="en-US" altLang="en-US" sz="1510" b="1" dirty="0">
              <a:solidFill>
                <a:srgbClr val="333333"/>
              </a:solidFill>
              <a:latin typeface="Noto Sans SC Bold" pitchFamily="34" charset="0"/>
              <a:ea typeface="Noto Sans SC Bold" pitchFamily="34" charset="-122"/>
              <a:cs typeface="Noto Sans SC Bold" pitchFamily="34" charset="-120"/>
              <a:sym typeface="+mn-ea"/>
            </a:endParaRPr>
          </a:p>
        </p:txBody>
      </p:sp>
      <p:sp>
        <p:nvSpPr>
          <p:cNvPr id="37" name="AutoShape 4"/>
          <p:cNvSpPr/>
          <p:nvPr/>
        </p:nvSpPr>
        <p:spPr>
          <a:xfrm>
            <a:off x="2520950" y="1397000"/>
            <a:ext cx="5372100" cy="482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E58C4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城市轨道交通噪声问题持续加剧</a:t>
            </a:r>
            <a:endParaRPr lang="en-US" sz="2000">
              <a:solidFill>
                <a:srgbClr val="0E58C4"/>
              </a:solidFill>
            </a:endParaRPr>
          </a:p>
          <a:p>
            <a:pPr marL="0" indent="0" algn="l">
              <a:lnSpc>
                <a:spcPct val="125000"/>
              </a:lnSpc>
            </a:pPr>
            <a:r>
              <a:rPr lang="en-US" sz="2400" b="1" i="0" u="none" strike="noStrike">
                <a:solidFill>
                  <a:srgbClr val="0E58C4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声屏障从“可选项”彻底转变为“必选项”</a:t>
            </a:r>
            <a:endParaRPr lang="en-US" sz="2400" b="1" i="0" u="none" strike="noStrike">
              <a:solidFill>
                <a:srgbClr val="0E58C4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8" name="AutoShape 5"/>
          <p:cNvSpPr/>
          <p:nvPr/>
        </p:nvSpPr>
        <p:spPr>
          <a:xfrm>
            <a:off x="2620010" y="2184400"/>
            <a:ext cx="5372100" cy="114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 spc="1">
                <a:solidFill>
                  <a:srgbClr val="0E58C4">
                    <a:alpha val="45098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NOISE POLLUTION · RIGID DEMAND BACKGROUND</a:t>
            </a:r>
            <a:endParaRPr lang="en-US" sz="1400" b="0" i="0" u="none" strike="noStrike" spc="1">
              <a:solidFill>
                <a:srgbClr val="0E58C4">
                  <a:alpha val="45098"/>
                </a:srgbClr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39" name="AutoShape 6"/>
          <p:cNvSpPr/>
          <p:nvPr/>
        </p:nvSpPr>
        <p:spPr>
          <a:xfrm>
            <a:off x="2593340" y="3079750"/>
            <a:ext cx="2641600" cy="635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  <a:endParaRPr sz="2800">
              <a:solidFill>
                <a:srgbClr val="0E58C4"/>
              </a:solidFill>
            </a:endParaRPr>
          </a:p>
        </p:txBody>
      </p:sp>
      <p:sp>
        <p:nvSpPr>
          <p:cNvPr id="44" name="AutoShape 7"/>
          <p:cNvSpPr/>
          <p:nvPr/>
        </p:nvSpPr>
        <p:spPr>
          <a:xfrm>
            <a:off x="2593340" y="3079750"/>
            <a:ext cx="25400" cy="635000"/>
          </a:xfrm>
          <a:prstGeom prst="roundRect">
            <a:avLst>
              <a:gd name="adj" fmla="val 0"/>
            </a:avLst>
          </a:prstGeom>
          <a:solidFill>
            <a:srgbClr val="D354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  <a:endParaRPr sz="2800">
              <a:solidFill>
                <a:srgbClr val="0E58C4"/>
              </a:solidFill>
            </a:endParaRPr>
          </a:p>
        </p:txBody>
      </p:sp>
      <p:sp>
        <p:nvSpPr>
          <p:cNvPr id="45" name="AutoShape 8"/>
          <p:cNvSpPr/>
          <p:nvPr/>
        </p:nvSpPr>
        <p:spPr>
          <a:xfrm>
            <a:off x="2694940" y="3155950"/>
            <a:ext cx="2540000" cy="203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p>
            <a:pPr marL="0" indent="0" algn="l">
              <a:lnSpc>
                <a:spcPct val="83000"/>
              </a:lnSpc>
              <a:defRPr/>
            </a:pPr>
            <a:r>
              <a:rPr lang="en-US" sz="2400" b="1" i="0" u="none" strike="noStrike">
                <a:solidFill>
                  <a:srgbClr val="0E58C4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12.47</a:t>
            </a:r>
            <a:r>
              <a:rPr lang="en-US" sz="1400" b="0" i="0" u="none" strike="noStrike">
                <a:solidFill>
                  <a:srgbClr val="0E58C4"/>
                </a:solidFill>
                <a:latin typeface="Inter Medium"/>
                <a:ea typeface="Inter Medium"/>
                <a:cs typeface="Inter Medium"/>
                <a:sym typeface="Inter Medium"/>
              </a:rPr>
              <a:t>%</a:t>
            </a:r>
            <a:endParaRPr lang="en-US" sz="1400" b="0" i="0" u="none" strike="noStrike">
              <a:solidFill>
                <a:srgbClr val="0E58C4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6" name="AutoShape 9"/>
          <p:cNvSpPr/>
          <p:nvPr/>
        </p:nvSpPr>
        <p:spPr>
          <a:xfrm>
            <a:off x="2694940" y="3384550"/>
            <a:ext cx="2540000" cy="241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p>
            <a:pPr marL="0" indent="0" algn="l">
              <a:lnSpc>
                <a:spcPct val="108000"/>
              </a:lnSpc>
              <a:defRPr/>
            </a:pPr>
            <a:r>
              <a:rPr lang="en-US" sz="1000" b="0" i="0" u="none" strike="noStrike">
                <a:solidFill>
                  <a:srgbClr val="0E58C4">
                    <a:alpha val="70196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全国电气化铁路占比，电力机车已成为主要噪声源</a:t>
            </a:r>
            <a:endParaRPr lang="en-US" sz="1000" b="0" i="0" u="none" strike="noStrike">
              <a:solidFill>
                <a:srgbClr val="0E58C4">
                  <a:alpha val="70196"/>
                </a:srgbClr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7" name="AutoShape 10"/>
          <p:cNvSpPr/>
          <p:nvPr/>
        </p:nvSpPr>
        <p:spPr>
          <a:xfrm>
            <a:off x="5948045" y="3024505"/>
            <a:ext cx="2641600" cy="635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  <a:endParaRPr sz="2800">
              <a:solidFill>
                <a:srgbClr val="0E58C4"/>
              </a:solidFill>
            </a:endParaRPr>
          </a:p>
        </p:txBody>
      </p:sp>
      <p:sp>
        <p:nvSpPr>
          <p:cNvPr id="48" name="AutoShape 11"/>
          <p:cNvSpPr/>
          <p:nvPr/>
        </p:nvSpPr>
        <p:spPr>
          <a:xfrm>
            <a:off x="5948045" y="3024505"/>
            <a:ext cx="25400" cy="635000"/>
          </a:xfrm>
          <a:prstGeom prst="roundRect">
            <a:avLst>
              <a:gd name="adj" fmla="val 0"/>
            </a:avLst>
          </a:prstGeom>
          <a:solidFill>
            <a:srgbClr val="D354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  <a:endParaRPr sz="2800">
              <a:solidFill>
                <a:srgbClr val="0E58C4"/>
              </a:solidFill>
            </a:endParaRPr>
          </a:p>
        </p:txBody>
      </p:sp>
      <p:sp>
        <p:nvSpPr>
          <p:cNvPr id="49" name="AutoShape 12"/>
          <p:cNvSpPr/>
          <p:nvPr/>
        </p:nvSpPr>
        <p:spPr>
          <a:xfrm>
            <a:off x="6049645" y="3100705"/>
            <a:ext cx="2540000" cy="203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p>
            <a:pPr marL="0" indent="0" algn="l">
              <a:lnSpc>
                <a:spcPct val="83000"/>
              </a:lnSpc>
              <a:defRPr/>
            </a:pPr>
            <a:r>
              <a:rPr lang="en-US" sz="2400" b="1" i="0" u="none" strike="noStrike">
                <a:solidFill>
                  <a:srgbClr val="0E58C4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5-10</a:t>
            </a:r>
            <a:r>
              <a:rPr lang="en-US" sz="1400" b="0" i="0" u="none" strike="noStrike">
                <a:solidFill>
                  <a:srgbClr val="0E58C4"/>
                </a:solidFill>
                <a:latin typeface="Inter Medium"/>
                <a:ea typeface="Inter Medium"/>
                <a:cs typeface="Inter Medium"/>
                <a:sym typeface="Inter Medium"/>
              </a:rPr>
              <a:t>年</a:t>
            </a:r>
            <a:endParaRPr lang="en-US" sz="1400" b="0" i="0" u="none" strike="noStrike">
              <a:solidFill>
                <a:srgbClr val="0E58C4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0" name="AutoShape 13"/>
          <p:cNvSpPr/>
          <p:nvPr/>
        </p:nvSpPr>
        <p:spPr>
          <a:xfrm>
            <a:off x="6049645" y="3329305"/>
            <a:ext cx="2540000" cy="241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p>
            <a:pPr marL="0" indent="0" algn="l">
              <a:lnSpc>
                <a:spcPct val="108000"/>
              </a:lnSpc>
              <a:defRPr/>
            </a:pPr>
            <a:r>
              <a:rPr lang="en-US" sz="1000" b="0" i="0" u="none" strike="noStrike">
                <a:solidFill>
                  <a:srgbClr val="0E58C4">
                    <a:alpha val="70196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未来新增大量运营里程，噪声影响范围将进一步扩大</a:t>
            </a:r>
            <a:endParaRPr lang="en-US" sz="1000" b="0" i="0" u="none" strike="noStrike">
              <a:solidFill>
                <a:srgbClr val="0E58C4">
                  <a:alpha val="70196"/>
                </a:srgbClr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1" name="AutoShape 14"/>
          <p:cNvSpPr/>
          <p:nvPr/>
        </p:nvSpPr>
        <p:spPr>
          <a:xfrm>
            <a:off x="2593340" y="3816350"/>
            <a:ext cx="2641600" cy="635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  <a:endParaRPr sz="2800">
              <a:solidFill>
                <a:srgbClr val="0E58C4"/>
              </a:solidFill>
            </a:endParaRPr>
          </a:p>
        </p:txBody>
      </p:sp>
      <p:sp>
        <p:nvSpPr>
          <p:cNvPr id="52" name="AutoShape 15"/>
          <p:cNvSpPr/>
          <p:nvPr/>
        </p:nvSpPr>
        <p:spPr>
          <a:xfrm>
            <a:off x="2593340" y="3816350"/>
            <a:ext cx="25400" cy="635000"/>
          </a:xfrm>
          <a:prstGeom prst="roundRect">
            <a:avLst>
              <a:gd name="adj" fmla="val 0"/>
            </a:avLst>
          </a:prstGeom>
          <a:solidFill>
            <a:srgbClr val="D354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  <a:endParaRPr sz="2800">
              <a:solidFill>
                <a:srgbClr val="0E58C4"/>
              </a:solidFill>
            </a:endParaRPr>
          </a:p>
        </p:txBody>
      </p:sp>
      <p:sp>
        <p:nvSpPr>
          <p:cNvPr id="53" name="AutoShape 16"/>
          <p:cNvSpPr/>
          <p:nvPr/>
        </p:nvSpPr>
        <p:spPr>
          <a:xfrm>
            <a:off x="2694940" y="3905250"/>
            <a:ext cx="2540000" cy="203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p>
            <a:pPr marL="0" indent="0" algn="l">
              <a:lnSpc>
                <a:spcPct val="83000"/>
              </a:lnSpc>
              <a:defRPr/>
            </a:pPr>
            <a:r>
              <a:rPr lang="en-US" sz="2400" b="1" i="0" u="none" strike="noStrike">
                <a:solidFill>
                  <a:srgbClr val="0E58C4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3600</a:t>
            </a:r>
            <a:r>
              <a:rPr lang="en-US" sz="1400" b="0" i="0" u="none" strike="noStrike">
                <a:solidFill>
                  <a:srgbClr val="0E58C4"/>
                </a:solidFill>
                <a:latin typeface="Inter Medium"/>
                <a:ea typeface="Inter Medium"/>
                <a:cs typeface="Inter Medium"/>
                <a:sym typeface="Inter Medium"/>
              </a:rPr>
              <a:t>亿元</a:t>
            </a:r>
            <a:endParaRPr lang="en-US" sz="1400" b="0" i="0" u="none" strike="noStrike">
              <a:solidFill>
                <a:srgbClr val="0E58C4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4" name="AutoShape 17"/>
          <p:cNvSpPr/>
          <p:nvPr/>
        </p:nvSpPr>
        <p:spPr>
          <a:xfrm>
            <a:off x="2694940" y="4133850"/>
            <a:ext cx="2540000" cy="241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p>
            <a:pPr marL="0" indent="0" algn="l">
              <a:lnSpc>
                <a:spcPct val="108000"/>
              </a:lnSpc>
              <a:defRPr/>
            </a:pPr>
            <a:r>
              <a:rPr lang="en-US" sz="1000" b="0" i="0" u="none" strike="noStrike">
                <a:solidFill>
                  <a:srgbClr val="0E58C4">
                    <a:alpha val="70196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上海地铁年运营补贴，含环境治理与噪声投诉处理成本</a:t>
            </a:r>
            <a:endParaRPr lang="en-US" sz="1000" b="0" i="0" u="none" strike="noStrike">
              <a:solidFill>
                <a:srgbClr val="0E58C4">
                  <a:alpha val="70196"/>
                </a:srgbClr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5" name="AutoShape 18"/>
          <p:cNvSpPr/>
          <p:nvPr/>
        </p:nvSpPr>
        <p:spPr>
          <a:xfrm>
            <a:off x="5981065" y="3767455"/>
            <a:ext cx="2641600" cy="635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  <a:endParaRPr sz="2800">
              <a:solidFill>
                <a:srgbClr val="0E58C4"/>
              </a:solidFill>
            </a:endParaRPr>
          </a:p>
        </p:txBody>
      </p:sp>
      <p:sp>
        <p:nvSpPr>
          <p:cNvPr id="56" name="AutoShape 19"/>
          <p:cNvSpPr/>
          <p:nvPr/>
        </p:nvSpPr>
        <p:spPr>
          <a:xfrm>
            <a:off x="5948045" y="3761105"/>
            <a:ext cx="25400" cy="635000"/>
          </a:xfrm>
          <a:prstGeom prst="roundRect">
            <a:avLst>
              <a:gd name="adj" fmla="val 0"/>
            </a:avLst>
          </a:prstGeom>
          <a:solidFill>
            <a:srgbClr val="D354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  <a:endParaRPr sz="2800">
              <a:solidFill>
                <a:srgbClr val="0E58C4"/>
              </a:solidFill>
            </a:endParaRPr>
          </a:p>
        </p:txBody>
      </p:sp>
      <p:sp>
        <p:nvSpPr>
          <p:cNvPr id="57" name="AutoShape 20"/>
          <p:cNvSpPr/>
          <p:nvPr/>
        </p:nvSpPr>
        <p:spPr>
          <a:xfrm>
            <a:off x="6049645" y="3850005"/>
            <a:ext cx="2540000" cy="203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p>
            <a:pPr marL="0" indent="0" algn="l">
              <a:lnSpc>
                <a:spcPct val="83000"/>
              </a:lnSpc>
              <a:defRPr/>
            </a:pPr>
            <a:r>
              <a:rPr lang="en-US" sz="2400" b="1" i="0" u="none" strike="noStrike">
                <a:solidFill>
                  <a:srgbClr val="0E58C4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84000</a:t>
            </a:r>
            <a:r>
              <a:rPr lang="en-US" sz="1400" b="0" i="0" u="none" strike="noStrike">
                <a:solidFill>
                  <a:srgbClr val="0E58C4"/>
                </a:solidFill>
                <a:latin typeface="Inter Medium"/>
                <a:ea typeface="Inter Medium"/>
                <a:cs typeface="Inter Medium"/>
                <a:sym typeface="Inter Medium"/>
              </a:rPr>
              <a:t>元/㎡</a:t>
            </a:r>
            <a:endParaRPr lang="en-US" sz="1400" b="0" i="0" u="none" strike="noStrike">
              <a:solidFill>
                <a:srgbClr val="0E58C4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8" name="AutoShape 21"/>
          <p:cNvSpPr/>
          <p:nvPr/>
        </p:nvSpPr>
        <p:spPr>
          <a:xfrm>
            <a:off x="6049645" y="4078605"/>
            <a:ext cx="2540000" cy="241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p>
            <a:pPr marL="0" indent="0" algn="l">
              <a:lnSpc>
                <a:spcPct val="108000"/>
              </a:lnSpc>
              <a:defRPr/>
            </a:pPr>
            <a:r>
              <a:rPr lang="en-US" sz="1000" b="0" i="0" u="none" strike="noStrike">
                <a:solidFill>
                  <a:srgbClr val="0E58C4">
                    <a:alpha val="70196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成都项目声屏障全生命周期成本，凸显前期方案选择重要性</a:t>
            </a:r>
            <a:endParaRPr lang="en-US" sz="1000" b="0" i="0" u="none" strike="noStrike">
              <a:solidFill>
                <a:srgbClr val="0E58C4">
                  <a:alpha val="70196"/>
                </a:srgbClr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9" name="AutoShape 22"/>
          <p:cNvSpPr/>
          <p:nvPr/>
        </p:nvSpPr>
        <p:spPr>
          <a:xfrm>
            <a:off x="2331720" y="4911090"/>
            <a:ext cx="5461000" cy="152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E58C4">
                    <a:alpha val="7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电气化率攀升与路网加密双重驱动，</a:t>
            </a:r>
            <a:r>
              <a:rPr lang="en-US" sz="1400" b="1" i="0" u="none" strike="noStrike">
                <a:solidFill>
                  <a:srgbClr val="0E58C4"/>
                </a:solidFill>
                <a:latin typeface="Inter Bold"/>
                <a:ea typeface="Inter Bold"/>
                <a:cs typeface="Inter Bold"/>
                <a:sym typeface="Inter Bold"/>
              </a:rPr>
              <a:t>噪声污染已成为轨道交通运营核心痛点</a:t>
            </a:r>
            <a:endParaRPr lang="en-US" sz="1400" b="1" i="0" u="none" strike="noStrike">
              <a:solidFill>
                <a:srgbClr val="0E58C4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60" name="AutoShape 23"/>
          <p:cNvSpPr/>
          <p:nvPr/>
        </p:nvSpPr>
        <p:spPr>
          <a:xfrm>
            <a:off x="2331720" y="5126990"/>
            <a:ext cx="5461000" cy="152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E58C4">
                    <a:alpha val="7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巨额运营补贴与全生命周期成本压力下，</a:t>
            </a:r>
            <a:r>
              <a:rPr lang="en-US" sz="1400" b="1" i="0" u="none" strike="noStrike">
                <a:solidFill>
                  <a:srgbClr val="0E58C4"/>
                </a:solidFill>
                <a:latin typeface="Inter Bold"/>
                <a:ea typeface="Inter Bold"/>
                <a:cs typeface="Inter Bold"/>
                <a:sym typeface="Inter Bold"/>
              </a:rPr>
              <a:t>声屏障投入从隐性成本转为显性刚性支出</a:t>
            </a:r>
            <a:endParaRPr lang="en-US" sz="1400" b="1" i="0" u="none" strike="noStrike">
              <a:solidFill>
                <a:srgbClr val="0E58C4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61" name="AutoShape 24"/>
          <p:cNvSpPr/>
          <p:nvPr/>
        </p:nvSpPr>
        <p:spPr>
          <a:xfrm>
            <a:off x="2331720" y="5355590"/>
            <a:ext cx="5461000" cy="152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E58C4">
                    <a:alpha val="7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既有线改造与新建线路同步推进，高质量声屏障方案成为行业共识与强制要求</a:t>
            </a:r>
            <a:endParaRPr lang="en-US" sz="1400" b="0" i="0" u="none" strike="noStrike">
              <a:solidFill>
                <a:srgbClr val="0E58C4">
                  <a:alpha val="74902"/>
                </a:srgbClr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3" name="图片 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25" y="288290"/>
            <a:ext cx="9156700" cy="1778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1" name="组合 40"/>
          <p:cNvGrpSpPr/>
          <p:nvPr/>
        </p:nvGrpSpPr>
        <p:grpSpPr>
          <a:xfrm>
            <a:off x="9577302" y="215877"/>
            <a:ext cx="1695878" cy="706616"/>
            <a:chOff x="9577302" y="1165376"/>
            <a:chExt cx="1695878" cy="706616"/>
          </a:xfrm>
          <a:solidFill>
            <a:schemeClr val="bg1"/>
          </a:solidFill>
        </p:grpSpPr>
        <p:sp>
          <p:nvSpPr>
            <p:cNvPr id="42" name="矩形 41"/>
            <p:cNvSpPr/>
            <p:nvPr/>
          </p:nvSpPr>
          <p:spPr>
            <a:xfrm>
              <a:off x="9721312" y="1295952"/>
              <a:ext cx="1440100" cy="4320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43" name="图片 42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77302" y="1165376"/>
              <a:ext cx="1695878" cy="706616"/>
            </a:xfrm>
            <a:prstGeom prst="rect">
              <a:avLst/>
            </a:prstGeom>
            <a:grpFill/>
          </p:spPr>
        </p:pic>
      </p:grpSp>
      <p:sp>
        <p:nvSpPr>
          <p:cNvPr id="2" name="AutoShape 13"/>
          <p:cNvSpPr/>
          <p:nvPr/>
        </p:nvSpPr>
        <p:spPr>
          <a:xfrm>
            <a:off x="991235" y="1194435"/>
            <a:ext cx="3463290" cy="4401820"/>
          </a:xfrm>
          <a:prstGeom prst="roundRect">
            <a:avLst>
              <a:gd name="adj" fmla="val 0"/>
            </a:avLst>
          </a:prstGeom>
          <a:solidFill>
            <a:schemeClr val="bg2">
              <a:lumMod val="5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1120775" y="3998595"/>
            <a:ext cx="3318510" cy="114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p>
            <a:pPr marL="0" indent="0" algn="l">
              <a:lnSpc>
                <a:spcPct val="100000"/>
              </a:lnSpc>
              <a:defRPr/>
            </a:pPr>
            <a:r>
              <a:rPr lang="en-US" sz="700" b="1" i="0" u="none" strike="noStrike" spc="2">
                <a:solidFill>
                  <a:schemeClr val="bg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TYPE 01</a:t>
            </a:r>
            <a:endParaRPr lang="en-US" sz="700" b="1" i="0" u="none" strike="noStrike" spc="2">
              <a:solidFill>
                <a:schemeClr val="bg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120775" y="4121150"/>
            <a:ext cx="3318510" cy="18669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p>
            <a:pPr marL="0" indent="0" algn="l">
              <a:lnSpc>
                <a:spcPct val="100000"/>
              </a:lnSpc>
              <a:defRPr/>
            </a:pPr>
            <a:r>
              <a:rPr lang="en-US" sz="1000" b="1" i="0" u="none" strike="noStrike">
                <a:solidFill>
                  <a:schemeClr val="bg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直立式声屏障</a:t>
            </a:r>
            <a:endParaRPr lang="en-US" sz="1000" b="1" i="0" u="none" strike="noStrike">
              <a:solidFill>
                <a:schemeClr val="bg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1145540" y="4413885"/>
            <a:ext cx="3103880" cy="17272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p>
            <a:pPr marL="0" indent="0" algn="l">
              <a:lnSpc>
                <a:spcPct val="117000"/>
              </a:lnSpc>
              <a:defRPr/>
            </a:pPr>
            <a:r>
              <a:rPr lang="en-US" sz="700" b="0" i="0" u="none" strike="noStrike">
                <a:solidFill>
                  <a:schemeClr val="bg1">
                    <a:alpha val="90196"/>
                  </a:schemeClr>
                </a:solidFill>
                <a:latin typeface="Inter Bold"/>
                <a:ea typeface="Inter Bold"/>
                <a:cs typeface="Inter Bold"/>
                <a:sym typeface="Inter Bold"/>
              </a:rPr>
              <a:t>核心特点：</a:t>
            </a:r>
            <a:r>
              <a:rPr lang="en-US" sz="700" b="0" i="0" u="none" strike="noStrike">
                <a:solidFill>
                  <a:schemeClr val="bg1">
                    <a:alpha val="65098"/>
                  </a:schemeClr>
                </a:solidFill>
                <a:latin typeface="Inter"/>
                <a:ea typeface="Inter"/>
                <a:cs typeface="Inter"/>
                <a:sym typeface="Inter"/>
              </a:rPr>
              <a:t>结构简单易施工，整体造价较低，应用场景最广泛</a:t>
            </a:r>
            <a:endParaRPr lang="en-US" sz="700" b="0" i="0" u="none" strike="noStrike">
              <a:solidFill>
                <a:schemeClr val="bg1">
                  <a:alpha val="65098"/>
                </a:schemeClr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1145540" y="4667885"/>
            <a:ext cx="3103880" cy="17272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p>
            <a:pPr marL="0" indent="0" algn="l">
              <a:lnSpc>
                <a:spcPct val="117000"/>
              </a:lnSpc>
              <a:defRPr/>
            </a:pPr>
            <a:r>
              <a:rPr lang="en-US" sz="700" b="0" i="0" u="none" strike="noStrike">
                <a:solidFill>
                  <a:schemeClr val="bg1">
                    <a:alpha val="90196"/>
                  </a:schemeClr>
                </a:solidFill>
                <a:latin typeface="Inter Bold"/>
                <a:ea typeface="Inter Bold"/>
                <a:cs typeface="Inter Bold"/>
                <a:sym typeface="Inter Bold"/>
              </a:rPr>
              <a:t>适用场景：</a:t>
            </a:r>
            <a:r>
              <a:rPr lang="en-US" sz="700" b="0" i="0" u="none" strike="noStrike">
                <a:solidFill>
                  <a:schemeClr val="bg1">
                    <a:alpha val="65098"/>
                  </a:schemeClr>
                </a:solidFill>
                <a:latin typeface="Inter"/>
                <a:ea typeface="Inter"/>
                <a:cs typeface="Inter"/>
                <a:sym typeface="Inter"/>
              </a:rPr>
              <a:t>对降噪要求中等，周边空间开阔的郊区或高架路段</a:t>
            </a:r>
            <a:endParaRPr lang="en-US" sz="700" b="0" i="0" u="none" strike="noStrike">
              <a:solidFill>
                <a:schemeClr val="bg1">
                  <a:alpha val="65098"/>
                </a:schemeClr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1145540" y="4985385"/>
            <a:ext cx="3103880" cy="17272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p>
            <a:pPr marL="0" indent="0" algn="l">
              <a:lnSpc>
                <a:spcPct val="117000"/>
              </a:lnSpc>
              <a:defRPr/>
            </a:pPr>
            <a:r>
              <a:rPr lang="en-US" sz="700" b="0" i="0" u="none" strike="noStrike">
                <a:solidFill>
                  <a:schemeClr val="bg1">
                    <a:alpha val="90196"/>
                  </a:schemeClr>
                </a:solidFill>
                <a:latin typeface="Inter Bold"/>
                <a:ea typeface="Inter Bold"/>
                <a:cs typeface="Inter Bold"/>
                <a:sym typeface="Inter Bold"/>
              </a:rPr>
              <a:t>典型案例：</a:t>
            </a:r>
            <a:r>
              <a:rPr lang="en-US" sz="700" b="0" i="0" u="none" strike="noStrike">
                <a:solidFill>
                  <a:schemeClr val="bg1">
                    <a:alpha val="65098"/>
                  </a:schemeClr>
                </a:solidFill>
                <a:latin typeface="Inter"/>
                <a:ea typeface="Inter"/>
                <a:cs typeface="Inter"/>
                <a:sym typeface="Inter"/>
              </a:rPr>
              <a:t>国内多数城市轨道交通常规路段均有采用</a:t>
            </a:r>
            <a:endParaRPr lang="en-US" sz="700" b="0" i="0" u="none" strike="noStrike">
              <a:solidFill>
                <a:schemeClr val="bg1">
                  <a:alpha val="65098"/>
                </a:schemeClr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" name="AutoShape 19"/>
          <p:cNvSpPr/>
          <p:nvPr/>
        </p:nvSpPr>
        <p:spPr>
          <a:xfrm>
            <a:off x="3785235" y="1194435"/>
            <a:ext cx="3463290" cy="4401820"/>
          </a:xfrm>
          <a:prstGeom prst="roundRect">
            <a:avLst>
              <a:gd name="adj" fmla="val 0"/>
            </a:avLst>
          </a:prstGeom>
          <a:solidFill>
            <a:schemeClr val="bg2">
              <a:lumMod val="5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3914775" y="3998595"/>
            <a:ext cx="3318510" cy="114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p>
            <a:pPr marL="0" indent="0" algn="l">
              <a:lnSpc>
                <a:spcPct val="100000"/>
              </a:lnSpc>
              <a:defRPr/>
            </a:pPr>
            <a:r>
              <a:rPr lang="en-US" sz="700" b="1" i="0" u="none" strike="noStrike" spc="2">
                <a:solidFill>
                  <a:schemeClr val="bg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TYPE 02</a:t>
            </a:r>
            <a:endParaRPr lang="en-US" sz="700" b="1" i="0" u="none" strike="noStrike" spc="2">
              <a:solidFill>
                <a:schemeClr val="bg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3914775" y="4121150"/>
            <a:ext cx="3318510" cy="18669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p>
            <a:pPr marL="0" indent="0" algn="l">
              <a:lnSpc>
                <a:spcPct val="100000"/>
              </a:lnSpc>
              <a:defRPr/>
            </a:pPr>
            <a:r>
              <a:rPr lang="en-US" sz="1000" b="1" i="0" u="none" strike="noStrike">
                <a:solidFill>
                  <a:schemeClr val="bg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半封闭式声屏障</a:t>
            </a:r>
            <a:endParaRPr lang="en-US" sz="1000" b="1" i="0" u="none" strike="noStrike">
              <a:solidFill>
                <a:schemeClr val="bg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3939540" y="4413885"/>
            <a:ext cx="3103880" cy="17272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p>
            <a:pPr marL="0" indent="0" algn="l">
              <a:lnSpc>
                <a:spcPct val="117000"/>
              </a:lnSpc>
              <a:defRPr/>
            </a:pPr>
            <a:r>
              <a:rPr lang="en-US" sz="700" b="0" i="0" u="none" strike="noStrike">
                <a:solidFill>
                  <a:schemeClr val="bg1">
                    <a:alpha val="90196"/>
                  </a:schemeClr>
                </a:solidFill>
                <a:latin typeface="Inter Bold"/>
                <a:ea typeface="Inter Bold"/>
                <a:cs typeface="Inter Bold"/>
                <a:sym typeface="Inter Bold"/>
              </a:rPr>
              <a:t>核心特点：</a:t>
            </a:r>
            <a:r>
              <a:rPr lang="en-US" sz="700" b="0" i="0" u="none" strike="noStrike">
                <a:solidFill>
                  <a:schemeClr val="bg1">
                    <a:alpha val="65098"/>
                  </a:schemeClr>
                </a:solidFill>
                <a:latin typeface="Inter"/>
                <a:ea typeface="Inter"/>
                <a:cs typeface="Inter"/>
                <a:sym typeface="Inter"/>
              </a:rPr>
              <a:t>直立基础上增设顶部折臂结构，绕射降噪效果更优</a:t>
            </a:r>
            <a:endParaRPr lang="en-US" sz="700" b="0" i="0" u="none" strike="noStrike">
              <a:solidFill>
                <a:schemeClr val="bg1">
                  <a:alpha val="65098"/>
                </a:schemeClr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3939540" y="4667885"/>
            <a:ext cx="3103880" cy="17272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p>
            <a:pPr marL="0" indent="0" algn="l">
              <a:lnSpc>
                <a:spcPct val="117000"/>
              </a:lnSpc>
              <a:defRPr/>
            </a:pPr>
            <a:r>
              <a:rPr lang="en-US" sz="700" b="0" i="0" u="none" strike="noStrike">
                <a:solidFill>
                  <a:schemeClr val="bg1">
                    <a:alpha val="90196"/>
                  </a:schemeClr>
                </a:solidFill>
                <a:latin typeface="Inter Bold"/>
                <a:ea typeface="Inter Bold"/>
                <a:cs typeface="Inter Bold"/>
                <a:sym typeface="Inter Bold"/>
              </a:rPr>
              <a:t>适用场景：</a:t>
            </a:r>
            <a:r>
              <a:rPr lang="en-US" sz="700" b="0" i="0" u="none" strike="noStrike">
                <a:solidFill>
                  <a:schemeClr val="bg1">
                    <a:alpha val="65098"/>
                  </a:schemeClr>
                </a:solidFill>
                <a:latin typeface="Inter"/>
                <a:ea typeface="Inter"/>
                <a:cs typeface="Inter"/>
                <a:sym typeface="Inter"/>
              </a:rPr>
              <a:t>降噪要求较高，线路两侧分布居民区等敏感建筑区域</a:t>
            </a:r>
            <a:endParaRPr lang="en-US" sz="700" b="0" i="0" u="none" strike="noStrike">
              <a:solidFill>
                <a:schemeClr val="bg1">
                  <a:alpha val="65098"/>
                </a:schemeClr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3939540" y="4985385"/>
            <a:ext cx="3103880" cy="17272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p>
            <a:pPr marL="0" indent="0" algn="l">
              <a:lnSpc>
                <a:spcPct val="117000"/>
              </a:lnSpc>
              <a:defRPr/>
            </a:pPr>
            <a:r>
              <a:rPr lang="en-US" sz="700" b="0" i="0" u="none" strike="noStrike">
                <a:solidFill>
                  <a:schemeClr val="bg1">
                    <a:alpha val="90196"/>
                  </a:schemeClr>
                </a:solidFill>
                <a:latin typeface="Inter Bold"/>
                <a:ea typeface="Inter Bold"/>
                <a:cs typeface="Inter Bold"/>
                <a:sym typeface="Inter Bold"/>
              </a:rPr>
              <a:t>典型案例：</a:t>
            </a:r>
            <a:r>
              <a:rPr lang="en-US" sz="700" b="0" i="0" u="none" strike="noStrike">
                <a:solidFill>
                  <a:schemeClr val="bg1">
                    <a:alpha val="65098"/>
                  </a:schemeClr>
                </a:solidFill>
                <a:latin typeface="Inter"/>
                <a:ea typeface="Inter"/>
                <a:cs typeface="Inter"/>
                <a:sym typeface="Inter"/>
              </a:rPr>
              <a:t>北京地铁13号线路基段、上海部分近郊高架线路</a:t>
            </a:r>
            <a:endParaRPr lang="en-US" sz="700" b="0" i="0" u="none" strike="noStrike">
              <a:solidFill>
                <a:schemeClr val="bg1">
                  <a:alpha val="65098"/>
                </a:schemeClr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" name="AutoShape 25"/>
          <p:cNvSpPr/>
          <p:nvPr/>
        </p:nvSpPr>
        <p:spPr>
          <a:xfrm>
            <a:off x="6591935" y="1194435"/>
            <a:ext cx="3463290" cy="4401820"/>
          </a:xfrm>
          <a:prstGeom prst="roundRect">
            <a:avLst>
              <a:gd name="adj" fmla="val 0"/>
            </a:avLst>
          </a:prstGeom>
          <a:solidFill>
            <a:schemeClr val="bg2">
              <a:lumMod val="5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6721475" y="3998595"/>
            <a:ext cx="3318510" cy="114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p>
            <a:pPr marL="0" indent="0" algn="l">
              <a:lnSpc>
                <a:spcPct val="100000"/>
              </a:lnSpc>
              <a:defRPr/>
            </a:pPr>
            <a:r>
              <a:rPr lang="en-US" sz="700" b="1" i="0" u="none" strike="noStrike" spc="2">
                <a:solidFill>
                  <a:schemeClr val="bg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TYPE 03</a:t>
            </a:r>
            <a:endParaRPr lang="en-US" sz="700" b="1" i="0" u="none" strike="noStrike" spc="2">
              <a:solidFill>
                <a:schemeClr val="bg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6721475" y="4121150"/>
            <a:ext cx="3318510" cy="18669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p>
            <a:pPr marL="0" indent="0" algn="l">
              <a:lnSpc>
                <a:spcPct val="100000"/>
              </a:lnSpc>
              <a:defRPr/>
            </a:pPr>
            <a:r>
              <a:rPr lang="en-US" sz="1000" b="1" i="0" u="none" strike="noStrike">
                <a:solidFill>
                  <a:schemeClr val="bg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全封闭式声屏障（声隧道）</a:t>
            </a:r>
            <a:endParaRPr lang="en-US" sz="1000" b="1" i="0" u="none" strike="noStrike">
              <a:solidFill>
                <a:schemeClr val="bg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6746240" y="4413885"/>
            <a:ext cx="3103880" cy="17272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p>
            <a:pPr marL="0" indent="0" algn="l">
              <a:lnSpc>
                <a:spcPct val="117000"/>
              </a:lnSpc>
              <a:defRPr/>
            </a:pPr>
            <a:r>
              <a:rPr lang="en-US" sz="700" b="0" i="0" u="none" strike="noStrike">
                <a:solidFill>
                  <a:schemeClr val="bg1">
                    <a:alpha val="90196"/>
                  </a:schemeClr>
                </a:solidFill>
                <a:latin typeface="Inter Bold"/>
                <a:ea typeface="Inter Bold"/>
                <a:cs typeface="Inter Bold"/>
                <a:sym typeface="Inter Bold"/>
              </a:rPr>
              <a:t>核心特点：</a:t>
            </a:r>
            <a:r>
              <a:rPr lang="en-US" sz="700" b="0" i="0" u="none" strike="noStrike">
                <a:solidFill>
                  <a:schemeClr val="bg1">
                    <a:alpha val="65098"/>
                  </a:schemeClr>
                </a:solidFill>
                <a:latin typeface="Inter"/>
                <a:ea typeface="Inter"/>
                <a:cs typeface="Inter"/>
                <a:sym typeface="Inter"/>
              </a:rPr>
              <a:t>轨道空间完全封闭，降噪效果最佳，但建设运营成本最高</a:t>
            </a:r>
            <a:endParaRPr lang="en-US" sz="700" b="0" i="0" u="none" strike="noStrike">
              <a:solidFill>
                <a:schemeClr val="bg1">
                  <a:alpha val="65098"/>
                </a:schemeClr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6746240" y="4667885"/>
            <a:ext cx="3103880" cy="17272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p>
            <a:pPr marL="0" indent="0" algn="l">
              <a:lnSpc>
                <a:spcPct val="117000"/>
              </a:lnSpc>
              <a:defRPr/>
            </a:pPr>
            <a:r>
              <a:rPr lang="en-US" sz="700" b="0" i="0" u="none" strike="noStrike">
                <a:solidFill>
                  <a:schemeClr val="bg1">
                    <a:alpha val="90196"/>
                  </a:schemeClr>
                </a:solidFill>
                <a:latin typeface="Inter Bold"/>
                <a:ea typeface="Inter Bold"/>
                <a:cs typeface="Inter Bold"/>
                <a:sym typeface="Inter Bold"/>
              </a:rPr>
              <a:t>适用场景：</a:t>
            </a:r>
            <a:r>
              <a:rPr lang="en-US" sz="700" b="0" i="0" u="none" strike="noStrike">
                <a:solidFill>
                  <a:schemeClr val="bg1">
                    <a:alpha val="65098"/>
                  </a:schemeClr>
                </a:solidFill>
                <a:latin typeface="Inter"/>
                <a:ea typeface="Inter"/>
                <a:cs typeface="Inter"/>
                <a:sym typeface="Inter"/>
              </a:rPr>
              <a:t>穿越核心城区、医院、学校等对声环境要求极高的区域</a:t>
            </a:r>
            <a:endParaRPr lang="en-US" sz="700" b="0" i="0" u="none" strike="noStrike">
              <a:solidFill>
                <a:schemeClr val="bg1">
                  <a:alpha val="65098"/>
                </a:schemeClr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6746240" y="4985385"/>
            <a:ext cx="3103880" cy="17272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p>
            <a:pPr marL="0" indent="0" algn="l">
              <a:lnSpc>
                <a:spcPct val="117000"/>
              </a:lnSpc>
              <a:defRPr/>
            </a:pPr>
            <a:r>
              <a:rPr lang="en-US" sz="700" b="0" i="0" u="none" strike="noStrike">
                <a:solidFill>
                  <a:schemeClr val="bg1">
                    <a:alpha val="90196"/>
                  </a:schemeClr>
                </a:solidFill>
                <a:latin typeface="Inter Bold"/>
                <a:ea typeface="Inter Bold"/>
                <a:cs typeface="Inter Bold"/>
                <a:sym typeface="Inter Bold"/>
              </a:rPr>
              <a:t>典型案例：</a:t>
            </a:r>
            <a:r>
              <a:rPr lang="en-US" sz="700" b="0" i="0" u="none" strike="noStrike">
                <a:solidFill>
                  <a:schemeClr val="bg1">
                    <a:alpha val="65098"/>
                  </a:schemeClr>
                </a:solidFill>
                <a:latin typeface="Inter"/>
                <a:ea typeface="Inter"/>
                <a:cs typeface="Inter"/>
                <a:sym typeface="Inter"/>
              </a:rPr>
              <a:t>成都地铁5号线、北京13号线核心高架段</a:t>
            </a:r>
            <a:endParaRPr lang="en-US" sz="700" b="0" i="0" u="none" strike="noStrike">
              <a:solidFill>
                <a:schemeClr val="bg1">
                  <a:alpha val="65098"/>
                </a:schemeClr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" name="AutoShape 31"/>
          <p:cNvSpPr/>
          <p:nvPr/>
        </p:nvSpPr>
        <p:spPr>
          <a:xfrm>
            <a:off x="1012190" y="1324610"/>
            <a:ext cx="2769870" cy="228727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chemeClr val="bg1">
                    <a:alpha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基础通用型结构</a:t>
            </a:r>
            <a:br>
              <a:rPr lang="en-US" sz="1600" b="0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chemeClr val="bg1">
                    <a:alpha val="5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结构简洁，施工便捷，是轨道交通降噪中最基础、应用最普遍的形式，可根据需求组合不同吸声材料。</a:t>
            </a:r>
            <a:endParaRPr lang="en-US" sz="1100" b="0" i="0" u="none" strike="noStrike">
              <a:solidFill>
                <a:schemeClr val="bg1">
                  <a:alpha val="50196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32"/>
          <p:cNvSpPr/>
          <p:nvPr/>
        </p:nvSpPr>
        <p:spPr>
          <a:xfrm>
            <a:off x="3936365" y="1324610"/>
            <a:ext cx="2642870" cy="228727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chemeClr val="bg1">
                    <a:alpha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折臂强化型结构</a:t>
            </a:r>
            <a:br>
              <a:rPr lang="en-US" sz="1600" b="0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chemeClr val="bg1">
                    <a:alpha val="5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通过顶部折臂有效阻挡噪声绕射，在提升降噪效果的同时，兼顾了结构通透性与景观协调性，平衡成本与效益。</a:t>
            </a:r>
            <a:endParaRPr lang="en-US" sz="1100" b="0" i="0" u="none" strike="noStrike">
              <a:solidFill>
                <a:schemeClr val="bg1">
                  <a:alpha val="50196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6587490" y="1324610"/>
            <a:ext cx="3468370" cy="228727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chemeClr val="bg1">
                    <a:alpha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极致密闭型结构</a:t>
            </a:r>
            <a:br>
              <a:rPr lang="en-US" sz="1600" b="0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chemeClr val="bg1">
                    <a:alpha val="5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也称“声隧道”，全方位包裹轨道空间，能最大程度隔绝噪声传播，是应对高敏感声环境区域的终极解决方案。</a:t>
            </a:r>
            <a:endParaRPr lang="en-US" sz="1100" b="0" i="0" u="none" strike="noStrike">
              <a:solidFill>
                <a:schemeClr val="bg1">
                  <a:alpha val="50196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76580" y="455295"/>
            <a:ext cx="5765800" cy="3232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510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  <a:sym typeface="+mn-ea"/>
              </a:rPr>
              <a:t>M1：行业技术标准与规范现状</a:t>
            </a:r>
            <a:endParaRPr lang="en-US" altLang="en-US" sz="1510" b="1" dirty="0">
              <a:solidFill>
                <a:srgbClr val="333333"/>
              </a:solidFill>
              <a:latin typeface="Noto Sans SC Bold" pitchFamily="34" charset="0"/>
              <a:ea typeface="Noto Sans SC Bold" pitchFamily="34" charset="-122"/>
              <a:cs typeface="Noto Sans SC Bold" pitchFamily="34" charset="-120"/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25" y="288290"/>
            <a:ext cx="9156700" cy="1778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1" name="组合 40"/>
          <p:cNvGrpSpPr/>
          <p:nvPr/>
        </p:nvGrpSpPr>
        <p:grpSpPr>
          <a:xfrm>
            <a:off x="9577302" y="215877"/>
            <a:ext cx="1695878" cy="706616"/>
            <a:chOff x="9577302" y="1165376"/>
            <a:chExt cx="1695878" cy="706616"/>
          </a:xfrm>
          <a:solidFill>
            <a:schemeClr val="bg1"/>
          </a:solidFill>
        </p:grpSpPr>
        <p:sp>
          <p:nvSpPr>
            <p:cNvPr id="42" name="矩形 41"/>
            <p:cNvSpPr/>
            <p:nvPr/>
          </p:nvSpPr>
          <p:spPr>
            <a:xfrm>
              <a:off x="9721312" y="1295952"/>
              <a:ext cx="1440100" cy="4320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43" name="图片 42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77302" y="1165376"/>
              <a:ext cx="1695878" cy="706616"/>
            </a:xfrm>
            <a:prstGeom prst="rect">
              <a:avLst/>
            </a:prstGeom>
            <a:grpFill/>
          </p:spPr>
        </p:pic>
      </p:grpSp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297305" y="864235"/>
            <a:ext cx="9144000" cy="5143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2414905" y="1105535"/>
            <a:ext cx="2286000" cy="203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通透材料三代演进对比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990205" y="1207135"/>
            <a:ext cx="2019300" cy="101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p>
            <a:pPr marL="0" indent="0" algn="r">
              <a:lnSpc>
                <a:spcPct val="100000"/>
              </a:lnSpc>
              <a:defRPr/>
            </a:pPr>
            <a:r>
              <a:rPr lang="en-US" sz="600" b="0" i="0" u="none" strike="noStrike" spc="2">
                <a:solidFill>
                  <a:srgbClr val="FFFFFF">
                    <a:alpha val="40000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MATERIAL GENERATION EVOLUTION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729105" y="2870835"/>
            <a:ext cx="317500" cy="152400"/>
          </a:xfrm>
          <a:prstGeom prst="roundRect">
            <a:avLst>
              <a:gd name="adj" fmla="val 0"/>
            </a:avLst>
          </a:prstGeom>
          <a:solidFill>
            <a:srgbClr val="D354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729105" y="2870835"/>
            <a:ext cx="317500" cy="152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p>
            <a:pPr marL="0" indent="0" algn="ctr">
              <a:lnSpc>
                <a:spcPct val="100000"/>
              </a:lnSpc>
              <a:defRPr/>
            </a:pPr>
            <a:r>
              <a:rPr lang="en-US" sz="600" b="1" i="0" u="none" strike="noStrike" spc="2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GEN 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110105" y="2870835"/>
            <a:ext cx="457200" cy="152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p>
            <a:pPr marL="0" indent="0" algn="l">
              <a:lnSpc>
                <a:spcPct val="100000"/>
              </a:lnSpc>
              <a:defRPr/>
            </a:pPr>
            <a:r>
              <a:rPr lang="en-US" sz="800" b="1" i="0" u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夹胶玻璃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729105" y="3099435"/>
            <a:ext cx="2590800" cy="190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p>
            <a:pPr marL="0" indent="0" algn="l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D354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10~15</a:t>
            </a:r>
            <a:r>
              <a:rPr lang="en-US" sz="800" b="0" i="0" u="none" strike="noStrike">
                <a:solidFill>
                  <a:srgbClr val="D35400"/>
                </a:solidFill>
                <a:latin typeface="Inter Medium"/>
                <a:ea typeface="Inter Medium"/>
                <a:cs typeface="Inter Medium"/>
                <a:sym typeface="Inter Medium"/>
              </a:rPr>
              <a:t>年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729105" y="3315335"/>
            <a:ext cx="2590800" cy="101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p>
            <a:pPr marL="0" indent="0" algn="l">
              <a:lnSpc>
                <a:spcPct val="100000"/>
              </a:lnSpc>
              <a:defRPr/>
            </a:pPr>
            <a:r>
              <a:rPr lang="en-US" sz="600" b="0" i="0" u="none" strike="noStrike">
                <a:solidFill>
                  <a:srgbClr val="FFFFFF">
                    <a:alpha val="45098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设计使用寿命基准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830705" y="3505835"/>
            <a:ext cx="1206500" cy="12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p>
            <a:pPr marL="0" indent="0" algn="l">
              <a:lnSpc>
                <a:spcPct val="117000"/>
              </a:lnSpc>
              <a:defRPr/>
            </a:pPr>
            <a:r>
              <a:rPr lang="en-US" sz="600" b="0" i="0" u="none" strike="noStrike">
                <a:solidFill>
                  <a:srgbClr val="FFFFFF">
                    <a:alpha val="70196"/>
                  </a:srgbClr>
                </a:solidFill>
                <a:latin typeface="Inter"/>
                <a:ea typeface="Inter"/>
                <a:cs typeface="Inter"/>
                <a:sym typeface="Inter"/>
              </a:rPr>
              <a:t>本体重量大，安装</a:t>
            </a:r>
            <a:r>
              <a:rPr lang="en-US" sz="600" b="1" i="0" u="none" strike="noStrik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荷载压力高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830705" y="3683635"/>
            <a:ext cx="1206500" cy="12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p>
            <a:pPr marL="0" indent="0" algn="l">
              <a:lnSpc>
                <a:spcPct val="117000"/>
              </a:lnSpc>
              <a:defRPr/>
            </a:pPr>
            <a:r>
              <a:rPr lang="en-US" sz="600" b="0" i="0" u="none" strike="noStrike">
                <a:solidFill>
                  <a:srgbClr val="FFFFFF">
                    <a:alpha val="70196"/>
                  </a:srgbClr>
                </a:solidFill>
                <a:latin typeface="Inter"/>
                <a:ea typeface="Inter"/>
                <a:cs typeface="Inter"/>
                <a:sym typeface="Inter"/>
              </a:rPr>
              <a:t>受外力易自爆，</a:t>
            </a:r>
            <a:r>
              <a:rPr lang="en-US" sz="600" b="1" i="0" u="none" strike="noStrik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安全隐患显著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830705" y="3861435"/>
            <a:ext cx="1206500" cy="12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p>
            <a:pPr marL="0" indent="0" algn="l">
              <a:lnSpc>
                <a:spcPct val="117000"/>
              </a:lnSpc>
              <a:defRPr/>
            </a:pPr>
            <a:r>
              <a:rPr lang="en-US" sz="600" b="0" i="0" u="none" strike="noStrike">
                <a:solidFill>
                  <a:srgbClr val="FFFFFF">
                    <a:alpha val="70196"/>
                  </a:srgbClr>
                </a:solidFill>
                <a:latin typeface="Inter"/>
                <a:ea typeface="Inter"/>
                <a:cs typeface="Inter"/>
                <a:sym typeface="Inter"/>
              </a:rPr>
              <a:t>抗冲击性能弱，</a:t>
            </a:r>
            <a:r>
              <a:rPr lang="en-US" sz="600" b="1" i="0" u="none" strike="noStrik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维护成本偏高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830705" y="4039235"/>
            <a:ext cx="1206500" cy="12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p>
            <a:pPr marL="0" indent="0" algn="l">
              <a:lnSpc>
                <a:spcPct val="117000"/>
              </a:lnSpc>
              <a:defRPr/>
            </a:pPr>
            <a:r>
              <a:rPr lang="en-US" sz="600" b="0" i="0" u="none" strike="noStrike">
                <a:solidFill>
                  <a:srgbClr val="FFFFFF">
                    <a:alpha val="70196"/>
                  </a:srgbClr>
                </a:solidFill>
                <a:latin typeface="Inter"/>
                <a:ea typeface="Inter"/>
                <a:cs typeface="Inter"/>
                <a:sym typeface="Inter"/>
              </a:rPr>
              <a:t>早期应用：</a:t>
            </a:r>
            <a:r>
              <a:rPr lang="en-US" sz="600" b="1" i="0" u="none" strike="noStrik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国内初代地铁线路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573905" y="2870835"/>
            <a:ext cx="317500" cy="152400"/>
          </a:xfrm>
          <a:prstGeom prst="roundRect">
            <a:avLst>
              <a:gd name="adj" fmla="val 0"/>
            </a:avLst>
          </a:prstGeom>
          <a:solidFill>
            <a:srgbClr val="2C3E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4573905" y="2870835"/>
            <a:ext cx="317500" cy="152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p>
            <a:pPr marL="0" indent="0" algn="ctr">
              <a:lnSpc>
                <a:spcPct val="100000"/>
              </a:lnSpc>
              <a:defRPr/>
            </a:pPr>
            <a:r>
              <a:rPr lang="en-US" sz="600" b="1" i="0" u="none" strike="noStrike" spc="2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GEN 2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954905" y="2870835"/>
            <a:ext cx="787400" cy="152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p>
            <a:pPr marL="0" indent="0" algn="l">
              <a:lnSpc>
                <a:spcPct val="100000"/>
              </a:lnSpc>
              <a:defRPr/>
            </a:pPr>
            <a:r>
              <a:rPr lang="en-US" sz="800" b="1" i="0" u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聚碳酸酯 PC 板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573905" y="3099435"/>
            <a:ext cx="2590800" cy="190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p>
            <a:pPr marL="0" indent="0" algn="l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D354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8~12</a:t>
            </a:r>
            <a:r>
              <a:rPr lang="en-US" sz="800" b="0" i="0" u="none" strike="noStrike">
                <a:solidFill>
                  <a:srgbClr val="D35400"/>
                </a:solidFill>
                <a:latin typeface="Inter Medium"/>
                <a:ea typeface="Inter Medium"/>
                <a:cs typeface="Inter Medium"/>
                <a:sym typeface="Inter Medium"/>
              </a:rPr>
              <a:t>年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573905" y="3315335"/>
            <a:ext cx="2590800" cy="101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p>
            <a:pPr marL="0" indent="0" algn="l">
              <a:lnSpc>
                <a:spcPct val="100000"/>
              </a:lnSpc>
              <a:defRPr/>
            </a:pPr>
            <a:r>
              <a:rPr lang="en-US" sz="600" b="0" i="0" u="none" strike="noStrike">
                <a:solidFill>
                  <a:srgbClr val="FFFFFF">
                    <a:alpha val="45098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实际有效服役周期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675505" y="3505835"/>
            <a:ext cx="1460500" cy="12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p>
            <a:pPr marL="0" indent="0" algn="l">
              <a:lnSpc>
                <a:spcPct val="117000"/>
              </a:lnSpc>
              <a:defRPr/>
            </a:pPr>
            <a:r>
              <a:rPr lang="en-US" sz="600" b="0" i="0" u="none" strike="noStrike">
                <a:solidFill>
                  <a:srgbClr val="FFFFFF">
                    <a:alpha val="70196"/>
                  </a:srgbClr>
                </a:solidFill>
                <a:latin typeface="Inter"/>
                <a:ea typeface="Inter"/>
                <a:cs typeface="Inter"/>
                <a:sym typeface="Inter"/>
              </a:rPr>
              <a:t>耐候性不足，户外使用</a:t>
            </a:r>
            <a:r>
              <a:rPr lang="en-US" sz="600" b="1" i="0" u="none" strike="noStrik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易黄变老化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675505" y="3683635"/>
            <a:ext cx="1460500" cy="12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p>
            <a:pPr marL="0" indent="0" algn="l">
              <a:lnSpc>
                <a:spcPct val="117000"/>
              </a:lnSpc>
              <a:defRPr/>
            </a:pPr>
            <a:r>
              <a:rPr lang="en-US" sz="600" b="0" i="0" u="none" strike="noStrike">
                <a:solidFill>
                  <a:srgbClr val="FFFFFF">
                    <a:alpha val="70196"/>
                  </a:srgbClr>
                </a:solidFill>
                <a:latin typeface="Inter"/>
                <a:ea typeface="Inter"/>
                <a:cs typeface="Inter"/>
                <a:sym typeface="Inter"/>
              </a:rPr>
              <a:t>高温或弯折处易出现</a:t>
            </a:r>
            <a:r>
              <a:rPr lang="en-US" sz="600" b="1" i="0" u="none" strike="noStrik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应力开裂问题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675505" y="3861435"/>
            <a:ext cx="1460500" cy="12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p>
            <a:pPr marL="0" indent="0" algn="l">
              <a:lnSpc>
                <a:spcPct val="117000"/>
              </a:lnSpc>
              <a:defRPr/>
            </a:pPr>
            <a:r>
              <a:rPr lang="en-US" sz="600" b="0" i="0" u="none" strike="noStrike">
                <a:solidFill>
                  <a:srgbClr val="FFFFFF">
                    <a:alpha val="70196"/>
                  </a:srgbClr>
                </a:solidFill>
                <a:latin typeface="Inter"/>
                <a:ea typeface="Inter"/>
                <a:cs typeface="Inter"/>
                <a:sym typeface="Inter"/>
              </a:rPr>
              <a:t>虽重量轻，但长期</a:t>
            </a:r>
            <a:r>
              <a:rPr lang="en-US" sz="600" b="1" i="0" u="none" strike="noStrik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光学衰减快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675505" y="4039235"/>
            <a:ext cx="1460500" cy="12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p>
            <a:pPr marL="0" indent="0" algn="l">
              <a:lnSpc>
                <a:spcPct val="117000"/>
              </a:lnSpc>
              <a:defRPr/>
            </a:pPr>
            <a:r>
              <a:rPr lang="en-US" sz="600" b="0" i="0" u="none" strike="noStrike">
                <a:solidFill>
                  <a:srgbClr val="FFFFFF">
                    <a:alpha val="70196"/>
                  </a:srgbClr>
                </a:solidFill>
                <a:latin typeface="Inter"/>
                <a:ea typeface="Inter"/>
                <a:cs typeface="Inter"/>
                <a:sym typeface="Inter"/>
              </a:rPr>
              <a:t>过渡应用：</a:t>
            </a:r>
            <a:r>
              <a:rPr lang="en-US" sz="600" b="1" i="0" u="none" strike="noStrik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部分城市轨道交通线路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418705" y="2870835"/>
            <a:ext cx="317500" cy="152400"/>
          </a:xfrm>
          <a:prstGeom prst="roundRect">
            <a:avLst>
              <a:gd name="adj" fmla="val 0"/>
            </a:avLst>
          </a:prstGeom>
          <a:solidFill>
            <a:srgbClr val="0F3A3E">
              <a:alpha val="100000"/>
            </a:srgbClr>
          </a:solidFill>
          <a:ln w="12700" cap="flat" cmpd="sng">
            <a:solidFill>
              <a:srgbClr val="D35400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7418705" y="2870835"/>
            <a:ext cx="317500" cy="152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p>
            <a:pPr marL="0" indent="0" algn="ctr">
              <a:lnSpc>
                <a:spcPct val="100000"/>
              </a:lnSpc>
              <a:defRPr/>
            </a:pPr>
            <a:r>
              <a:rPr lang="en-US" sz="600" b="1" i="0" u="none" strike="noStrike" spc="2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GEN 3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812405" y="2870835"/>
            <a:ext cx="762000" cy="152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p>
            <a:pPr marL="0" indent="0" algn="l">
              <a:lnSpc>
                <a:spcPct val="100000"/>
              </a:lnSpc>
              <a:defRPr/>
            </a:pPr>
            <a:r>
              <a:rPr lang="en-US" sz="800" b="1" i="0" u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加筋亚克力板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418705" y="3099435"/>
            <a:ext cx="2590800" cy="190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p>
            <a:pPr marL="0" indent="0" algn="l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27AE6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25+</a:t>
            </a:r>
            <a:r>
              <a:rPr lang="en-US" sz="800" b="0" i="0" u="none" strike="noStrike">
                <a:solidFill>
                  <a:srgbClr val="27AE60"/>
                </a:solidFill>
                <a:latin typeface="Inter Medium"/>
                <a:ea typeface="Inter Medium"/>
                <a:cs typeface="Inter Medium"/>
                <a:sym typeface="Inter Medium"/>
              </a:rPr>
              <a:t>年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418705" y="3315335"/>
            <a:ext cx="2590800" cy="101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p>
            <a:pPr marL="0" indent="0" algn="l">
              <a:lnSpc>
                <a:spcPct val="100000"/>
              </a:lnSpc>
              <a:defRPr/>
            </a:pPr>
            <a:r>
              <a:rPr lang="en-US" sz="600" b="0" i="0" u="none" strike="noStrike">
                <a:solidFill>
                  <a:srgbClr val="FFFFFF">
                    <a:alpha val="45098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行业新一代标准寿命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533005" y="3505835"/>
            <a:ext cx="1524000" cy="12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p>
            <a:pPr marL="0" indent="0" algn="l">
              <a:lnSpc>
                <a:spcPct val="117000"/>
              </a:lnSpc>
              <a:defRPr/>
            </a:pPr>
            <a:r>
              <a:rPr lang="en-US" sz="600" b="0" i="0" u="none" strike="noStrike">
                <a:solidFill>
                  <a:srgbClr val="FFFFFF">
                    <a:alpha val="70196"/>
                  </a:srgbClr>
                </a:solidFill>
                <a:latin typeface="Inter"/>
                <a:ea typeface="Inter"/>
                <a:cs typeface="Inter"/>
                <a:sym typeface="Inter"/>
              </a:rPr>
              <a:t>综合性能最优，实现</a:t>
            </a:r>
            <a:r>
              <a:rPr lang="en-US" sz="600" b="1" i="0" u="none" strike="noStrik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高透光与耐候兼顾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533005" y="3683635"/>
            <a:ext cx="1524000" cy="12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p>
            <a:pPr marL="0" indent="0" algn="l">
              <a:lnSpc>
                <a:spcPct val="117000"/>
              </a:lnSpc>
              <a:defRPr/>
            </a:pPr>
            <a:r>
              <a:rPr lang="en-US" sz="600" b="0" i="0" u="none" strike="noStrike">
                <a:solidFill>
                  <a:srgbClr val="FFFFFF">
                    <a:alpha val="70196"/>
                  </a:srgbClr>
                </a:solidFill>
                <a:latin typeface="Inter"/>
                <a:ea typeface="Inter"/>
                <a:cs typeface="Inter"/>
                <a:sym typeface="Inter"/>
              </a:rPr>
              <a:t>抗冲击强度大幅提升，</a:t>
            </a:r>
            <a:r>
              <a:rPr lang="en-US" sz="600" b="1" i="0" u="none" strike="noStrik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杜绝自爆风险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7533005" y="3861435"/>
            <a:ext cx="1524000" cy="12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p>
            <a:pPr marL="0" indent="0" algn="l">
              <a:lnSpc>
                <a:spcPct val="117000"/>
              </a:lnSpc>
              <a:defRPr/>
            </a:pPr>
            <a:r>
              <a:rPr lang="en-US" sz="600" b="0" i="0" u="none" strike="noStrike">
                <a:solidFill>
                  <a:srgbClr val="FFFFFF">
                    <a:alpha val="70196"/>
                  </a:srgbClr>
                </a:solidFill>
                <a:latin typeface="Inter"/>
                <a:ea typeface="Inter"/>
                <a:cs typeface="Inter"/>
                <a:sym typeface="Inter"/>
              </a:rPr>
              <a:t>表面抗污易洁，长期</a:t>
            </a:r>
            <a:r>
              <a:rPr lang="en-US" sz="600" b="1" i="0" u="none" strike="noStrik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保持视觉通透度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533005" y="4039235"/>
            <a:ext cx="1524000" cy="12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p>
            <a:pPr marL="0" indent="0" algn="l">
              <a:lnSpc>
                <a:spcPct val="117000"/>
              </a:lnSpc>
              <a:defRPr/>
            </a:pPr>
            <a:r>
              <a:rPr lang="en-US" sz="600" b="0" i="0" u="none" strike="noStrike">
                <a:solidFill>
                  <a:srgbClr val="FFFFFF">
                    <a:alpha val="70196"/>
                  </a:srgbClr>
                </a:solidFill>
                <a:latin typeface="Inter"/>
                <a:ea typeface="Inter"/>
                <a:cs typeface="Inter"/>
                <a:sym typeface="Inter"/>
              </a:rPr>
              <a:t>主流应用：</a:t>
            </a:r>
            <a:r>
              <a:rPr lang="en-US" sz="600" b="1" i="0" u="none" strike="noStrik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成都10/上海17号线等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1729105" y="5664835"/>
            <a:ext cx="1435100" cy="203200"/>
          </a:xfrm>
          <a:prstGeom prst="roundRect">
            <a:avLst>
              <a:gd name="adj" fmla="val 0"/>
            </a:avLst>
          </a:prstGeom>
          <a:solidFill>
            <a:srgbClr val="FFFFFF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1881505" y="5715635"/>
            <a:ext cx="1143000" cy="101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p>
            <a:pPr marL="0" indent="0" algn="l">
              <a:lnSpc>
                <a:spcPct val="100000"/>
              </a:lnSpc>
              <a:defRPr/>
            </a:pPr>
            <a:r>
              <a:rPr lang="en-US" sz="600" b="1" i="0" u="none" strike="noStrike" spc="1">
                <a:solidFill>
                  <a:srgbClr val="FFFFFF">
                    <a:alpha val="5019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玻璃：基础但有局限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3189605" y="5664835"/>
            <a:ext cx="1854200" cy="203200"/>
          </a:xfrm>
          <a:prstGeom prst="roundRect">
            <a:avLst>
              <a:gd name="adj" fmla="val 0"/>
            </a:avLst>
          </a:prstGeom>
          <a:solidFill>
            <a:srgbClr val="D354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3418205" y="5715635"/>
            <a:ext cx="1397000" cy="101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p>
            <a:pPr marL="0" indent="0" algn="l">
              <a:lnSpc>
                <a:spcPct val="100000"/>
              </a:lnSpc>
              <a:defRPr/>
            </a:pPr>
            <a:r>
              <a:rPr lang="en-US" sz="600" b="1" i="0" u="none" strike="noStrike" spc="1">
                <a:solidFill>
                  <a:srgbClr val="FFFFFF">
                    <a:alpha val="5019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PC板：轻便但寿命短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5069205" y="5664835"/>
            <a:ext cx="4940300" cy="203200"/>
          </a:xfrm>
          <a:prstGeom prst="roundRect">
            <a:avLst>
              <a:gd name="adj" fmla="val 0"/>
            </a:avLst>
          </a:prstGeom>
          <a:solidFill>
            <a:srgbClr val="D354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38" name="AutoShape 38"/>
          <p:cNvSpPr/>
          <p:nvPr/>
        </p:nvSpPr>
        <p:spPr>
          <a:xfrm>
            <a:off x="6021705" y="5715635"/>
            <a:ext cx="2794000" cy="101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p>
            <a:pPr marL="0" indent="0" algn="l">
              <a:lnSpc>
                <a:spcPct val="100000"/>
              </a:lnSpc>
              <a:defRPr/>
            </a:pPr>
            <a:r>
              <a:rPr lang="en-US" sz="600" b="1" i="0" u="none" strike="noStrike" spc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加筋亚克力：25年+长寿命主流之选 ▶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1729105" y="1486535"/>
            <a:ext cx="2590800" cy="12827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p>
            <a:pPr marL="0"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第一代基础材料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FFFFFF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光学性能尚可，但受限于物理特性，安全与耐久性存在明显短板，仅适用于早期低要求场景。</a:t>
            </a:r>
            <a:endParaRPr lang="en-US" sz="1100" b="0" i="0" u="none" strike="noStrike">
              <a:solidFill>
                <a:srgbClr val="FFFFFF">
                  <a:alpha val="5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0" name="AutoShape 40"/>
          <p:cNvSpPr/>
          <p:nvPr/>
        </p:nvSpPr>
        <p:spPr>
          <a:xfrm>
            <a:off x="4573905" y="1486535"/>
            <a:ext cx="2590800" cy="12827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p>
            <a:pPr marL="0"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第二代过渡材料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FFFFFF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解决了重量问题，但耐候性缺陷导致其无法长期保持性能，属于技术迭代中的过渡性方案。</a:t>
            </a:r>
            <a:endParaRPr lang="en-US" sz="1100" b="0" i="0" u="none" strike="noStrike">
              <a:solidFill>
                <a:srgbClr val="FFFFFF">
                  <a:alpha val="5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4" name="AutoShape 41"/>
          <p:cNvSpPr/>
          <p:nvPr/>
        </p:nvSpPr>
        <p:spPr>
          <a:xfrm>
            <a:off x="7418705" y="1486535"/>
            <a:ext cx="2590800" cy="12827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p>
            <a:pPr marL="0"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第三代主流优选材料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FFFFFF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结合了高透光、耐候、抗冲击与长寿命的核心优势，是当前轨道交通声屏障的最佳材料选择。</a:t>
            </a:r>
            <a:endParaRPr lang="en-US" sz="1100" b="0" i="0" u="none" strike="noStrike">
              <a:solidFill>
                <a:srgbClr val="FFFFFF">
                  <a:alpha val="5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576580" y="455295"/>
            <a:ext cx="5765800" cy="3232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510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  <a:sym typeface="+mn-ea"/>
              </a:rPr>
              <a:t>M1：行业技术标准与规范现状</a:t>
            </a:r>
            <a:endParaRPr lang="en-US" altLang="en-US" sz="1510" b="1" dirty="0">
              <a:solidFill>
                <a:srgbClr val="333333"/>
              </a:solidFill>
              <a:latin typeface="Noto Sans SC Bold" pitchFamily="34" charset="0"/>
              <a:ea typeface="Noto Sans SC Bold" pitchFamily="34" charset="-122"/>
              <a:cs typeface="Noto Sans SC Bold" pitchFamily="34" charset="-120"/>
              <a:sym typeface="+mn-ea"/>
            </a:endParaRP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" y="288290"/>
            <a:ext cx="9156700" cy="1778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1" name="组合 40"/>
          <p:cNvGrpSpPr/>
          <p:nvPr/>
        </p:nvGrpSpPr>
        <p:grpSpPr>
          <a:xfrm>
            <a:off x="9577302" y="215877"/>
            <a:ext cx="1695878" cy="706616"/>
            <a:chOff x="9577302" y="1165376"/>
            <a:chExt cx="1695878" cy="706616"/>
          </a:xfrm>
          <a:solidFill>
            <a:schemeClr val="bg1"/>
          </a:solidFill>
        </p:grpSpPr>
        <p:sp>
          <p:nvSpPr>
            <p:cNvPr id="42" name="矩形 41"/>
            <p:cNvSpPr/>
            <p:nvPr/>
          </p:nvSpPr>
          <p:spPr>
            <a:xfrm>
              <a:off x="9721312" y="1295952"/>
              <a:ext cx="1440100" cy="4320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pic>
          <p:nvPicPr>
            <p:cNvPr id="43" name="图片 42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77302" y="1165376"/>
              <a:ext cx="1695878" cy="706616"/>
            </a:xfrm>
            <a:prstGeom prst="rect">
              <a:avLst/>
            </a:prstGeom>
            <a:grpFill/>
          </p:spPr>
        </p:pic>
      </p:grpSp>
      <p:sp>
        <p:nvSpPr>
          <p:cNvPr id="5" name="AutoShape 5"/>
          <p:cNvSpPr/>
          <p:nvPr/>
        </p:nvSpPr>
        <p:spPr>
          <a:xfrm>
            <a:off x="1009015" y="1373505"/>
            <a:ext cx="3530600" cy="56832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chemeClr val="tx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前沿趋势：防腐技术升级与光伏声屏障</a:t>
            </a:r>
            <a:endParaRPr lang="en-US" sz="2400" b="1" i="0" u="none" strike="noStrike">
              <a:solidFill>
                <a:schemeClr val="tx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513205" y="1941830"/>
            <a:ext cx="7532370" cy="245681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1400" i="0" u="none" strike="noStrike">
                <a:solidFill>
                  <a:schemeClr val="tx1"/>
                </a:solidFill>
                <a:latin typeface="Inter Bold"/>
                <a:ea typeface="Inter Bold"/>
                <a:cs typeface="Inter Bold"/>
                <a:sym typeface="Inter Bold"/>
              </a:rPr>
              <a:t>防腐技术：全生命周期成本革新</a:t>
            </a:r>
            <a:endParaRPr lang="en-US" sz="1400" i="0" u="none" strike="noStrike">
              <a:solidFill>
                <a:schemeClr val="tx1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schemeClr val="tx1">
                    <a:alpha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采用“热镀锌+氟碳漆”复合工艺，突破传统局限，实现全生命周期成本大幅降低</a:t>
            </a:r>
            <a:r>
              <a:rPr lang="en-US" sz="1400">
                <a:solidFill>
                  <a:schemeClr val="tx1"/>
                </a:solidFill>
                <a:latin typeface="Inter Bold"/>
                <a:ea typeface="Inter Bold"/>
                <a:cs typeface="Inter Bold"/>
                <a:sym typeface="Inter Bold"/>
              </a:rPr>
              <a:t>350%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，是更经济的长效防腐方案。</a:t>
            </a:r>
            <a:endParaRPr lang="en-US" sz="1400">
              <a:solidFill>
                <a:schemeClr val="tx1">
                  <a:alpha val="80000"/>
                </a:schemeClr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schemeClr val="tx1"/>
                </a:solidFill>
                <a:latin typeface="Inter Bold"/>
                <a:ea typeface="Inter Bold"/>
                <a:cs typeface="Inter Bold"/>
                <a:sym typeface="Inter Bold"/>
              </a:rPr>
              <a:t>传统热镀锌工艺：</a:t>
            </a:r>
            <a:r>
              <a:rPr lang="en-US" sz="1400">
                <a:solidFill>
                  <a:schemeClr val="tx1">
                    <a:alpha val="74902"/>
                  </a:schemeClr>
                </a:solidFill>
                <a:latin typeface="Inter"/>
                <a:ea typeface="Inter"/>
                <a:cs typeface="Inter"/>
                <a:sym typeface="Inter"/>
              </a:rPr>
              <a:t>防腐年限仅10-15年，难以支撑工程设计使用年限，后期维护成本高昂。</a:t>
            </a:r>
            <a:endParaRPr lang="en-US" sz="1400">
              <a:solidFill>
                <a:schemeClr val="tx1">
                  <a:alpha val="74902"/>
                </a:schemeClr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schemeClr val="tx1"/>
                </a:solidFill>
                <a:latin typeface="Inter Bold"/>
                <a:ea typeface="Inter Bold"/>
                <a:cs typeface="Inter Bold"/>
                <a:sym typeface="Inter Bold"/>
              </a:rPr>
              <a:t>复合工艺优势：</a:t>
            </a:r>
            <a:r>
              <a:rPr lang="en-US" sz="1400">
                <a:solidFill>
                  <a:schemeClr val="tx1">
                    <a:alpha val="74902"/>
                  </a:schemeClr>
                </a:solidFill>
                <a:latin typeface="Inter"/>
                <a:ea typeface="Inter"/>
                <a:cs typeface="Inter"/>
                <a:sym typeface="Inter"/>
              </a:rPr>
              <a:t>防腐年限超30年，初期略高但全周期成本最优。</a:t>
            </a:r>
            <a:endParaRPr lang="en-US" sz="1400">
              <a:solidFill>
                <a:schemeClr val="tx1">
                  <a:alpha val="74902"/>
                </a:schemeClr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schemeClr val="tx1"/>
                </a:solidFill>
                <a:latin typeface="Inter Bold"/>
                <a:ea typeface="Inter Bold"/>
                <a:cs typeface="Inter Bold"/>
                <a:sym typeface="Inter Bold"/>
              </a:rPr>
              <a:t>应用价值：</a:t>
            </a:r>
            <a:r>
              <a:rPr lang="en-US" sz="1400">
                <a:solidFill>
                  <a:schemeClr val="tx1">
                    <a:alpha val="74902"/>
                  </a:schemeClr>
                </a:solidFill>
                <a:latin typeface="Inter"/>
                <a:ea typeface="Inter"/>
                <a:cs typeface="Inter"/>
                <a:sym typeface="Inter"/>
              </a:rPr>
              <a:t>提升结构耐久性，适配高标准工程要求。</a:t>
            </a:r>
            <a:endParaRPr lang="en-US" sz="1400" i="0" u="none" strike="noStrike">
              <a:solidFill>
                <a:schemeClr val="tx1">
                  <a:alpha val="74902"/>
                </a:schemeClr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z="1400" i="0" u="none" strike="noStrike">
              <a:solidFill>
                <a:schemeClr val="tx1">
                  <a:alpha val="74902"/>
                </a:schemeClr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z="1400" i="0" u="none" strike="noStrike">
              <a:solidFill>
                <a:schemeClr val="tx1">
                  <a:alpha val="74902"/>
                </a:schemeClr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z="1400" i="0" u="none" strike="noStrike">
              <a:solidFill>
                <a:schemeClr val="tx1">
                  <a:alpha val="80000"/>
                </a:schemeClr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indent="0" algn="l">
              <a:lnSpc>
                <a:spcPct val="100000"/>
              </a:lnSpc>
              <a:defRPr/>
            </a:pPr>
            <a:endParaRPr lang="en-US" sz="1400" i="0" u="none" strike="noStrike" spc="2">
              <a:solidFill>
                <a:schemeClr val="tx1">
                  <a:alpha val="80000"/>
                </a:schemeClr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224915" y="2089785"/>
            <a:ext cx="76200" cy="1654175"/>
          </a:xfrm>
          <a:prstGeom prst="roundRect">
            <a:avLst>
              <a:gd name="adj" fmla="val 0"/>
            </a:avLst>
          </a:prstGeom>
          <a:solidFill>
            <a:srgbClr val="D354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  <a:endParaRPr sz="2400">
              <a:solidFill>
                <a:schemeClr val="tx1"/>
              </a:solidFill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1584960" y="4032250"/>
            <a:ext cx="4635500" cy="25209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p>
            <a:pPr marL="0" indent="0" algn="l">
              <a:lnSpc>
                <a:spcPct val="100000"/>
              </a:lnSpc>
              <a:defRPr/>
            </a:pPr>
            <a:r>
              <a:rPr lang="en-US" sz="1000" i="0" u="none" strike="noStrike" spc="2">
                <a:solidFill>
                  <a:schemeClr val="tx1">
                    <a:alpha val="34902"/>
                  </a:schemeClr>
                </a:solidFill>
                <a:latin typeface="+mj-ea"/>
                <a:ea typeface="+mj-ea"/>
                <a:cs typeface="Inter Bold"/>
                <a:sym typeface="Inter Bold"/>
              </a:rPr>
              <a:t>跨界融合：光伏声屏障技术与场景应用</a:t>
            </a:r>
            <a:endParaRPr lang="en-US" sz="1000" i="0" u="none" strike="noStrike" spc="2">
              <a:solidFill>
                <a:schemeClr val="tx1">
                  <a:alpha val="34902"/>
                </a:schemeClr>
              </a:solidFill>
              <a:latin typeface="+mj-ea"/>
              <a:ea typeface="+mj-ea"/>
              <a:cs typeface="Inter Bold"/>
              <a:sym typeface="Inter Bold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1513205" y="4464685"/>
            <a:ext cx="8420735" cy="169481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 i="0" u="none" strike="noStrike" spc="1">
                <a:solidFill>
                  <a:schemeClr val="tx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技术内核</a:t>
            </a:r>
            <a:r>
              <a:rPr lang="zh-CN" altLang="en-US" sz="1400" i="0" u="none" strike="noStrike" spc="1">
                <a:solidFill>
                  <a:schemeClr val="tx1"/>
                </a:solidFill>
                <a:latin typeface="Inter ExtraBold"/>
                <a:cs typeface="Inter ExtraBold"/>
                <a:sym typeface="Inter ExtraBold"/>
              </a:rPr>
              <a:t>：</a:t>
            </a:r>
            <a:r>
              <a:rPr lang="en-US" sz="1400">
                <a:solidFill>
                  <a:schemeClr val="tx1">
                    <a:alpha val="74902"/>
                  </a:schemeClr>
                </a:solidFill>
                <a:latin typeface="Inter"/>
                <a:ea typeface="Inter"/>
                <a:cs typeface="Inter"/>
                <a:sym typeface="Inter"/>
              </a:rPr>
              <a:t>光伏板与声屏障集成，同步实现</a:t>
            </a:r>
            <a:r>
              <a:rPr lang="en-US" sz="1400">
                <a:solidFill>
                  <a:schemeClr val="tx1"/>
                </a:solidFill>
                <a:latin typeface="Inter Bold"/>
                <a:ea typeface="Inter Bold"/>
                <a:cs typeface="Inter Bold"/>
                <a:sym typeface="Inter Bold"/>
              </a:rPr>
              <a:t>噪声治理+清洁能源发电</a:t>
            </a:r>
            <a:r>
              <a:rPr lang="en-US" sz="1400">
                <a:solidFill>
                  <a:schemeClr val="tx1">
                    <a:alpha val="74902"/>
                  </a:schemeClr>
                </a:solidFill>
                <a:latin typeface="Inter"/>
                <a:ea typeface="Inter"/>
                <a:cs typeface="Inter"/>
                <a:sym typeface="Inter"/>
              </a:rPr>
              <a:t>双重核心功能。</a:t>
            </a:r>
            <a:endParaRPr lang="en-US" sz="1400">
              <a:solidFill>
                <a:schemeClr val="tx1">
                  <a:alpha val="74902"/>
                </a:schemeClr>
              </a:solidFill>
              <a:latin typeface="Inter"/>
              <a:ea typeface="Inter"/>
              <a:cs typeface="Inter"/>
              <a:sym typeface="Inter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 spc="1">
                <a:solidFill>
                  <a:schemeClr val="tx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多元形态</a:t>
            </a:r>
            <a:r>
              <a:rPr lang="zh-CN" altLang="en-US" sz="1400" spc="1">
                <a:solidFill>
                  <a:schemeClr val="tx1"/>
                </a:solidFill>
                <a:latin typeface="Inter ExtraBold"/>
                <a:cs typeface="Inter ExtraBold"/>
                <a:sym typeface="Inter ExtraBold"/>
              </a:rPr>
              <a:t>：</a:t>
            </a:r>
            <a:r>
              <a:rPr lang="en-US" sz="1400">
                <a:solidFill>
                  <a:schemeClr val="tx1">
                    <a:alpha val="74902"/>
                  </a:schemeClr>
                </a:solidFill>
                <a:latin typeface="Inter"/>
                <a:ea typeface="Inter"/>
                <a:cs typeface="Inter"/>
                <a:sym typeface="Inter"/>
              </a:rPr>
              <a:t>涵盖透光型、漫反射型及彩色景观型，灵活适配</a:t>
            </a:r>
            <a:r>
              <a:rPr lang="en-US" sz="1400">
                <a:solidFill>
                  <a:schemeClr val="tx1"/>
                </a:solidFill>
                <a:latin typeface="Inter Bold"/>
                <a:ea typeface="Inter Bold"/>
                <a:cs typeface="Inter Bold"/>
                <a:sym typeface="Inter Bold"/>
              </a:rPr>
              <a:t>居民区、城市核心区</a:t>
            </a:r>
            <a:r>
              <a:rPr lang="en-US" sz="1400">
                <a:solidFill>
                  <a:schemeClr val="tx1">
                    <a:alpha val="74902"/>
                  </a:schemeClr>
                </a:solidFill>
                <a:latin typeface="Inter"/>
                <a:ea typeface="Inter"/>
                <a:cs typeface="Inter"/>
                <a:sym typeface="Inter"/>
              </a:rPr>
              <a:t>等不同场景。</a:t>
            </a:r>
            <a:endParaRPr lang="en-US" sz="1400">
              <a:solidFill>
                <a:schemeClr val="tx1">
                  <a:alpha val="74902"/>
                </a:schemeClr>
              </a:solidFill>
              <a:latin typeface="Inter"/>
              <a:ea typeface="Inter"/>
              <a:cs typeface="Inter"/>
              <a:sym typeface="Inter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 spc="1">
                <a:solidFill>
                  <a:schemeClr val="tx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价值延伸</a:t>
            </a:r>
            <a:r>
              <a:rPr lang="zh-CN" altLang="en-US" sz="1400" spc="1">
                <a:solidFill>
                  <a:schemeClr val="tx1"/>
                </a:solidFill>
                <a:latin typeface="Inter ExtraBold"/>
                <a:cs typeface="Inter ExtraBold"/>
                <a:sym typeface="Inter ExtraBold"/>
              </a:rPr>
              <a:t>：</a:t>
            </a:r>
            <a:r>
              <a:rPr lang="en-US" sz="1400">
                <a:solidFill>
                  <a:schemeClr val="tx1">
                    <a:alpha val="74902"/>
                  </a:schemeClr>
                </a:solidFill>
                <a:latin typeface="Inter"/>
                <a:ea typeface="Inter"/>
                <a:cs typeface="Inter"/>
                <a:sym typeface="Inter"/>
              </a:rPr>
              <a:t>在解决环境问题的同时创造能源收益，推动基础设施向</a:t>
            </a:r>
            <a:r>
              <a:rPr lang="en-US" sz="1400">
                <a:solidFill>
                  <a:schemeClr val="tx1"/>
                </a:solidFill>
                <a:latin typeface="Inter Bold"/>
                <a:ea typeface="Inter Bold"/>
                <a:cs typeface="Inter Bold"/>
                <a:sym typeface="Inter Bold"/>
              </a:rPr>
              <a:t>绿色低碳转型</a:t>
            </a:r>
            <a:r>
              <a:rPr lang="en-US" sz="1400">
                <a:solidFill>
                  <a:schemeClr val="tx1">
                    <a:alpha val="74902"/>
                  </a:schemeClr>
                </a:solidFill>
                <a:latin typeface="Inter"/>
                <a:ea typeface="Inter"/>
                <a:cs typeface="Inter"/>
                <a:sym typeface="Inter"/>
              </a:rPr>
              <a:t>。</a:t>
            </a:r>
            <a:endParaRPr lang="en-US" sz="1400">
              <a:solidFill>
                <a:schemeClr val="tx1">
                  <a:alpha val="74902"/>
                </a:schemeClr>
              </a:solidFill>
              <a:latin typeface="Inter"/>
              <a:ea typeface="Inter"/>
              <a:cs typeface="Inter"/>
              <a:sym typeface="Inter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 spc="1">
                <a:solidFill>
                  <a:schemeClr val="tx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发展前景</a:t>
            </a:r>
            <a:r>
              <a:rPr lang="zh-CN" altLang="en-US" sz="1400" spc="1">
                <a:solidFill>
                  <a:schemeClr val="tx1"/>
                </a:solidFill>
                <a:latin typeface="Inter ExtraBold"/>
                <a:cs typeface="Inter ExtraBold"/>
                <a:sym typeface="Inter ExtraBold"/>
              </a:rPr>
              <a:t>：</a:t>
            </a:r>
            <a:r>
              <a:rPr lang="en-US" sz="1400">
                <a:solidFill>
                  <a:schemeClr val="tx1"/>
                </a:solidFill>
                <a:latin typeface="Inter Bold"/>
                <a:ea typeface="Inter Bold"/>
                <a:cs typeface="Inter Bold"/>
                <a:sym typeface="Inter Bold"/>
              </a:rPr>
              <a:t>行业新方向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——政策驱动下的降噪与能源一体化，是未来基础设施建设的重要增长点。</a:t>
            </a:r>
            <a:endParaRPr lang="en-US" sz="1400" i="0" u="none" strike="noStrike">
              <a:solidFill>
                <a:schemeClr val="tx1">
                  <a:alpha val="80000"/>
                </a:schemeClr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defRPr/>
            </a:pPr>
            <a:endParaRPr lang="en-US" sz="1400" i="0" u="none" strike="noStrike">
              <a:solidFill>
                <a:schemeClr val="tx1">
                  <a:alpha val="74902"/>
                </a:schemeClr>
              </a:solidFill>
              <a:latin typeface="Inter"/>
              <a:ea typeface="Inter"/>
              <a:cs typeface="Inter"/>
              <a:sym typeface="Inter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z="1400" i="0" u="none" strike="noStrike" spc="1">
              <a:solidFill>
                <a:schemeClr val="tx1">
                  <a:alpha val="74902"/>
                </a:schemeClr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5329555" y="5544820"/>
            <a:ext cx="2222500" cy="31559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p>
            <a:pPr marL="0" indent="0" algn="l">
              <a:lnSpc>
                <a:spcPct val="117000"/>
              </a:lnSpc>
              <a:defRPr/>
            </a:pPr>
            <a:endParaRPr lang="en-US" sz="900" i="0" u="none" strike="noStrike">
              <a:solidFill>
                <a:schemeClr val="tx1">
                  <a:alpha val="74902"/>
                </a:schemeClr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4465320" y="5182870"/>
            <a:ext cx="4635500" cy="915670"/>
          </a:xfrm>
          <a:prstGeom prst="roundRect">
            <a:avLst>
              <a:gd name="adj" fmla="val 0"/>
            </a:avLst>
          </a:prstGeom>
          <a:solidFill>
            <a:srgbClr val="FFFFFF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  <a:endParaRPr sz="2400">
              <a:solidFill>
                <a:schemeClr val="tx1"/>
              </a:solidFill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10009505" y="3743960"/>
            <a:ext cx="76200" cy="91567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  <a:endParaRPr sz="2400">
              <a:solidFill>
                <a:schemeClr val="tx1"/>
              </a:solidFill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5257165" y="3491865"/>
            <a:ext cx="571500" cy="25209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p>
            <a:pPr marL="0" indent="0" algn="ctr">
              <a:lnSpc>
                <a:spcPct val="100000"/>
              </a:lnSpc>
              <a:defRPr/>
            </a:pPr>
            <a:endParaRPr lang="en-US" sz="900" i="0" u="none" strike="noStrike" spc="1">
              <a:solidFill>
                <a:schemeClr val="tx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5888990" y="3176270"/>
            <a:ext cx="2095500" cy="31559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p>
            <a:pPr marL="0" indent="0" algn="l">
              <a:lnSpc>
                <a:spcPct val="117000"/>
              </a:lnSpc>
              <a:defRPr/>
            </a:pPr>
            <a:endParaRPr lang="en-US" sz="900" i="0" u="none" strike="noStrike">
              <a:solidFill>
                <a:schemeClr val="tx1">
                  <a:alpha val="74902"/>
                </a:schemeClr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9933305" y="3816350"/>
            <a:ext cx="76200" cy="91567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  <a:endParaRPr sz="2400">
              <a:solidFill>
                <a:schemeClr val="tx1"/>
              </a:solidFill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10225405" y="4431665"/>
            <a:ext cx="571500" cy="25209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p>
            <a:pPr marL="0" indent="0" algn="ctr">
              <a:lnSpc>
                <a:spcPct val="100000"/>
              </a:lnSpc>
              <a:defRPr/>
            </a:pPr>
            <a:endParaRPr lang="en-US" sz="900" i="0" u="none" strike="noStrike" spc="1">
              <a:solidFill>
                <a:schemeClr val="tx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5888990" y="3620770"/>
            <a:ext cx="1968500" cy="31559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p>
            <a:pPr marL="0" indent="0" algn="l">
              <a:lnSpc>
                <a:spcPct val="117000"/>
              </a:lnSpc>
              <a:defRPr/>
            </a:pPr>
            <a:endParaRPr lang="en-US" sz="900" i="0" u="none" strike="noStrike">
              <a:solidFill>
                <a:schemeClr val="tx1">
                  <a:alpha val="74902"/>
                </a:schemeClr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5292090" y="4179570"/>
            <a:ext cx="342900" cy="25209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p>
            <a:pPr marL="0" indent="0" algn="l">
              <a:lnSpc>
                <a:spcPct val="100000"/>
              </a:lnSpc>
              <a:defRPr/>
            </a:pPr>
            <a:endParaRPr lang="en-US" sz="900" i="0" u="none" strike="noStrike" spc="1">
              <a:solidFill>
                <a:schemeClr val="tx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5878830" y="4179570"/>
            <a:ext cx="2921000" cy="31559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p>
            <a:pPr marL="0" indent="0" algn="l">
              <a:lnSpc>
                <a:spcPct val="117000"/>
              </a:lnSpc>
              <a:defRPr/>
            </a:pPr>
            <a:endParaRPr lang="en-US" sz="900" i="0" u="none" strike="noStrike">
              <a:solidFill>
                <a:schemeClr val="tx1">
                  <a:alpha val="80000"/>
                </a:schemeClr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25" y="288290"/>
            <a:ext cx="9156700" cy="177800"/>
          </a:xfrm>
          <a:prstGeom prst="rect">
            <a:avLst/>
          </a:prstGeom>
        </p:spPr>
      </p:pic>
      <p:sp>
        <p:nvSpPr>
          <p:cNvPr id="35" name="AutoShape 9"/>
          <p:cNvSpPr/>
          <p:nvPr/>
        </p:nvSpPr>
        <p:spPr>
          <a:xfrm>
            <a:off x="1224915" y="4436745"/>
            <a:ext cx="76200" cy="981075"/>
          </a:xfrm>
          <a:prstGeom prst="roundRect">
            <a:avLst>
              <a:gd name="adj" fmla="val 0"/>
            </a:avLst>
          </a:prstGeom>
          <a:solidFill>
            <a:srgbClr val="D354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  <a:endParaRPr sz="24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1" name="组合 40"/>
          <p:cNvGrpSpPr/>
          <p:nvPr/>
        </p:nvGrpSpPr>
        <p:grpSpPr>
          <a:xfrm>
            <a:off x="9577302" y="215877"/>
            <a:ext cx="1695878" cy="706616"/>
            <a:chOff x="9577302" y="1165376"/>
            <a:chExt cx="1695878" cy="706616"/>
          </a:xfrm>
          <a:solidFill>
            <a:schemeClr val="bg1"/>
          </a:solidFill>
        </p:grpSpPr>
        <p:sp>
          <p:nvSpPr>
            <p:cNvPr id="42" name="矩形 41"/>
            <p:cNvSpPr/>
            <p:nvPr/>
          </p:nvSpPr>
          <p:spPr>
            <a:xfrm>
              <a:off x="9721312" y="1295952"/>
              <a:ext cx="1440100" cy="4320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43" name="图片 42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77302" y="1165376"/>
              <a:ext cx="1695878" cy="706616"/>
            </a:xfrm>
            <a:prstGeom prst="rect">
              <a:avLst/>
            </a:prstGeom>
            <a:grpFill/>
          </p:spPr>
        </p:pic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25" y="215900"/>
            <a:ext cx="9156700" cy="177800"/>
          </a:xfrm>
          <a:prstGeom prst="rect">
            <a:avLst/>
          </a:prstGeom>
        </p:spPr>
      </p:pic>
      <p:sp>
        <p:nvSpPr>
          <p:cNvPr id="45" name="文本框 44"/>
          <p:cNvSpPr txBox="1"/>
          <p:nvPr/>
        </p:nvSpPr>
        <p:spPr>
          <a:xfrm>
            <a:off x="576580" y="455295"/>
            <a:ext cx="5765800" cy="3232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510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  <a:sym typeface="+mn-ea"/>
              </a:rPr>
              <a:t>M2：行业</a:t>
            </a:r>
            <a:r>
              <a:rPr lang="zh-CN" altLang="en-US" sz="1510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  <a:sym typeface="+mn-ea"/>
              </a:rPr>
              <a:t>痛点与技术</a:t>
            </a:r>
            <a:r>
              <a:rPr lang="zh-CN" altLang="en-US" sz="1510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  <a:sym typeface="+mn-ea"/>
              </a:rPr>
              <a:t>剖析</a:t>
            </a:r>
            <a:endParaRPr lang="zh-CN" altLang="en-US" sz="1510" b="1" dirty="0">
              <a:solidFill>
                <a:srgbClr val="333333"/>
              </a:solidFill>
              <a:latin typeface="Noto Sans SC Bold" pitchFamily="34" charset="0"/>
              <a:ea typeface="Noto Sans SC Bold" pitchFamily="34" charset="-122"/>
              <a:cs typeface="Noto Sans SC Bold" pitchFamily="34" charset="-12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85185" y="1224280"/>
            <a:ext cx="57658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lnSpc>
                <a:spcPct val="100000"/>
              </a:lnSpc>
              <a:defRPr/>
            </a:pPr>
            <a:r>
              <a:rPr lang="en-US" sz="1600" b="1">
                <a:solidFill>
                  <a:srgbClr val="D354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行业痛点：六大维度系统性问题突出</a:t>
            </a:r>
            <a:endParaRPr lang="en-US" altLang="en-US" sz="1600" b="1">
              <a:solidFill>
                <a:srgbClr val="D354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20950" y="1656080"/>
            <a:ext cx="7820660" cy="3046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  <a:sym typeface="+mn-ea"/>
              </a:rPr>
              <a:t>设计：设计过于侧重功能导向，缺乏景观融合与全生命周期成本考量</a:t>
            </a:r>
            <a:endParaRPr lang="zh-CN" altLang="en-US" sz="1600" b="1" dirty="0">
              <a:solidFill>
                <a:srgbClr val="333333"/>
              </a:solidFill>
              <a:latin typeface="Noto Sans SC Bold" pitchFamily="34" charset="0"/>
              <a:ea typeface="Noto Sans SC Bold" pitchFamily="34" charset="-122"/>
              <a:cs typeface="Noto Sans SC Bold" pitchFamily="34" charset="-120"/>
              <a:sym typeface="+mn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  <a:sym typeface="+mn-ea"/>
              </a:rPr>
              <a:t>安全：屏体脱落隐患突出，防火性能不足，结构抗振与防护存在缺陷</a:t>
            </a:r>
            <a:endParaRPr lang="zh-CN" altLang="en-US" sz="1600" b="1" dirty="0">
              <a:solidFill>
                <a:srgbClr val="333333"/>
              </a:solidFill>
              <a:latin typeface="Noto Sans SC Bold" pitchFamily="34" charset="0"/>
              <a:ea typeface="Noto Sans SC Bold" pitchFamily="34" charset="-122"/>
              <a:cs typeface="Noto Sans SC Bold" pitchFamily="34" charset="-120"/>
              <a:sym typeface="+mn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  <a:sym typeface="+mn-ea"/>
              </a:rPr>
              <a:t>耐久：材料老化、钢结构锈蚀速度快，实际使用寿命无法达到设计年限</a:t>
            </a:r>
            <a:endParaRPr lang="zh-CN" altLang="en-US" sz="1600" b="1" dirty="0">
              <a:solidFill>
                <a:srgbClr val="333333"/>
              </a:solidFill>
              <a:latin typeface="Noto Sans SC Bold" pitchFamily="34" charset="0"/>
              <a:ea typeface="Noto Sans SC Bold" pitchFamily="34" charset="-122"/>
              <a:cs typeface="Noto Sans SC Bold" pitchFamily="34" charset="-120"/>
              <a:sym typeface="+mn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  <a:sym typeface="+mn-ea"/>
              </a:rPr>
              <a:t>维保：缺乏有效维护通道，顶部积水积灰问题普遍，维护手段极为有限</a:t>
            </a:r>
            <a:endParaRPr lang="zh-CN" altLang="en-US" sz="1600" b="1" dirty="0">
              <a:solidFill>
                <a:srgbClr val="333333"/>
              </a:solidFill>
              <a:latin typeface="Noto Sans SC Bold" pitchFamily="34" charset="0"/>
              <a:ea typeface="Noto Sans SC Bold" pitchFamily="34" charset="-122"/>
              <a:cs typeface="Noto Sans SC Bold" pitchFamily="34" charset="-120"/>
              <a:sym typeface="+mn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  <a:sym typeface="+mn-ea"/>
              </a:rPr>
              <a:t>检修：螺栓数量众多且检修窗口极短，部件更换操作困难，效率低下</a:t>
            </a:r>
            <a:endParaRPr lang="zh-CN" altLang="en-US" sz="1600" b="1" dirty="0">
              <a:solidFill>
                <a:srgbClr val="333333"/>
              </a:solidFill>
              <a:latin typeface="Noto Sans SC Bold" pitchFamily="34" charset="0"/>
              <a:ea typeface="Noto Sans SC Bold" pitchFamily="34" charset="-122"/>
              <a:cs typeface="Noto Sans SC Bold" pitchFamily="34" charset="-120"/>
              <a:sym typeface="+mn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  <a:sym typeface="+mn-ea"/>
              </a:rPr>
              <a:t>施工：既有线施工场地受限，作业成本高昂且安全风险极大</a:t>
            </a:r>
            <a:endParaRPr lang="zh-CN" altLang="en-US" sz="1600" b="1" dirty="0">
              <a:solidFill>
                <a:srgbClr val="333333"/>
              </a:solidFill>
              <a:latin typeface="Noto Sans SC Bold" pitchFamily="34" charset="0"/>
              <a:ea typeface="Noto Sans SC Bold" pitchFamily="34" charset="-122"/>
              <a:cs typeface="Noto Sans SC Bold" pitchFamily="34" charset="-120"/>
              <a:sym typeface="+mn-ea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974850" y="1989455"/>
            <a:ext cx="368300" cy="152400"/>
          </a:xfrm>
          <a:prstGeom prst="roundRect">
            <a:avLst>
              <a:gd name="adj" fmla="val 0"/>
            </a:avLst>
          </a:prstGeom>
          <a:solidFill>
            <a:srgbClr val="E74C3C">
              <a:alpha val="2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2089150" y="2014855"/>
            <a:ext cx="152400" cy="101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p>
            <a:pPr marL="0" indent="0" algn="l">
              <a:lnSpc>
                <a:spcPct val="100000"/>
              </a:lnSpc>
              <a:defRPr/>
            </a:pPr>
            <a:r>
              <a:rPr lang="en-US" sz="600" b="1" i="0" u="none" strike="noStrike">
                <a:solidFill>
                  <a:srgbClr val="E74C3C"/>
                </a:solidFill>
                <a:latin typeface="Inter Bold"/>
                <a:ea typeface="Inter Bold"/>
                <a:cs typeface="Inter Bold"/>
                <a:sym typeface="Inter Bold"/>
              </a:rPr>
              <a:t>高频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974850" y="2459355"/>
            <a:ext cx="368300" cy="152400"/>
          </a:xfrm>
          <a:prstGeom prst="roundRect">
            <a:avLst>
              <a:gd name="adj" fmla="val 0"/>
            </a:avLst>
          </a:prstGeom>
          <a:solidFill>
            <a:srgbClr val="E74C3C">
              <a:alpha val="2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2089150" y="2484755"/>
            <a:ext cx="152400" cy="101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p>
            <a:pPr marL="0" indent="0" algn="l">
              <a:lnSpc>
                <a:spcPct val="100000"/>
              </a:lnSpc>
              <a:defRPr/>
            </a:pPr>
            <a:r>
              <a:rPr lang="en-US" sz="600" b="1" i="0" u="none" strike="noStrike">
                <a:solidFill>
                  <a:srgbClr val="E74C3C"/>
                </a:solidFill>
                <a:latin typeface="Inter Bold"/>
                <a:ea typeface="Inter Bold"/>
                <a:cs typeface="Inter Bold"/>
                <a:sym typeface="Inter Bold"/>
              </a:rPr>
              <a:t>高频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1974850" y="2929255"/>
            <a:ext cx="368300" cy="152400"/>
          </a:xfrm>
          <a:prstGeom prst="roundRect">
            <a:avLst>
              <a:gd name="adj" fmla="val 0"/>
            </a:avLst>
          </a:prstGeom>
          <a:solidFill>
            <a:srgbClr val="E74C3C">
              <a:alpha val="2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2089150" y="2967355"/>
            <a:ext cx="152400" cy="101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p>
            <a:pPr marL="0" indent="0" algn="l">
              <a:lnSpc>
                <a:spcPct val="100000"/>
              </a:lnSpc>
              <a:defRPr/>
            </a:pPr>
            <a:r>
              <a:rPr lang="en-US" sz="600" b="1" i="0" u="none" strike="noStrike">
                <a:solidFill>
                  <a:srgbClr val="E74C3C"/>
                </a:solidFill>
                <a:latin typeface="Inter Bold"/>
                <a:ea typeface="Inter Bold"/>
                <a:cs typeface="Inter Bold"/>
                <a:sym typeface="Inter Bold"/>
              </a:rPr>
              <a:t>高频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1974850" y="3411855"/>
            <a:ext cx="368300" cy="152400"/>
          </a:xfrm>
          <a:prstGeom prst="roundRect">
            <a:avLst>
              <a:gd name="adj" fmla="val 0"/>
            </a:avLst>
          </a:prstGeom>
          <a:solidFill>
            <a:srgbClr val="F1C40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40" name="AutoShape 40"/>
          <p:cNvSpPr/>
          <p:nvPr/>
        </p:nvSpPr>
        <p:spPr>
          <a:xfrm>
            <a:off x="2089150" y="3437255"/>
            <a:ext cx="152400" cy="101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p>
            <a:pPr marL="0" indent="0" algn="l">
              <a:lnSpc>
                <a:spcPct val="100000"/>
              </a:lnSpc>
              <a:defRPr/>
            </a:pPr>
            <a:r>
              <a:rPr lang="en-US" sz="600" b="1" i="0" u="none" strike="noStrike">
                <a:solidFill>
                  <a:srgbClr val="F1C40F"/>
                </a:solidFill>
                <a:latin typeface="Inter Bold"/>
                <a:ea typeface="Inter Bold"/>
                <a:cs typeface="Inter Bold"/>
                <a:sym typeface="Inter Bold"/>
              </a:rPr>
              <a:t>中频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>
            <a:off x="1974850" y="3881755"/>
            <a:ext cx="368300" cy="152400"/>
          </a:xfrm>
          <a:prstGeom prst="roundRect">
            <a:avLst>
              <a:gd name="adj" fmla="val 0"/>
            </a:avLst>
          </a:prstGeom>
          <a:solidFill>
            <a:srgbClr val="F1C40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48" name="AutoShape 48"/>
          <p:cNvSpPr/>
          <p:nvPr/>
        </p:nvSpPr>
        <p:spPr>
          <a:xfrm>
            <a:off x="2089150" y="3907155"/>
            <a:ext cx="152400" cy="101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p>
            <a:pPr marL="0" indent="0" algn="l">
              <a:lnSpc>
                <a:spcPct val="100000"/>
              </a:lnSpc>
              <a:defRPr/>
            </a:pPr>
            <a:r>
              <a:rPr lang="en-US" sz="600" b="1" i="0" u="none" strike="noStrike">
                <a:solidFill>
                  <a:srgbClr val="F1C40F"/>
                </a:solidFill>
                <a:latin typeface="Inter Bold"/>
                <a:ea typeface="Inter Bold"/>
                <a:cs typeface="Inter Bold"/>
                <a:sym typeface="Inter Bold"/>
              </a:rPr>
              <a:t>中频</a:t>
            </a:r>
            <a:endParaRPr lang="en-US" sz="1100"/>
          </a:p>
        </p:txBody>
      </p:sp>
      <p:sp>
        <p:nvSpPr>
          <p:cNvPr id="55" name="AutoShape 55"/>
          <p:cNvSpPr/>
          <p:nvPr/>
        </p:nvSpPr>
        <p:spPr>
          <a:xfrm>
            <a:off x="1974850" y="4351655"/>
            <a:ext cx="368300" cy="152400"/>
          </a:xfrm>
          <a:prstGeom prst="roundRect">
            <a:avLst>
              <a:gd name="adj" fmla="val 0"/>
            </a:avLst>
          </a:prstGeom>
          <a:solidFill>
            <a:srgbClr val="E74C3C">
              <a:alpha val="2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56" name="AutoShape 56"/>
          <p:cNvSpPr/>
          <p:nvPr/>
        </p:nvSpPr>
        <p:spPr>
          <a:xfrm>
            <a:off x="2089150" y="4377055"/>
            <a:ext cx="152400" cy="101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p>
            <a:pPr marL="0" indent="0" algn="l">
              <a:lnSpc>
                <a:spcPct val="100000"/>
              </a:lnSpc>
              <a:defRPr/>
            </a:pPr>
            <a:r>
              <a:rPr lang="en-US" sz="600" b="1" i="0" u="none" strike="noStrike">
                <a:solidFill>
                  <a:srgbClr val="E74C3C"/>
                </a:solidFill>
                <a:latin typeface="Inter Bold"/>
                <a:ea typeface="Inter Bold"/>
                <a:cs typeface="Inter Bold"/>
                <a:sym typeface="Inter Bold"/>
              </a:rPr>
              <a:t>高频</a:t>
            </a:r>
            <a:endParaRPr lang="en-US" sz="1100"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1" name="组合 40"/>
          <p:cNvGrpSpPr/>
          <p:nvPr/>
        </p:nvGrpSpPr>
        <p:grpSpPr>
          <a:xfrm>
            <a:off x="9577302" y="215877"/>
            <a:ext cx="1695878" cy="706616"/>
            <a:chOff x="9577302" y="1165376"/>
            <a:chExt cx="1695878" cy="706616"/>
          </a:xfrm>
          <a:solidFill>
            <a:schemeClr val="bg1"/>
          </a:solidFill>
        </p:grpSpPr>
        <p:sp>
          <p:nvSpPr>
            <p:cNvPr id="42" name="矩形 41"/>
            <p:cNvSpPr/>
            <p:nvPr/>
          </p:nvSpPr>
          <p:spPr>
            <a:xfrm>
              <a:off x="9721312" y="1295952"/>
              <a:ext cx="1440100" cy="4320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43" name="图片 42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77302" y="1165376"/>
              <a:ext cx="1695878" cy="706616"/>
            </a:xfrm>
            <a:prstGeom prst="rect">
              <a:avLst/>
            </a:prstGeom>
            <a:grpFill/>
          </p:spPr>
        </p:pic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25" y="215900"/>
            <a:ext cx="9156700" cy="177800"/>
          </a:xfrm>
          <a:prstGeom prst="rect">
            <a:avLst/>
          </a:prstGeom>
        </p:spPr>
      </p:pic>
      <p:sp>
        <p:nvSpPr>
          <p:cNvPr id="45" name="文本框 44"/>
          <p:cNvSpPr txBox="1"/>
          <p:nvPr/>
        </p:nvSpPr>
        <p:spPr>
          <a:xfrm>
            <a:off x="576580" y="455295"/>
            <a:ext cx="5765800" cy="3232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510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  <a:sym typeface="+mn-ea"/>
              </a:rPr>
              <a:t>M2：行业</a:t>
            </a:r>
            <a:r>
              <a:rPr lang="zh-CN" altLang="en-US" sz="1510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  <a:sym typeface="+mn-ea"/>
              </a:rPr>
              <a:t>痛点与技术</a:t>
            </a:r>
            <a:r>
              <a:rPr lang="zh-CN" altLang="en-US" sz="1510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  <a:sym typeface="+mn-ea"/>
              </a:rPr>
              <a:t>剖析</a:t>
            </a:r>
            <a:endParaRPr lang="zh-CN" altLang="en-US" sz="1510" b="1" dirty="0">
              <a:solidFill>
                <a:srgbClr val="333333"/>
              </a:solidFill>
              <a:latin typeface="Noto Sans SC Bold" pitchFamily="34" charset="0"/>
              <a:ea typeface="Noto Sans SC Bold" pitchFamily="34" charset="-122"/>
              <a:cs typeface="Noto Sans SC Bold" pitchFamily="34" charset="-12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96895" y="1224280"/>
            <a:ext cx="57658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lnSpc>
                <a:spcPct val="100000"/>
              </a:lnSpc>
              <a:defRPr/>
            </a:pPr>
            <a:r>
              <a:rPr lang="en-US" sz="1600" b="1">
                <a:solidFill>
                  <a:srgbClr val="D354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核心痛点：主流通透材料各有致命缺陷，选型失误代价极高</a:t>
            </a:r>
            <a:endParaRPr lang="en-US" sz="1600" b="1">
              <a:solidFill>
                <a:srgbClr val="D354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937260" y="1800225"/>
            <a:ext cx="2891155" cy="267398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Autofit/>
          </a:bodyPr>
          <a:p>
            <a:pPr marL="0" indent="0" algn="ctr">
              <a:lnSpc>
                <a:spcPct val="100000"/>
              </a:lnSpc>
              <a:defRPr/>
            </a:pPr>
            <a:r>
              <a:rPr lang="zh-CN" altLang="en-US" sz="1600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  <a:sym typeface="+mn-ea"/>
              </a:rPr>
              <a:t> </a:t>
            </a:r>
            <a:r>
              <a:rPr lang="en-US" altLang="zh-CN" sz="1600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  <a:sym typeface="+mn-ea"/>
              </a:rPr>
              <a:t>      </a:t>
            </a:r>
            <a:r>
              <a:rPr lang="zh-CN" altLang="en-US" sz="1600" b="1" dirty="0">
                <a:solidFill>
                  <a:srgbClr val="0E58C4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  <a:sym typeface="+mn-ea"/>
              </a:rPr>
              <a:t>夹胶玻璃</a:t>
            </a:r>
            <a:endParaRPr lang="zh-CN" altLang="en-US" sz="1600" b="1" dirty="0">
              <a:solidFill>
                <a:srgbClr val="0E58C4"/>
              </a:solidFill>
              <a:latin typeface="Noto Sans SC Bold" pitchFamily="34" charset="0"/>
              <a:ea typeface="Noto Sans SC Bold" pitchFamily="34" charset="-122"/>
              <a:cs typeface="Noto Sans SC Bold" pitchFamily="34" charset="-120"/>
              <a:sym typeface="+mn-ea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  <a:sym typeface="Inter ExtraBold"/>
              </a:rPr>
              <a:t>致命缺陷：结构安全隐患</a:t>
            </a:r>
            <a:endParaRPr lang="zh-CN" altLang="en-US" sz="1600" b="1" dirty="0">
              <a:solidFill>
                <a:srgbClr val="333333"/>
              </a:solidFill>
              <a:latin typeface="Noto Sans SC Bold" pitchFamily="34" charset="0"/>
              <a:ea typeface="Noto Sans SC Bold" pitchFamily="34" charset="-122"/>
              <a:cs typeface="Noto Sans SC Bold" pitchFamily="34" charset="-120"/>
              <a:sym typeface="Inter ExtraBold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抗风能力薄弱：面对强风压易发生形变，极端天气下结构稳定性不足</a:t>
            </a:r>
            <a:endParaRPr lang="zh-CN" altLang="en-US" sz="1600" b="1" dirty="0">
              <a:solidFill>
                <a:srgbClr val="333333"/>
              </a:solidFill>
              <a:latin typeface="Noto Sans SC Bold" pitchFamily="34" charset="0"/>
              <a:ea typeface="Noto Sans SC Bold" pitchFamily="34" charset="-122"/>
              <a:cs typeface="Noto Sans SC Bold" pitchFamily="34" charset="-12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b="1" i="0" u="none" strike="noStrike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  <a:sym typeface="Inter ExtraBold"/>
              </a:rPr>
              <a:t>自爆风险高发：受温差、杂质影响易发生无征兆自爆，碎片飞溅易造成人员财产损失</a:t>
            </a:r>
            <a:endParaRPr lang="zh-CN" altLang="en-US" sz="1600" b="1" i="0" u="none" strike="noStrike" dirty="0">
              <a:solidFill>
                <a:srgbClr val="333333"/>
              </a:solidFill>
              <a:latin typeface="Noto Sans SC Bold" pitchFamily="34" charset="0"/>
              <a:ea typeface="Noto Sans SC Bold" pitchFamily="34" charset="-122"/>
              <a:cs typeface="Noto Sans SC Bold" pitchFamily="34" charset="-120"/>
              <a:sym typeface="Inter ExtraBold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  <a:sym typeface="+mn-ea"/>
              </a:rPr>
              <a:t>维护成本高昂：一旦破损需整体更换，且玻璃自重加大支撑结构损耗</a:t>
            </a:r>
            <a:endParaRPr lang="zh-CN" altLang="en-US" sz="1600" b="1" dirty="0">
              <a:solidFill>
                <a:srgbClr val="333333"/>
              </a:solidFill>
              <a:latin typeface="Noto Sans SC Bold" pitchFamily="34" charset="0"/>
              <a:ea typeface="Noto Sans SC Bold" pitchFamily="34" charset="-122"/>
              <a:cs typeface="Noto Sans SC Bold" pitchFamily="34" charset="-120"/>
              <a:sym typeface="+mn-ea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  <a:sym typeface="Inter"/>
              </a:rPr>
              <a:t>厚重特性增加安装难度与运输成本</a:t>
            </a:r>
            <a:endParaRPr lang="zh-CN" altLang="en-US" sz="1600" b="1" i="0" u="none" strike="noStrike" dirty="0">
              <a:solidFill>
                <a:srgbClr val="333333"/>
              </a:solidFill>
              <a:latin typeface="Noto Sans SC Bold" pitchFamily="34" charset="0"/>
              <a:ea typeface="Noto Sans SC Bold" pitchFamily="34" charset="-122"/>
              <a:cs typeface="Noto Sans SC Bold" pitchFamily="34" charset="-120"/>
              <a:sym typeface="Inter"/>
            </a:endParaRPr>
          </a:p>
          <a:p>
            <a:pPr marL="0" indent="0" algn="l">
              <a:lnSpc>
                <a:spcPct val="100000"/>
              </a:lnSpc>
              <a:defRPr/>
            </a:pPr>
            <a:endParaRPr lang="zh-CN" altLang="en-US" sz="1600" b="1" dirty="0">
              <a:solidFill>
                <a:srgbClr val="333333"/>
              </a:solidFill>
              <a:latin typeface="+mj-lt"/>
              <a:ea typeface="Noto Sans SC Bold" pitchFamily="34" charset="-122"/>
              <a:cs typeface="Noto Sans SC Bold" pitchFamily="34" charset="-120"/>
              <a:sym typeface="+mn-ea"/>
            </a:endParaRPr>
          </a:p>
        </p:txBody>
      </p:sp>
      <p:sp>
        <p:nvSpPr>
          <p:cNvPr id="38" name="AutoShape 38"/>
          <p:cNvSpPr/>
          <p:nvPr/>
        </p:nvSpPr>
        <p:spPr>
          <a:xfrm>
            <a:off x="1417955" y="5324475"/>
            <a:ext cx="8293100" cy="292100"/>
          </a:xfrm>
          <a:prstGeom prst="roundRect">
            <a:avLst>
              <a:gd name="adj" fmla="val 0"/>
            </a:avLst>
          </a:prstGeom>
          <a:solidFill>
            <a:srgbClr val="D354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  <a:endParaRPr sz="2000"/>
          </a:p>
        </p:txBody>
      </p:sp>
      <p:sp>
        <p:nvSpPr>
          <p:cNvPr id="2" name="AutoShape 39"/>
          <p:cNvSpPr/>
          <p:nvPr/>
        </p:nvSpPr>
        <p:spPr>
          <a:xfrm>
            <a:off x="1532255" y="5426075"/>
            <a:ext cx="317500" cy="101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p>
            <a:pPr marL="0" indent="0" algn="l">
              <a:lnSpc>
                <a:spcPct val="100000"/>
              </a:lnSpc>
              <a:defRPr/>
            </a:pPr>
            <a:r>
              <a:rPr lang="en-US" sz="800" b="1" i="0" u="none" strike="noStrike" spc="2">
                <a:solidFill>
                  <a:srgbClr val="FFFFFF">
                    <a:alpha val="70196"/>
                  </a:srgbClr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核心结论</a:t>
            </a:r>
            <a:endParaRPr lang="en-US" sz="800" b="1" i="0" u="none" strike="noStrike" spc="2">
              <a:solidFill>
                <a:srgbClr val="FFFFFF">
                  <a:alpha val="70196"/>
                </a:srgbClr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" name="AutoShape 40"/>
          <p:cNvSpPr/>
          <p:nvPr/>
        </p:nvSpPr>
        <p:spPr>
          <a:xfrm>
            <a:off x="2078355" y="5400675"/>
            <a:ext cx="7366000" cy="12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p>
            <a:pPr marL="0" indent="0" algn="l">
              <a:lnSpc>
                <a:spcPct val="108000"/>
              </a:lnSpc>
              <a:defRPr/>
            </a:pPr>
            <a:r>
              <a:rPr lang="en-US" sz="900" b="1" i="0" u="none" strike="noStrik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主流通透材料均存在“致命缺陷”：夹胶玻璃有安全隐患，PC板易老化，亚克力防火不达标，任何选型失误都将带来高昂的后期代价。</a:t>
            </a:r>
            <a:endParaRPr lang="en-US" sz="900" b="1" i="0" u="none" strike="noStrike">
              <a:solidFill>
                <a:srgbClr val="FFFFFF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7" name="AutoShape 10"/>
          <p:cNvSpPr/>
          <p:nvPr/>
        </p:nvSpPr>
        <p:spPr>
          <a:xfrm>
            <a:off x="4248785" y="1872615"/>
            <a:ext cx="2891155" cy="267398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Autofit/>
          </a:bodyPr>
          <a:p>
            <a:pPr marL="0" indent="0" algn="ctr">
              <a:lnSpc>
                <a:spcPct val="100000"/>
              </a:lnSpc>
              <a:defRPr/>
            </a:pPr>
            <a:r>
              <a:rPr lang="zh-CN" altLang="en-US" sz="1600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  <a:sym typeface="+mn-ea"/>
              </a:rPr>
              <a:t> </a:t>
            </a:r>
            <a:r>
              <a:rPr lang="en-US" altLang="zh-CN" sz="1600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  <a:sym typeface="+mn-ea"/>
              </a:rPr>
              <a:t>      </a:t>
            </a:r>
            <a:r>
              <a:rPr lang="zh-CN" altLang="en-US" sz="1600" b="1" dirty="0">
                <a:solidFill>
                  <a:srgbClr val="0E58C4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  <a:sym typeface="+mn-ea"/>
              </a:rPr>
              <a:t>聚碳酸酯 PC 板</a:t>
            </a:r>
            <a:endParaRPr lang="zh-CN" altLang="en-US" sz="1600" b="1" dirty="0">
              <a:solidFill>
                <a:srgbClr val="333333"/>
              </a:solidFill>
              <a:latin typeface="Noto Sans SC Bold" pitchFamily="34" charset="0"/>
              <a:ea typeface="Noto Sans SC Bold" pitchFamily="34" charset="-122"/>
              <a:cs typeface="Noto Sans SC Bold" pitchFamily="34" charset="-120"/>
              <a:sym typeface="+mn-ea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  <a:sym typeface="Inter ExtraBold"/>
              </a:rPr>
              <a:t>致命缺陷：耐候性与老化问题</a:t>
            </a:r>
            <a:endParaRPr lang="zh-CN" altLang="en-US" sz="1600" b="1" dirty="0">
              <a:solidFill>
                <a:srgbClr val="333333"/>
              </a:solidFill>
              <a:latin typeface="Noto Sans SC Bold" pitchFamily="34" charset="0"/>
              <a:ea typeface="Noto Sans SC Bold" pitchFamily="34" charset="-122"/>
              <a:cs typeface="Noto Sans SC Bold" pitchFamily="34" charset="-120"/>
              <a:sym typeface="Inter ExtraBold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  <a:sym typeface="Inter ExtraBold"/>
              </a:rPr>
              <a:t>易黄变老化：长期日晒雨淋后表面泛黄、透光率骤降，2-3年即出现明显视觉劣化</a:t>
            </a:r>
            <a:endParaRPr lang="zh-CN" altLang="en-US" sz="1600" b="1" dirty="0">
              <a:solidFill>
                <a:srgbClr val="333333"/>
              </a:solidFill>
              <a:latin typeface="Noto Sans SC Bold" pitchFamily="34" charset="0"/>
              <a:ea typeface="Noto Sans SC Bold" pitchFamily="34" charset="-122"/>
              <a:cs typeface="Noto Sans SC Bold" pitchFamily="34" charset="-120"/>
              <a:sym typeface="Inter ExtraBold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  <a:sym typeface="Inter ExtraBold"/>
              </a:rPr>
              <a:t>物理性能衰减：老化后变脆易开裂，抗冲击能力大幅下降</a:t>
            </a:r>
            <a:endParaRPr lang="zh-CN" altLang="en-US" sz="1600" b="1" dirty="0">
              <a:solidFill>
                <a:srgbClr val="333333"/>
              </a:solidFill>
              <a:latin typeface="Noto Sans SC Bold" pitchFamily="34" charset="0"/>
              <a:ea typeface="Noto Sans SC Bold" pitchFamily="34" charset="-122"/>
              <a:cs typeface="Noto Sans SC Bold" pitchFamily="34" charset="-120"/>
              <a:sym typeface="Inter ExtraBold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  <a:sym typeface="Inter ExtraBold"/>
              </a:rPr>
              <a:t>维护周期短：为保证美观需频繁清洗或更换，长期运维成本居高不下</a:t>
            </a:r>
            <a:endParaRPr lang="zh-CN" altLang="en-US" sz="1600" b="1" dirty="0">
              <a:solidFill>
                <a:srgbClr val="333333"/>
              </a:solidFill>
              <a:latin typeface="Noto Sans SC Bold" pitchFamily="34" charset="0"/>
              <a:ea typeface="Noto Sans SC Bold" pitchFamily="34" charset="-122"/>
              <a:cs typeface="Noto Sans SC Bold" pitchFamily="34" charset="-120"/>
              <a:sym typeface="Inter ExtraBold"/>
            </a:endParaRPr>
          </a:p>
          <a:p>
            <a:pPr marL="0" indent="0" algn="l">
              <a:lnSpc>
                <a:spcPct val="100000"/>
              </a:lnSpc>
              <a:defRPr/>
            </a:pPr>
            <a:endParaRPr lang="zh-CN" altLang="en-US" sz="1600" b="1" dirty="0">
              <a:solidFill>
                <a:srgbClr val="333333"/>
              </a:solidFill>
              <a:latin typeface="+mj-lt"/>
              <a:ea typeface="Noto Sans SC Bold" pitchFamily="34" charset="-122"/>
              <a:cs typeface="Noto Sans SC Bold" pitchFamily="34" charset="-120"/>
              <a:sym typeface="+mn-ea"/>
            </a:endParaRPr>
          </a:p>
        </p:txBody>
      </p:sp>
      <p:sp>
        <p:nvSpPr>
          <p:cNvPr id="8" name="AutoShape 10"/>
          <p:cNvSpPr/>
          <p:nvPr/>
        </p:nvSpPr>
        <p:spPr>
          <a:xfrm>
            <a:off x="7489190" y="1944370"/>
            <a:ext cx="2891155" cy="267398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Autofit/>
          </a:bodyPr>
          <a:p>
            <a:pPr marL="0" indent="0" algn="ctr">
              <a:lnSpc>
                <a:spcPct val="100000"/>
              </a:lnSpc>
              <a:defRPr/>
            </a:pPr>
            <a:r>
              <a:rPr lang="zh-CN" altLang="en-US" sz="1600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  <a:sym typeface="+mn-ea"/>
              </a:rPr>
              <a:t> </a:t>
            </a:r>
            <a:r>
              <a:rPr lang="en-US" altLang="zh-CN" sz="1600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  <a:sym typeface="+mn-ea"/>
              </a:rPr>
              <a:t>     </a:t>
            </a:r>
            <a:r>
              <a:rPr sz="1600" b="1" dirty="0">
                <a:solidFill>
                  <a:srgbClr val="0E58C4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  <a:sym typeface="+mn-ea"/>
              </a:rPr>
              <a:t>亚克力（PMMA）板</a:t>
            </a:r>
            <a:endParaRPr sz="1600" b="1" dirty="0">
              <a:solidFill>
                <a:srgbClr val="333333"/>
              </a:solidFill>
              <a:latin typeface="Noto Sans SC Bold" pitchFamily="34" charset="0"/>
              <a:ea typeface="Noto Sans SC Bold" pitchFamily="34" charset="-122"/>
              <a:cs typeface="Noto Sans SC Bold" pitchFamily="34" charset="-120"/>
              <a:sym typeface="+mn-ea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  <a:sym typeface="Inter ExtraBold"/>
              </a:rPr>
              <a:t>致命缺陷：消防安全不达标</a:t>
            </a:r>
            <a:endParaRPr lang="zh-CN" altLang="en-US" sz="1600" b="1" dirty="0">
              <a:solidFill>
                <a:srgbClr val="333333"/>
              </a:solidFill>
              <a:latin typeface="Noto Sans SC Bold" pitchFamily="34" charset="0"/>
              <a:ea typeface="Noto Sans SC Bold" pitchFamily="34" charset="-122"/>
              <a:cs typeface="Noto Sans SC Bold" pitchFamily="34" charset="-120"/>
              <a:sym typeface="Inter ExtraBold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sz="1600" b="1">
                <a:solidFill>
                  <a:schemeClr val="tx1"/>
                </a:solidFill>
                <a:latin typeface="Inter Bold"/>
                <a:ea typeface="Inter Bold"/>
                <a:cs typeface="Inter Bold"/>
                <a:sym typeface="Inter Bold"/>
              </a:rPr>
              <a:t>易燃风险突出：</a:t>
            </a:r>
            <a:r>
              <a:rPr lang="en-US" sz="1600">
                <a:solidFill>
                  <a:schemeClr val="tx1">
                    <a:alpha val="74902"/>
                  </a:schemeClr>
                </a:solidFill>
                <a:latin typeface="Inter"/>
                <a:ea typeface="Inter"/>
                <a:cs typeface="Inter"/>
                <a:sym typeface="Inter"/>
              </a:rPr>
              <a:t>多数普通亚克力板易燃，燃烧时释放有毒烟雾，不符合消防规范</a:t>
            </a:r>
            <a:endParaRPr lang="en-US" sz="1600" b="0" i="0" u="none" strike="noStrike">
              <a:solidFill>
                <a:schemeClr val="tx1">
                  <a:alpha val="74902"/>
                </a:schemeClr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endParaRPr lang="zh-CN" altLang="en-US" sz="1600" b="1" dirty="0">
              <a:solidFill>
                <a:srgbClr val="333333"/>
              </a:solidFill>
              <a:latin typeface="Noto Sans SC Bold" pitchFamily="34" charset="0"/>
              <a:ea typeface="Noto Sans SC Bold" pitchFamily="34" charset="-122"/>
              <a:cs typeface="Noto Sans SC Bold" pitchFamily="34" charset="-120"/>
              <a:sym typeface="Inter ExtraBold"/>
            </a:endParaRPr>
          </a:p>
          <a:p>
            <a:pPr marL="0" indent="0" algn="l">
              <a:lnSpc>
                <a:spcPct val="100000"/>
              </a:lnSpc>
              <a:defRPr/>
            </a:pPr>
            <a:endParaRPr lang="zh-CN" altLang="en-US" sz="1600" b="1" dirty="0">
              <a:solidFill>
                <a:srgbClr val="333333"/>
              </a:solidFill>
              <a:latin typeface="+mj-lt"/>
              <a:ea typeface="Noto Sans SC Bold" pitchFamily="34" charset="-122"/>
              <a:cs typeface="Noto Sans SC Bold" pitchFamily="34" charset="-120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1" name="组合 40"/>
          <p:cNvGrpSpPr/>
          <p:nvPr/>
        </p:nvGrpSpPr>
        <p:grpSpPr>
          <a:xfrm>
            <a:off x="9577302" y="215877"/>
            <a:ext cx="1695878" cy="706616"/>
            <a:chOff x="9577302" y="1165376"/>
            <a:chExt cx="1695878" cy="706616"/>
          </a:xfrm>
          <a:solidFill>
            <a:schemeClr val="bg1"/>
          </a:solidFill>
        </p:grpSpPr>
        <p:sp>
          <p:nvSpPr>
            <p:cNvPr id="42" name="矩形 41"/>
            <p:cNvSpPr/>
            <p:nvPr/>
          </p:nvSpPr>
          <p:spPr>
            <a:xfrm>
              <a:off x="9721312" y="1295952"/>
              <a:ext cx="1440100" cy="4320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43" name="图片 42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77302" y="1165376"/>
              <a:ext cx="1695878" cy="706616"/>
            </a:xfrm>
            <a:prstGeom prst="rect">
              <a:avLst/>
            </a:prstGeom>
            <a:grpFill/>
          </p:spPr>
        </p:pic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25" y="215900"/>
            <a:ext cx="9156700" cy="177800"/>
          </a:xfrm>
          <a:prstGeom prst="rect">
            <a:avLst/>
          </a:prstGeom>
        </p:spPr>
      </p:pic>
      <p:sp>
        <p:nvSpPr>
          <p:cNvPr id="45" name="文本框 44"/>
          <p:cNvSpPr txBox="1"/>
          <p:nvPr/>
        </p:nvSpPr>
        <p:spPr>
          <a:xfrm>
            <a:off x="576580" y="455295"/>
            <a:ext cx="5765800" cy="3232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510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  <a:sym typeface="+mn-ea"/>
              </a:rPr>
              <a:t>M2：行业</a:t>
            </a:r>
            <a:r>
              <a:rPr lang="zh-CN" altLang="en-US" sz="1510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  <a:sym typeface="+mn-ea"/>
              </a:rPr>
              <a:t>痛点与技术</a:t>
            </a:r>
            <a:r>
              <a:rPr lang="zh-CN" altLang="en-US" sz="1510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  <a:sym typeface="+mn-ea"/>
              </a:rPr>
              <a:t>剖析</a:t>
            </a:r>
            <a:endParaRPr lang="zh-CN" altLang="en-US" sz="1510" b="1" dirty="0">
              <a:solidFill>
                <a:srgbClr val="333333"/>
              </a:solidFill>
              <a:latin typeface="Noto Sans SC Bold" pitchFamily="34" charset="0"/>
              <a:ea typeface="Noto Sans SC Bold" pitchFamily="34" charset="-122"/>
              <a:cs typeface="Noto Sans SC Bold" pitchFamily="34" charset="-12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96895" y="1224280"/>
            <a:ext cx="57658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lnSpc>
                <a:spcPct val="100000"/>
              </a:lnSpc>
              <a:defRPr/>
            </a:pPr>
            <a:r>
              <a:rPr lang="en-US" sz="1600" b="1">
                <a:solidFill>
                  <a:srgbClr val="D354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核心痛点：安全隐患、耐久性衰减与全周期管理困境</a:t>
            </a:r>
            <a:endParaRPr lang="en-US" sz="1600" b="1">
              <a:solidFill>
                <a:srgbClr val="D354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360680" y="1800225"/>
            <a:ext cx="7393305" cy="402018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Autofit/>
          </a:bodyPr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b="1" dirty="0">
                <a:solidFill>
                  <a:srgbClr val="0E58C4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  <a:sym typeface="Inter ExtraBold"/>
              </a:rPr>
              <a:t>屏体脱落入侵限界隐患</a:t>
            </a:r>
            <a:endParaRPr lang="zh-CN" altLang="en-US" sz="1600" b="1" dirty="0">
              <a:solidFill>
                <a:srgbClr val="333333"/>
              </a:solidFill>
              <a:latin typeface="Noto Sans SC Bold" pitchFamily="34" charset="0"/>
              <a:ea typeface="Noto Sans SC Bold" pitchFamily="34" charset="-122"/>
              <a:cs typeface="Noto Sans SC Bold" pitchFamily="34" charset="-120"/>
              <a:sym typeface="Inter ExtraBold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defRPr/>
            </a:pPr>
            <a:r>
              <a:rPr lang="zh-CN" altLang="en-US" sz="1600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  <a:sym typeface="Inter ExtraBold"/>
              </a:rPr>
              <a:t>屏体固定失效后直接坠入行车轨道，与高速列车发生刚性碰撞，是运营最高等级安全风险；活塞风高频冲击与结构疲劳是主要诱因，可能引发重大行车事故。</a:t>
            </a:r>
            <a:endParaRPr lang="zh-CN" altLang="en-US" sz="1600" b="1" dirty="0">
              <a:solidFill>
                <a:srgbClr val="333333"/>
              </a:solidFill>
              <a:latin typeface="Noto Sans SC Bold" pitchFamily="34" charset="0"/>
              <a:ea typeface="Noto Sans SC Bold" pitchFamily="34" charset="-122"/>
              <a:cs typeface="Noto Sans SC Bold" pitchFamily="34" charset="-120"/>
              <a:sym typeface="Inter ExtraBold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/>
            </a:pPr>
            <a:r>
              <a:rPr lang="en-US" sz="7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结构耐久与防火双重短板</a:t>
            </a:r>
            <a:endParaRPr lang="en-US" sz="110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b="1" dirty="0">
                <a:solidFill>
                  <a:srgbClr val="0E58C4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  <a:sym typeface="Inter ExtraBold"/>
              </a:rPr>
              <a:t>结构耐久与防火双重短板</a:t>
            </a:r>
            <a:endParaRPr lang="zh-CN" altLang="en-US" sz="1600" b="1" dirty="0">
              <a:solidFill>
                <a:srgbClr val="0E58C4"/>
              </a:solidFill>
              <a:latin typeface="Noto Sans SC Bold" pitchFamily="34" charset="0"/>
              <a:ea typeface="Noto Sans SC Bold" pitchFamily="34" charset="-122"/>
              <a:cs typeface="Noto Sans SC Bold" pitchFamily="34" charset="-120"/>
              <a:sym typeface="Inter ExtraBold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defRPr/>
            </a:pPr>
            <a:r>
              <a:rPr lang="zh-CN" altLang="en-US" sz="1600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  <a:sym typeface="Inter ExtraBold"/>
              </a:rPr>
              <a:t>传统防腐工艺不足致大量项目提前锈蚀老化，全封闭段内部烟气积聚难扩散，吸声材料耐火性差易引发火势蔓延，材料性能衰减远超设计预期。</a:t>
            </a:r>
            <a:endParaRPr lang="zh-CN" altLang="en-US" sz="1600" b="1" dirty="0">
              <a:solidFill>
                <a:srgbClr val="333333"/>
              </a:solidFill>
              <a:latin typeface="Noto Sans SC Bold" pitchFamily="34" charset="0"/>
              <a:ea typeface="Noto Sans SC Bold" pitchFamily="34" charset="-122"/>
              <a:cs typeface="Noto Sans SC Bold" pitchFamily="34" charset="-120"/>
              <a:sym typeface="Inter ExtraBold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b="1" dirty="0">
                <a:solidFill>
                  <a:srgbClr val="0E58C4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  <a:sym typeface="Inter ExtraBold"/>
              </a:rPr>
              <a:t>维保条件恶劣与检修窗口受限</a:t>
            </a:r>
            <a:endParaRPr lang="zh-CN" altLang="en-US" sz="1600" b="1" dirty="0">
              <a:solidFill>
                <a:srgbClr val="0E58C4"/>
              </a:solidFill>
              <a:latin typeface="Noto Sans SC Bold" pitchFamily="34" charset="0"/>
              <a:ea typeface="Noto Sans SC Bold" pitchFamily="34" charset="-122"/>
              <a:cs typeface="Noto Sans SC Bold" pitchFamily="34" charset="-120"/>
              <a:sym typeface="Inter ExtraBold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defRPr/>
            </a:pPr>
            <a:r>
              <a:rPr lang="zh-CN" altLang="en-US" sz="1600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  <a:sym typeface="Inter ExtraBold"/>
              </a:rPr>
              <a:t>顶部积水积灰普遍存在，内部无清洗通道，检修窗口仅2-4小时/天；海量螺栓锈蚀后无法更换，检查维护频次严重不足，隐患长期潜伏难以根除。</a:t>
            </a:r>
            <a:endParaRPr lang="zh-CN" altLang="en-US" sz="1600" b="1" dirty="0">
              <a:solidFill>
                <a:srgbClr val="333333"/>
              </a:solidFill>
              <a:latin typeface="Noto Sans SC Bold" pitchFamily="34" charset="0"/>
              <a:ea typeface="Noto Sans SC Bold" pitchFamily="34" charset="-122"/>
              <a:cs typeface="Noto Sans SC Bold" pitchFamily="34" charset="-120"/>
              <a:sym typeface="Inter ExtraBold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641080" y="1656080"/>
            <a:ext cx="1245870" cy="3460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lnSpc>
                <a:spcPct val="83000"/>
              </a:lnSpc>
              <a:defRPr/>
            </a:pPr>
            <a:r>
              <a:rPr lang="en-US" sz="2000" b="1">
                <a:solidFill>
                  <a:srgbClr val="D354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5~10</a:t>
            </a:r>
            <a:r>
              <a:rPr lang="en-US" sz="900">
                <a:solidFill>
                  <a:srgbClr val="D35400"/>
                </a:solidFill>
                <a:latin typeface="Inter Medium"/>
                <a:ea typeface="Inter Medium"/>
                <a:cs typeface="Inter Medium"/>
                <a:sym typeface="Inter Medium"/>
              </a:rPr>
              <a:t>倍</a:t>
            </a:r>
            <a:endParaRPr lang="en-US" altLang="en-US" sz="900">
              <a:solidFill>
                <a:srgbClr val="D354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432925" y="1439545"/>
            <a:ext cx="1880235" cy="882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lnSpc>
                <a:spcPct val="117000"/>
              </a:lnSpc>
              <a:defRPr/>
            </a:pPr>
            <a:r>
              <a:rPr lang="en-US" sz="1400">
                <a:solidFill>
                  <a:srgbClr val="0E58C4">
                    <a:alpha val="65098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既有线施工成本溢价</a:t>
            </a:r>
            <a:endParaRPr lang="en-US" sz="2400">
              <a:solidFill>
                <a:srgbClr val="0E58C4"/>
              </a:solidFill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400">
                <a:solidFill>
                  <a:srgbClr val="0E58C4">
                    <a:alpha val="65098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远超常规新建线路投入</a:t>
            </a:r>
            <a:endParaRPr lang="en-US" altLang="en-US" sz="1400">
              <a:solidFill>
                <a:srgbClr val="0E58C4">
                  <a:alpha val="65098"/>
                </a:srgbClr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380730" y="2392045"/>
            <a:ext cx="2892425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  <a:buFont typeface="Arial" panose="020B0604020202020204" pitchFamily="34" charset="0"/>
              <a:defRPr/>
            </a:pPr>
            <a:r>
              <a:rPr lang="zh-CN" altLang="en-US" sz="1000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  <a:sym typeface="Inter ExtraBold"/>
              </a:rPr>
              <a:t>施工风险极高：运营线路施工需避让行车，作业空间狭小，安全管控难度呈指数级上升，事故容错率为零。</a:t>
            </a:r>
            <a:endParaRPr lang="zh-CN" altLang="en-US" sz="1000" b="1" dirty="0">
              <a:solidFill>
                <a:srgbClr val="333333"/>
              </a:solidFill>
              <a:latin typeface="Noto Sans SC Bold" pitchFamily="34" charset="0"/>
              <a:ea typeface="Noto Sans SC Bold" pitchFamily="34" charset="-122"/>
              <a:cs typeface="Noto Sans SC Bold" pitchFamily="34" charset="-120"/>
              <a:sym typeface="Inter ExtraBold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defRPr/>
            </a:pPr>
            <a:r>
              <a:rPr lang="zh-CN" altLang="en-US" sz="1000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  <a:sym typeface="Inter ExtraBold"/>
              </a:rPr>
              <a:t>防护体系缺失：传统防腐工艺无法抵御高湿高盐环境，螺栓等连接件无冗余防护，一旦失效直接导致结构失稳。</a:t>
            </a:r>
            <a:endParaRPr lang="zh-CN" altLang="en-US" sz="1000" b="1" dirty="0">
              <a:solidFill>
                <a:srgbClr val="333333"/>
              </a:solidFill>
              <a:latin typeface="Noto Sans SC Bold" pitchFamily="34" charset="0"/>
              <a:ea typeface="Noto Sans SC Bold" pitchFamily="34" charset="-122"/>
              <a:cs typeface="Noto Sans SC Bold" pitchFamily="34" charset="-120"/>
              <a:sym typeface="Inter ExtraBold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defRPr/>
            </a:pPr>
            <a:r>
              <a:rPr lang="zh-CN" altLang="en-US" sz="1000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  <a:sym typeface="Inter ExtraBold"/>
              </a:rPr>
              <a:t>管理模式粗放：行业普遍“重建设、轻维护”，缺乏全生命周期数字化管理手段，隐患排查严重滞后。</a:t>
            </a:r>
            <a:endParaRPr lang="zh-CN" altLang="en-US" sz="1000" b="1" dirty="0">
              <a:solidFill>
                <a:srgbClr val="333333"/>
              </a:solidFill>
              <a:latin typeface="Noto Sans SC Bold" pitchFamily="34" charset="0"/>
              <a:ea typeface="Noto Sans SC Bold" pitchFamily="34" charset="-122"/>
              <a:cs typeface="Noto Sans SC Bold" pitchFamily="34" charset="-120"/>
              <a:sym typeface="Inter ExtraBold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defRPr/>
            </a:pPr>
            <a:r>
              <a:rPr lang="zh-CN" altLang="en-US" sz="1000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  <a:sym typeface="Inter ExtraBold"/>
              </a:rPr>
              <a:t>全周期成本失控：前期节省的防护投入，在运营期转化为巨额的维修、更换成本，甚至引发停运的经济损失。</a:t>
            </a:r>
            <a:endParaRPr lang="zh-CN" altLang="en-US" sz="1000" b="1" dirty="0">
              <a:solidFill>
                <a:srgbClr val="333333"/>
              </a:solidFill>
              <a:latin typeface="Noto Sans SC Bold" pitchFamily="34" charset="0"/>
              <a:ea typeface="Noto Sans SC Bold" pitchFamily="34" charset="-122"/>
              <a:cs typeface="Noto Sans SC Bold" pitchFamily="34" charset="-120"/>
              <a:sym typeface="Inter ExtraBold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8537575" y="1380490"/>
            <a:ext cx="2578100" cy="25400"/>
          </a:xfrm>
          <a:prstGeom prst="roundRect">
            <a:avLst>
              <a:gd name="adj" fmla="val 0"/>
            </a:avLst>
          </a:prstGeom>
          <a:solidFill>
            <a:srgbClr val="D354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1849120" y="5515610"/>
            <a:ext cx="8948420" cy="583565"/>
          </a:xfrm>
          <a:prstGeom prst="roundRect">
            <a:avLst>
              <a:gd name="adj" fmla="val 0"/>
            </a:avLst>
          </a:prstGeom>
          <a:solidFill>
            <a:srgbClr val="D354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  <a:endParaRPr sz="4400"/>
          </a:p>
        </p:txBody>
      </p:sp>
      <p:sp>
        <p:nvSpPr>
          <p:cNvPr id="35" name="AutoShape 35"/>
          <p:cNvSpPr/>
          <p:nvPr/>
        </p:nvSpPr>
        <p:spPr>
          <a:xfrm>
            <a:off x="2088515" y="5541010"/>
            <a:ext cx="8199755" cy="46672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p>
            <a:pPr marL="0" indent="0" algn="l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结论：需构建“安全设计+耐久防护+智慧运维”三位一体的全生命周期管控体系。</a:t>
            </a:r>
            <a:endParaRPr lang="en-US" sz="1800" b="1" i="0" u="none" strike="noStrike">
              <a:solidFill>
                <a:srgbClr val="FFFFFF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</p:spTree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PP_MARK_KEY" val="2d3d0867-56ac-4b91-885a-98830f3a9883"/>
  <p:tag name="COMMONDATA" val="eyJoZGlkIjoiYzdmNGQzMDgyYjljZWJkYmE4MzFmN2Y2ZTVjN2YxYTkifQ=="/>
  <p:tag name="RESOURCE_RECORD_KEY" val="{&quot;29&quot;:[50053212,50000264,50000269,50000088,50053352]}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元素">
  <a:themeElements>
    <a:clrScheme name="Elemental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19800000"/>
            </a:lightRig>
          </a:scene3d>
          <a:sp3d prstMaterial="metal">
            <a:bevelT w="38100" h="3810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5000"/>
              </a:schemeClr>
            </a:gs>
            <a:gs pos="100000">
              <a:schemeClr val="phClr">
                <a:shade val="40000"/>
                <a:satMod val="18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4000"/>
                <a:satMod val="280000"/>
              </a:schemeClr>
              <a:schemeClr val="phClr">
                <a:tint val="60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>
    <a:spDef>
      <a:spPr>
        <a:noFill/>
        <a:ln w="25400" cap="flat" cmpd="sng">
          <a:noFill/>
          <a:prstDash val="solid"/>
          <a:round/>
        </a:ln>
      </a:spPr>
      <a:bodyPr vert="horz" wrap="none" lIns="0" tIns="0" rIns="0" bIns="0" rtlCol="0" anchor="t" anchorCtr="0"/>
      <a:lstStyle>
        <a:defPPr marL="0" indent="0" algn="l">
          <a:lnSpc>
            <a:spcPct val="100000"/>
          </a:lnSpc>
          <a:defRPr/>
          <a:defRPr lang="zh-CN" altLang="en-US" sz="1400" b="1" dirty="0">
            <a:solidFill>
              <a:srgbClr val="333333"/>
            </a:solidFill>
            <a:latin typeface="Noto Sans SC Bold" pitchFamily="34" charset="0"/>
            <a:ea typeface="Noto Sans SC Bold" pitchFamily="34" charset="-122"/>
            <a:cs typeface="Noto Sans SC Bold" pitchFamily="34" charset="-120"/>
            <a:sym typeface="+mn-ea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包图主题2">
  <a:themeElements>
    <a:clrScheme name="包图主题2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1A89E"/>
      </a:accent1>
      <a:accent2>
        <a:srgbClr val="0C2834"/>
      </a:accent2>
      <a:accent3>
        <a:srgbClr val="015E58"/>
      </a:accent3>
      <a:accent4>
        <a:srgbClr val="07161D"/>
      </a:accent4>
      <a:accent5>
        <a:srgbClr val="004844"/>
      </a:accent5>
      <a:accent6>
        <a:srgbClr val="051116"/>
      </a:accent6>
      <a:hlink>
        <a:srgbClr val="0000FF"/>
      </a:hlink>
      <a:folHlink>
        <a:srgbClr val="FF00FF"/>
      </a:folHlink>
    </a:clrScheme>
    <a:fontScheme name="包图主题2">
      <a:majorFont>
        <a:latin typeface="Helvetica"/>
        <a:ea typeface="Helvetica"/>
        <a:cs typeface="Helvetica"/>
      </a:majorFont>
      <a:minorFont>
        <a:latin typeface="等线"/>
        <a:ea typeface="等线"/>
        <a:cs typeface="等线"/>
      </a:minorFont>
    </a:fontScheme>
    <a:fmtScheme name="包图主题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 panose="02010600030101010101" pitchFamily="2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 panose="02010600030101010101" pitchFamily="2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3061</Words>
  <Application>WPS 演示</Application>
  <PresentationFormat>自定义</PresentationFormat>
  <Paragraphs>251</Paragraphs>
  <Slides>8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41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50" baseType="lpstr">
      <vt:lpstr>Arial</vt:lpstr>
      <vt:lpstr>宋体</vt:lpstr>
      <vt:lpstr>Wingdings</vt:lpstr>
      <vt:lpstr>Palatino Linotype</vt:lpstr>
      <vt:lpstr>等线</vt:lpstr>
      <vt:lpstr>黑体</vt:lpstr>
      <vt:lpstr>Calibri</vt:lpstr>
      <vt:lpstr>Hei Regular</vt:lpstr>
      <vt:lpstr>Heiti SC Medium</vt:lpstr>
      <vt:lpstr>Calibri</vt:lpstr>
      <vt:lpstr>Arial</vt:lpstr>
      <vt:lpstr>微软雅黑 Light</vt:lpstr>
      <vt:lpstr>Noto Sans SC Bold</vt:lpstr>
      <vt:lpstr>Noto Sans SC</vt:lpstr>
      <vt:lpstr>Noto Sans SC Bold</vt:lpstr>
      <vt:lpstr>Noto Sans SC Bold</vt:lpstr>
      <vt:lpstr>Noto Sans SC Black</vt:lpstr>
      <vt:lpstr>Noto Sans SC Black</vt:lpstr>
      <vt:lpstr>Noto Sans SC</vt:lpstr>
      <vt:lpstr>Noto Sans SC Medium</vt:lpstr>
      <vt:lpstr>Noto Sans SC Medium</vt:lpstr>
      <vt:lpstr>微软雅黑</vt:lpstr>
      <vt:lpstr>Arial Unicode MS</vt:lpstr>
      <vt:lpstr>Inter ExtraBold</vt:lpstr>
      <vt:lpstr>JetBrainsMono NF</vt:lpstr>
      <vt:lpstr>Inter ExtraBold</vt:lpstr>
      <vt:lpstr>Inter ExtraBold</vt:lpstr>
      <vt:lpstr>Inter Medium</vt:lpstr>
      <vt:lpstr>Inter Medium</vt:lpstr>
      <vt:lpstr>Inter Medium</vt:lpstr>
      <vt:lpstr>Inter</vt:lpstr>
      <vt:lpstr>Inter</vt:lpstr>
      <vt:lpstr>Inter</vt:lpstr>
      <vt:lpstr>Inter ExtraBold</vt:lpstr>
      <vt:lpstr>Inter Bold</vt:lpstr>
      <vt:lpstr>Inter</vt:lpstr>
      <vt:lpstr>Inter Medium</vt:lpstr>
      <vt:lpstr>华文楷体</vt:lpstr>
      <vt:lpstr>华文琥珀</vt:lpstr>
      <vt:lpstr>华文细黑</vt:lpstr>
      <vt:lpstr>MingLiU-ExtB</vt:lpstr>
      <vt:lpstr>元素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zm</cp:lastModifiedBy>
  <cp:revision>210</cp:revision>
  <cp:lastPrinted>2024-05-27T04:20:00Z</cp:lastPrinted>
  <dcterms:created xsi:type="dcterms:W3CDTF">2024-05-27T04:50:00Z</dcterms:created>
  <dcterms:modified xsi:type="dcterms:W3CDTF">2026-06-18T05:28:35Z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2052-12.8.2.18205</vt:lpwstr>
  </property>
  <property fmtid="{D5CDD505-2E9C-101B-9397-08002B2CF9AE}" pid="3" name="ICV">
    <vt:lpwstr>DE9C49FFB710414A91E48644DEB2DA1B_13</vt:lpwstr>
  </property>
</Properties>
</file>