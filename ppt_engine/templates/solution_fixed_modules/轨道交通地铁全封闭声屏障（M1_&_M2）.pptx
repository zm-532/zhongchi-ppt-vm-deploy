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2"/>
    <p:sldId id="257" r:id="rId3"/>
    <p:sldId id="258" r:id="rId4"/>
    <p:sldId id="259" r:id="rId5"/>
    <p:sldId id="260" r:id="rId6"/>
  </p:sldIdLst>
  <p:sldSz cx="11522075" cy="6480175"/>
  <p:notesSz cx="6797675" cy="9926638"/>
  <p:custDataLst>
    <p:tags r:id="rId9"/>
  </p:custDataLst>
  <p:defaultTextStyle>
    <a:defPPr>
      <a:defRPr lang="zh-CN"/>
    </a:defPPr>
    <a:lvl1pPr marL="0" lvl="0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1pPr>
    <a:lvl2pPr marL="457200" lvl="1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2pPr>
    <a:lvl3pPr marL="914400" lvl="2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3pPr>
    <a:lvl4pPr marL="1371600" lvl="3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4pPr>
    <a:lvl5pPr marL="1828800" lvl="4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5pPr>
    <a:lvl6pPr marL="2286000" lvl="5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6pPr>
    <a:lvl7pPr marL="2743200" lvl="6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7pPr>
    <a:lvl8pPr marL="3200400" lvl="7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8pPr>
    <a:lvl9pPr marL="3657600" lvl="8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98" userDrawn="1">
          <p15:clr>
            <a:srgbClr val="A4A3A4"/>
          </p15:clr>
        </p15:guide>
        <p15:guide id="2" pos="383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曹萍萍" initials="cpp" lastIdx="1" clrIdx="0"/>
  <p:cmAuthor id="29" name="wefe" initials="w" lastIdx="0" clrIdx="28"/>
  <p:cmAuthor id="1" name="幸全" initials="幸全" lastIdx="1" clrIdx="0"/>
  <p:cmAuthor id="30" name="ushop" initials="u" lastIdx="0" clrIdx="29"/>
  <p:cmAuthor id="2" name="作者" initials="A" lastIdx="0" clrIdx="1"/>
  <p:cmAuthor id="31" name="admin" initials="a" lastIdx="0" clrIdx="30"/>
  <p:cmAuthor id="3" name="u3265" initials="u" lastIdx="2" clrIdx="2"/>
  <p:cmAuthor id="4" name="fuziyi" initials="f" lastIdx="1" clrIdx="3"/>
  <p:cmAuthor id="5" name="肖卫杰" initials="肖" lastIdx="10" clrIdx="0"/>
  <p:cmAuthor id="6" name="alj2016" initials="a" lastIdx="1" clrIdx="5"/>
  <p:cmAuthor id="8" name="fangyonghua" initials="f" lastIdx="1" clrIdx="7"/>
  <p:cmAuthor id="9" name="张娜_J7jynmI3" initials="authorId_2328097559" lastIdx="0" clrIdx="8"/>
  <p:cmAuthor id="10" name="zhanghongtao" initials="z" lastIdx="0" clrIdx="9"/>
  <p:cmAuthor id="11" name="840456548" initials="8" lastIdx="0" clrIdx="10"/>
  <p:cmAuthor id="12" name="裔蕾" initials="裔蕾" lastIdx="0" clrIdx="11"/>
  <p:cmAuthor id="13" name="龚挺" initials="龚挺" lastIdx="0" clrIdx="12"/>
  <p:cmAuthor id="14" name="soonersxb" initials="s" lastIdx="0" clrIdx="13"/>
  <p:cmAuthor id="15" name="wangdan" initials="王丹" lastIdx="0" clrIdx="14"/>
  <p:cmAuthor id="16" name="1206988966@qq.com" initials="1" lastIdx="0" clrIdx="15"/>
  <p:cmAuthor id="17" name="姜伟光" initials="姜" lastIdx="0" clrIdx="16"/>
  <p:cmAuthor id="18" name="lenovo" initials="l" lastIdx="0" clrIdx="17"/>
  <p:cmAuthor id="19" name="Administrator" initials="A" lastIdx="0" clrIdx="18"/>
  <p:cmAuthor id="20" name="宋洁然" initials="宋" lastIdx="0" clrIdx="19"/>
  <p:cmAuthor id="21" name="ming qiu" initials="m" lastIdx="0" clrIdx="20"/>
  <p:cmAuthor id="22" name="胡潇文" initials="胡" lastIdx="0" clrIdx="21"/>
  <p:cmAuthor id="23" name="hu Selene" initials="hS" lastIdx="0" clrIdx="22"/>
  <p:cmAuthor id="24" name="Wang Rui" initials="WR" lastIdx="0" clrIdx="23"/>
  <p:cmAuthor id="25" name="DrYan" initials="D" lastIdx="0" clrIdx="24"/>
  <p:cmAuthor id="26" name="Lenovo" initials="L" lastIdx="0" clrIdx="25"/>
  <p:cmAuthor id="27" name="李 金峰" initials="李" lastIdx="0" clrIdx="26"/>
  <p:cmAuthor id="28" name="秦方方" initials="秦方方" lastIdx="0" clrIdx="2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 scaleToFitPaper="1"/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58C4"/>
    <a:srgbClr val="BFBFBF"/>
    <a:srgbClr val="297ED5"/>
    <a:srgbClr val="0062B1"/>
    <a:srgbClr val="22C50C"/>
    <a:srgbClr val="C2BFD0"/>
    <a:srgbClr val="E4E5EA"/>
    <a:srgbClr val="C4BCC6"/>
    <a:srgbClr val="C4C3D5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1BAA403-AC97-4EF6-A78F-2AE45B316E2E}" styleName="表样式 1">
    <a:wholeTbl>
      <a:tcTxStyle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2H>
    <a:band1V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1V>
    <a:band2V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50000"/>
              <a:lumMod val="40000"/>
              <a:lumOff val="6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50000"/>
              <a:lumMod val="40000"/>
              <a:lumOff val="60000"/>
            </a:schemeClr>
          </a:solidFill>
        </a:fill>
      </a:tcStyle>
    </a:firstCol>
    <a:la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A894E5B-FB02-4862-83DE-3046D151FCFF}" styleName="表样式 1">
    <a:wholeTbl>
      <a:tcTxStyle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Style>
        <a:tcBdr/>
        <a:fill>
          <a:solidFill>
            <a:schemeClr val="accent1">
              <a:lumMod val="40000"/>
              <a:lumOff val="60000"/>
              <a:alpha val="25000"/>
            </a:schemeClr>
          </a:solidFill>
        </a:fill>
      </a:tcStyle>
    </a:band2H>
    <a:band1V>
      <a:tcStyle>
        <a:tcBdr/>
        <a:fill>
          <a:solidFill>
            <a:schemeClr val="accent1">
              <a:lumMod val="40000"/>
              <a:lumOff val="60000"/>
              <a:alpha val="25000"/>
            </a:schemeClr>
          </a:solidFill>
        </a:fill>
      </a:tcStyle>
    </a:band1V>
    <a:band2V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40000"/>
              <a:lumOff val="60000"/>
              <a:alpha val="5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40000"/>
              <a:lumOff val="60000"/>
              <a:alpha val="50000"/>
            </a:schemeClr>
          </a:solidFill>
        </a:fill>
      </a:tcStyle>
    </a:firstCol>
    <a:la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75"/>
    <p:restoredTop sz="88943" autoAdjust="0"/>
  </p:normalViewPr>
  <p:slideViewPr>
    <p:cSldViewPr snapToObjects="1" showGuides="1">
      <p:cViewPr varScale="1">
        <p:scale>
          <a:sx n="103" d="100"/>
          <a:sy n="103" d="100"/>
        </p:scale>
        <p:origin x="168" y="96"/>
      </p:cViewPr>
      <p:guideLst>
        <p:guide orient="horz" pos="2198"/>
        <p:guide pos="383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70" d="100"/>
        <a:sy n="70" d="100"/>
      </p:scale>
      <p:origin x="0" y="-2280"/>
    </p:cViewPr>
  </p:sorterViewPr>
  <p:gridSpacing cx="72005" cy="72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tags" Target="tags/tag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4F3ECC0-6A79-47F3-B72E-62BC6FA2937C}" type="datetimeFigureOut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  <a:t>2026/5/26</a:t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0578AEC-777F-4531-87CC-AB874364F7C4}" type="slidenum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  <a:t>‹#›</a:t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+mn-ea"/>
              <a:cs typeface="+mn-cs"/>
              <a:sym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hape 14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7" name="Shape 142"/>
          <p:cNvSpPr>
            <a:spLocks noGrp="1"/>
          </p:cNvSpPr>
          <p:nvPr>
            <p:ph type="body" sz="quarter"/>
          </p:nvPr>
        </p:nvSpPr>
        <p:spPr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endParaRPr lang="zh-CN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Hei Regular" pitchFamily="2" charset="-122"/>
        <a:ea typeface="Hei Regular" pitchFamily="2" charset="-122"/>
        <a:cs typeface="+mn-cs"/>
        <a:sym typeface="等线" panose="02010600030101010101" pitchFamily="2" charset="-122"/>
      </a:defRPr>
    </a:lvl1pPr>
    <a:lvl2pPr marL="742950" indent="-28575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2pPr>
    <a:lvl3pPr marL="11430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3pPr>
    <a:lvl4pPr marL="16002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4pPr>
    <a:lvl5pPr marL="20574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5pPr>
    <a:lvl6pPr indent="1080135" latinLnBrk="0">
      <a:defRPr sz="1100">
        <a:latin typeface="+mn-lt"/>
        <a:ea typeface="+mn-ea"/>
        <a:cs typeface="+mn-cs"/>
        <a:sym typeface="等线" panose="02010600030101010101" pitchFamily="2" charset="-122"/>
      </a:defRPr>
    </a:lvl6pPr>
    <a:lvl7pPr indent="1296035" latinLnBrk="0">
      <a:defRPr sz="1100">
        <a:latin typeface="+mn-lt"/>
        <a:ea typeface="+mn-ea"/>
        <a:cs typeface="+mn-cs"/>
        <a:sym typeface="等线" panose="02010600030101010101" pitchFamily="2" charset="-122"/>
      </a:defRPr>
    </a:lvl7pPr>
    <a:lvl8pPr indent="1511935" latinLnBrk="0">
      <a:defRPr sz="1100">
        <a:latin typeface="+mn-lt"/>
        <a:ea typeface="+mn-ea"/>
        <a:cs typeface="+mn-cs"/>
        <a:sym typeface="等线" panose="02010600030101010101" pitchFamily="2" charset="-122"/>
      </a:defRPr>
    </a:lvl8pPr>
    <a:lvl9pPr indent="1728470" latinLnBrk="0">
      <a:defRPr sz="1100">
        <a:latin typeface="+mn-lt"/>
        <a:ea typeface="+mn-ea"/>
        <a:cs typeface="+mn-cs"/>
        <a:sym typeface="等线" panose="02010600030101010101" pitchFamily="2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print"/>
          <a:srcRect/>
          <a:stretch>
            <a:fillRect/>
          </a:stretch>
        </p:blipFill>
        <p:spPr>
          <a:xfrm>
            <a:off x="0" y="69122"/>
            <a:ext cx="11522075" cy="721494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10932937" y="6131190"/>
            <a:ext cx="589138" cy="323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6CBEC8B-D4F5-4765-BA16-D6C967C3AE9B}" type="slidenum">
              <a:rPr lang="zh-CN" altLang="en-US" sz="1510" smtClean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‹#›</a:t>
            </a:fld>
            <a:endParaRPr lang="zh-CN" altLang="en-US" sz="1510" dirty="0">
              <a:solidFill>
                <a:schemeClr val="bg1">
                  <a:lumMod val="50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 rotWithShape="1">
          <a:blip r:embed="rId3" cstate="print"/>
          <a:srcRect l="2064" t="2" r="2064" b="-1"/>
          <a:stretch>
            <a:fillRect/>
          </a:stretch>
        </p:blipFill>
        <p:spPr>
          <a:xfrm>
            <a:off x="0" y="859694"/>
            <a:ext cx="11522075" cy="193076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4" cstate="print"/>
          <a:srcRect/>
          <a:stretch>
            <a:fillRect/>
          </a:stretch>
        </p:blipFill>
        <p:spPr>
          <a:xfrm>
            <a:off x="0" y="5813063"/>
            <a:ext cx="8483090" cy="59799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>
            <a:lvl1pPr algn="ctr">
              <a:defRPr sz="3020">
                <a:solidFill>
                  <a:srgbClr val="333333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581705" y="5965188"/>
            <a:ext cx="2550000" cy="299200"/>
          </a:xfrm>
        </p:spPr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760FBDFE-C587-4B4C-A407-44438C67B59E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3891038" y="5965188"/>
            <a:ext cx="3740000" cy="2992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文本"/>
          <p:cNvSpPr txBox="1">
            <a:spLocks noGrp="1"/>
          </p:cNvSpPr>
          <p:nvPr>
            <p:ph type="title"/>
          </p:nvPr>
        </p:nvSpPr>
        <p:spPr>
          <a:xfrm>
            <a:off x="792163" y="344488"/>
            <a:ext cx="9937750" cy="1252537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 anchor="ctr" anchorCtr="0"/>
          <a:lstStyle/>
          <a:p>
            <a:pPr lvl="0"/>
            <a:r>
              <a:rPr lang="zh-CN" altLang="zh-CN" dirty="0"/>
              <a:t>标题文本</a:t>
            </a:r>
          </a:p>
        </p:txBody>
      </p:sp>
      <p:sp>
        <p:nvSpPr>
          <p:cNvPr id="1027" name="正文级别 1…"/>
          <p:cNvSpPr txBox="1">
            <a:spLocks noGrp="1"/>
          </p:cNvSpPr>
          <p:nvPr>
            <p:ph type="body"/>
          </p:nvPr>
        </p:nvSpPr>
        <p:spPr>
          <a:xfrm>
            <a:off x="792163" y="1725613"/>
            <a:ext cx="9937750" cy="4111625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/>
          <a:lstStyle/>
          <a:p>
            <a:pPr lvl="0"/>
            <a:r>
              <a:rPr lang="zh-CN" altLang="zh-CN" dirty="0"/>
              <a:t>正文级别 1</a:t>
            </a:r>
          </a:p>
          <a:p>
            <a:pPr lvl="1"/>
            <a:r>
              <a:rPr lang="zh-CN" altLang="zh-CN" dirty="0"/>
              <a:t>正文级别 2</a:t>
            </a:r>
          </a:p>
          <a:p>
            <a:pPr lvl="2"/>
            <a:r>
              <a:rPr lang="zh-CN" altLang="zh-CN" dirty="0"/>
              <a:t>正文级别 3</a:t>
            </a:r>
          </a:p>
          <a:p>
            <a:pPr lvl="3"/>
            <a:r>
              <a:rPr lang="zh-CN" altLang="zh-CN" dirty="0"/>
              <a:t>正文级别 4</a:t>
            </a:r>
          </a:p>
          <a:p>
            <a:pPr lvl="4"/>
            <a:r>
              <a:rPr lang="zh-CN" altLang="zh-CN" dirty="0"/>
              <a:t>正文级别 5</a:t>
            </a:r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0845800" y="6049963"/>
            <a:ext cx="254000" cy="257175"/>
          </a:xfrm>
          <a:prstGeom prst="rect">
            <a:avLst/>
          </a:prstGeom>
          <a:ln w="12700">
            <a:miter lim="400000"/>
          </a:ln>
        </p:spPr>
        <p:txBody>
          <a:bodyPr wrap="none" lIns="43204" tIns="43204" rIns="43204" bIns="43204" anchor="ctr">
            <a:spAutoFit/>
          </a:bodyPr>
          <a:lstStyle>
            <a:lvl1pPr algn="r" eaLnBrk="1" fontAlgn="auto" hangingPunct="1">
              <a:defRPr sz="1100" b="0" i="0" noProof="1" smtClean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  <p:pic>
        <p:nvPicPr>
          <p:cNvPr id="1029" name="图片 4"/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9577388" y="215900"/>
            <a:ext cx="1697037" cy="704850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</p:sldLayoutIdLst>
  <p:transition spd="med"/>
  <p:hf sldNum="0" hdr="0" ftr="0" dt="0"/>
  <p:txStyles>
    <p:titleStyle>
      <a:lvl1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 Regular" pitchFamily="2" charset="-122"/>
          <a:sym typeface="Heiti SC Medium"/>
        </a:defRPr>
      </a:lvl1pPr>
      <a:lvl2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2pPr>
      <a:lvl3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3pPr>
      <a:lvl4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4pPr>
      <a:lvl5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5pPr>
      <a:lvl6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6pPr>
      <a:lvl7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7pPr>
      <a:lvl8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8pPr>
      <a:lvl9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9pPr>
    </p:titleStyle>
    <p:bodyStyle>
      <a:lvl1pPr marL="215900" indent="-21590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1pPr>
      <a:lvl2pPr marL="684530" indent="-2527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2pPr>
      <a:lvl3pPr marL="1167130" indent="-3035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3pPr>
      <a:lvl4pPr marL="1631950" indent="-33655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4pPr>
      <a:lvl5pPr marL="2063750" indent="-33528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5pPr>
      <a:lvl6pPr marL="2496185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6pPr>
      <a:lvl7pPr marL="29286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7pPr>
      <a:lvl8pPr marL="33604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8pPr>
      <a:lvl9pPr marL="37922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9pPr>
    </p:bodyStyle>
    <p:otherStyle>
      <a:lvl1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jpe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6.jpe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jpe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15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7.jpe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6.jpeg"/><Relationship Id="rId7" Type="http://schemas.openxmlformats.org/officeDocument/2006/relationships/image" Target="../media/image35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图片 39" descr="preencoded.png">
            <a:extLst>
              <a:ext uri="{FF2B5EF4-FFF2-40B4-BE49-F238E27FC236}">
                <a16:creationId xmlns:a16="http://schemas.microsoft.com/office/drawing/2014/main" id="{6D12ED7D-B5EE-25C1-78A9-65B17306EA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1"/>
          <p:cNvSpPr/>
          <p:nvPr/>
        </p:nvSpPr>
        <p:spPr>
          <a:xfrm>
            <a:off x="540896" y="450012"/>
            <a:ext cx="227626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01</a:t>
            </a:r>
            <a:endParaRPr lang="en-US" sz="1512" dirty="0"/>
          </a:p>
        </p:txBody>
      </p:sp>
      <p:sp>
        <p:nvSpPr>
          <p:cNvPr id="5" name="Text 2"/>
          <p:cNvSpPr/>
          <p:nvPr/>
        </p:nvSpPr>
        <p:spPr>
          <a:xfrm>
            <a:off x="990909" y="450012"/>
            <a:ext cx="2904828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M1：行业技术标准与规范现状</a:t>
            </a:r>
            <a:endParaRPr lang="en-US" sz="1512" dirty="0"/>
          </a:p>
        </p:txBody>
      </p:sp>
      <p:sp>
        <p:nvSpPr>
          <p:cNvPr id="6" name="Text 3"/>
          <p:cNvSpPr/>
          <p:nvPr/>
        </p:nvSpPr>
        <p:spPr>
          <a:xfrm>
            <a:off x="540896" y="900024"/>
            <a:ext cx="10440282" cy="271485"/>
          </a:xfrm>
          <a:prstGeom prst="rect">
            <a:avLst/>
          </a:prstGeom>
          <a:noFill/>
          <a:ln/>
        </p:spPr>
        <p:txBody>
          <a:bodyPr wrap="square" lIns="160644" tIns="0" rIns="0" bIns="0" rtlCol="0" anchor="t">
            <a:spAutoFit/>
          </a:bodyPr>
          <a:lstStyle/>
          <a:p>
            <a:r>
              <a:rPr lang="en-US" sz="1764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轨交声屏障面临的“标准缺失”挑战</a:t>
            </a:r>
            <a:endParaRPr lang="en-US" sz="1764" dirty="0"/>
          </a:p>
        </p:txBody>
      </p:sp>
      <p:sp>
        <p:nvSpPr>
          <p:cNvPr id="7" name="Shape 4"/>
          <p:cNvSpPr/>
          <p:nvPr/>
        </p:nvSpPr>
        <p:spPr>
          <a:xfrm>
            <a:off x="540896" y="1534541"/>
            <a:ext cx="4680126" cy="1476040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8" name="Shape 5"/>
          <p:cNvSpPr/>
          <p:nvPr/>
        </p:nvSpPr>
        <p:spPr>
          <a:xfrm>
            <a:off x="540897" y="1534541"/>
            <a:ext cx="36001" cy="147604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9" name="Text 6"/>
          <p:cNvSpPr/>
          <p:nvPr/>
        </p:nvSpPr>
        <p:spPr>
          <a:xfrm>
            <a:off x="765903" y="1759547"/>
            <a:ext cx="4230115" cy="155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008" b="1" kern="0" spc="1" dirty="0">
                <a:solidFill>
                  <a:srgbClr val="666666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国家标准 (公路适用)</a:t>
            </a:r>
            <a:endParaRPr lang="en-US" sz="1008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03" y="2100432"/>
            <a:ext cx="173254" cy="1980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29159" y="2056556"/>
            <a:ext cx="2178059" cy="213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《声屏障结构技术标准》</a:t>
            </a:r>
            <a:endParaRPr lang="en-US" sz="1386" dirty="0"/>
          </a:p>
        </p:txBody>
      </p:sp>
      <p:sp>
        <p:nvSpPr>
          <p:cNvPr id="12" name="Shape 8"/>
          <p:cNvSpPr/>
          <p:nvPr/>
        </p:nvSpPr>
        <p:spPr>
          <a:xfrm>
            <a:off x="765903" y="2477317"/>
            <a:ext cx="1554792" cy="308258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3" name="Text 9"/>
          <p:cNvSpPr/>
          <p:nvPr/>
        </p:nvSpPr>
        <p:spPr>
          <a:xfrm>
            <a:off x="765903" y="2477316"/>
            <a:ext cx="1478081" cy="261134"/>
          </a:xfrm>
          <a:prstGeom prst="rect">
            <a:avLst/>
          </a:prstGeom>
          <a:noFill/>
          <a:ln/>
        </p:spPr>
        <p:txBody>
          <a:bodyPr wrap="none" lIns="128643" tIns="42881" rIns="128643" bIns="42881" rtlCol="0" anchor="t">
            <a:spAutoFit/>
          </a:bodyPr>
          <a:lstStyle/>
          <a:p>
            <a:r>
              <a:rPr lang="en-US" sz="1134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GB/T 51335-2018</a:t>
            </a:r>
            <a:endParaRPr lang="en-US" sz="1134" dirty="0"/>
          </a:p>
        </p:txBody>
      </p:sp>
      <p:sp>
        <p:nvSpPr>
          <p:cNvPr id="14" name="Shape 10"/>
          <p:cNvSpPr/>
          <p:nvPr/>
        </p:nvSpPr>
        <p:spPr>
          <a:xfrm>
            <a:off x="540896" y="3190586"/>
            <a:ext cx="4680126" cy="1476040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5" name="Shape 11"/>
          <p:cNvSpPr/>
          <p:nvPr/>
        </p:nvSpPr>
        <p:spPr>
          <a:xfrm>
            <a:off x="540897" y="3190586"/>
            <a:ext cx="36001" cy="147604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6" name="Text 12"/>
          <p:cNvSpPr/>
          <p:nvPr/>
        </p:nvSpPr>
        <p:spPr>
          <a:xfrm>
            <a:off x="765903" y="3415592"/>
            <a:ext cx="4230115" cy="155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008" b="1" kern="0" spc="1" dirty="0">
                <a:solidFill>
                  <a:srgbClr val="666666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行业标准 (铁路适用)</a:t>
            </a:r>
            <a:endParaRPr lang="en-US" sz="1008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903" y="3756477"/>
            <a:ext cx="173254" cy="19800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29159" y="3712601"/>
            <a:ext cx="2574070" cy="213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《铁路声屏障工程设计规范》</a:t>
            </a:r>
            <a:endParaRPr lang="en-US" sz="1386" dirty="0"/>
          </a:p>
        </p:txBody>
      </p:sp>
      <p:sp>
        <p:nvSpPr>
          <p:cNvPr id="19" name="Shape 14"/>
          <p:cNvSpPr/>
          <p:nvPr/>
        </p:nvSpPr>
        <p:spPr>
          <a:xfrm>
            <a:off x="765903" y="4133361"/>
            <a:ext cx="1374787" cy="308258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0" name="Text 15"/>
          <p:cNvSpPr/>
          <p:nvPr/>
        </p:nvSpPr>
        <p:spPr>
          <a:xfrm>
            <a:off x="765902" y="4133361"/>
            <a:ext cx="1317780" cy="261134"/>
          </a:xfrm>
          <a:prstGeom prst="rect">
            <a:avLst/>
          </a:prstGeom>
          <a:noFill/>
          <a:ln/>
        </p:spPr>
        <p:txBody>
          <a:bodyPr wrap="none" lIns="128643" tIns="42881" rIns="128643" bIns="42881" rtlCol="0" anchor="t">
            <a:spAutoFit/>
          </a:bodyPr>
          <a:lstStyle/>
          <a:p>
            <a:r>
              <a:rPr lang="en-US" sz="1134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TB 10505-2019</a:t>
            </a:r>
            <a:endParaRPr lang="en-US" sz="1134" dirty="0"/>
          </a:p>
        </p:txBody>
      </p:sp>
      <p:sp>
        <p:nvSpPr>
          <p:cNvPr id="21" name="Shape 16"/>
          <p:cNvSpPr/>
          <p:nvPr/>
        </p:nvSpPr>
        <p:spPr>
          <a:xfrm>
            <a:off x="540896" y="4846630"/>
            <a:ext cx="4680126" cy="1476040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2" name="Shape 17"/>
          <p:cNvSpPr/>
          <p:nvPr/>
        </p:nvSpPr>
        <p:spPr>
          <a:xfrm>
            <a:off x="540897" y="4846630"/>
            <a:ext cx="36001" cy="147604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3" name="Text 18"/>
          <p:cNvSpPr/>
          <p:nvPr/>
        </p:nvSpPr>
        <p:spPr>
          <a:xfrm>
            <a:off x="765903" y="5071637"/>
            <a:ext cx="4230115" cy="155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008" b="1" kern="0" spc="1" dirty="0">
                <a:solidFill>
                  <a:srgbClr val="666666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行业标准 (铁路构件)</a:t>
            </a:r>
            <a:endParaRPr lang="en-US" sz="1008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5903" y="5412522"/>
            <a:ext cx="222756" cy="19800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78661" y="5368645"/>
            <a:ext cx="2178059" cy="213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《铁路声屏障声学构件》</a:t>
            </a:r>
            <a:endParaRPr lang="en-US" sz="1386" dirty="0"/>
          </a:p>
        </p:txBody>
      </p:sp>
      <p:sp>
        <p:nvSpPr>
          <p:cNvPr id="26" name="Shape 20"/>
          <p:cNvSpPr/>
          <p:nvPr/>
        </p:nvSpPr>
        <p:spPr>
          <a:xfrm>
            <a:off x="765903" y="5789406"/>
            <a:ext cx="1444539" cy="308258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7" name="Text 21"/>
          <p:cNvSpPr/>
          <p:nvPr/>
        </p:nvSpPr>
        <p:spPr>
          <a:xfrm>
            <a:off x="765902" y="5789405"/>
            <a:ext cx="1378695" cy="261134"/>
          </a:xfrm>
          <a:prstGeom prst="rect">
            <a:avLst/>
          </a:prstGeom>
          <a:noFill/>
          <a:ln/>
        </p:spPr>
        <p:txBody>
          <a:bodyPr wrap="none" lIns="128643" tIns="42881" rIns="128643" bIns="42881" rtlCol="0" anchor="t">
            <a:spAutoFit/>
          </a:bodyPr>
          <a:lstStyle/>
          <a:p>
            <a:r>
              <a:rPr lang="en-US" sz="1134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TB/T 3122-2019</a:t>
            </a:r>
            <a:endParaRPr lang="en-US" sz="1134" dirty="0"/>
          </a:p>
        </p:txBody>
      </p:sp>
      <p:sp>
        <p:nvSpPr>
          <p:cNvPr id="28" name="Shape 22"/>
          <p:cNvSpPr/>
          <p:nvPr/>
        </p:nvSpPr>
        <p:spPr>
          <a:xfrm>
            <a:off x="5581032" y="1534540"/>
            <a:ext cx="5400146" cy="4819630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1148" y="4734128"/>
            <a:ext cx="1350037" cy="1800049"/>
          </a:xfrm>
          <a:prstGeom prst="rect">
            <a:avLst/>
          </a:prstGeom>
        </p:spPr>
      </p:pic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1042" y="2432315"/>
            <a:ext cx="216006" cy="288008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292051" y="2368188"/>
            <a:ext cx="1728047" cy="3102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2016" b="1" dirty="0">
                <a:solidFill>
                  <a:srgbClr val="CA8A04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核心行业洞察</a:t>
            </a:r>
            <a:endParaRPr lang="en-US" sz="2016" dirty="0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1042" y="3151209"/>
            <a:ext cx="216006" cy="216006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292051" y="3054457"/>
            <a:ext cx="4329117" cy="5001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323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国内轨道交通声屏障标准尚不完善，目前</a:t>
            </a:r>
            <a:r>
              <a:rPr lang="en-US" sz="126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无针对性、系统性的国家或行业专门标准</a:t>
            </a:r>
            <a:r>
              <a:rPr lang="en-US" sz="1323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323" dirty="0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41042" y="3952231"/>
            <a:ext cx="216006" cy="216006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6292051" y="3855479"/>
            <a:ext cx="4329117" cy="5001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323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轨交环境具有极强的特殊性（如</a:t>
            </a:r>
            <a:r>
              <a:rPr lang="en-US" sz="126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列车脉动力大、运行频次高、环境腐蚀性强</a:t>
            </a:r>
            <a:r>
              <a:rPr lang="en-US" sz="1323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）。</a:t>
            </a:r>
            <a:endParaRPr lang="en-US" sz="1323" dirty="0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41042" y="4753253"/>
            <a:ext cx="216006" cy="216006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6292051" y="4656501"/>
            <a:ext cx="4329117" cy="760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323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直接套用现有的公路或铁路标准，往往</a:t>
            </a:r>
            <a:r>
              <a:rPr lang="en-US" sz="1260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难以满足长期的结构安全与维保需求</a:t>
            </a:r>
            <a:r>
              <a:rPr lang="en-US" sz="1323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，亟需专业厂商提供定制化、高标准的技术方案。</a:t>
            </a:r>
            <a:endParaRPr lang="en-US" sz="1323" dirty="0"/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921A14C5-C9C0-4E54-87D6-BFBE5A15E558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3CFF5B86-B5BA-64B2-BE85-5FF844DA784E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B3FECAAB-D368-6948-6032-CFB373257C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图片 57" descr="preencoded.png">
            <a:extLst>
              <a:ext uri="{FF2B5EF4-FFF2-40B4-BE49-F238E27FC236}">
                <a16:creationId xmlns:a16="http://schemas.microsoft.com/office/drawing/2014/main" id="{95BE3048-32AD-9E19-4062-5BE6333340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1"/>
          <p:cNvSpPr/>
          <p:nvPr/>
        </p:nvSpPr>
        <p:spPr>
          <a:xfrm>
            <a:off x="540896" y="450012"/>
            <a:ext cx="227626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02</a:t>
            </a:r>
            <a:endParaRPr lang="en-US" sz="1512" dirty="0"/>
          </a:p>
        </p:txBody>
      </p:sp>
      <p:sp>
        <p:nvSpPr>
          <p:cNvPr id="5" name="Text 2"/>
          <p:cNvSpPr/>
          <p:nvPr/>
        </p:nvSpPr>
        <p:spPr>
          <a:xfrm>
            <a:off x="990909" y="450012"/>
            <a:ext cx="3336840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M1：主流产品型式与技术路线分类</a:t>
            </a:r>
            <a:endParaRPr lang="en-US" sz="1512" dirty="0"/>
          </a:p>
        </p:txBody>
      </p:sp>
      <p:sp>
        <p:nvSpPr>
          <p:cNvPr id="6" name="Text 3"/>
          <p:cNvSpPr/>
          <p:nvPr/>
        </p:nvSpPr>
        <p:spPr>
          <a:xfrm>
            <a:off x="540896" y="900024"/>
            <a:ext cx="10440282" cy="271485"/>
          </a:xfrm>
          <a:prstGeom prst="rect">
            <a:avLst/>
          </a:prstGeom>
          <a:noFill/>
          <a:ln/>
        </p:spPr>
        <p:txBody>
          <a:bodyPr wrap="square" lIns="160644" tIns="0" rIns="0" bIns="0" rtlCol="0" anchor="t">
            <a:spAutoFit/>
          </a:bodyPr>
          <a:lstStyle/>
          <a:p>
            <a:r>
              <a:rPr lang="en-US" sz="1764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全国重点城市轨交全封闭声屏障材料技术路线</a:t>
            </a:r>
            <a:endParaRPr lang="en-US" sz="1764" dirty="0"/>
          </a:p>
        </p:txBody>
      </p:sp>
      <p:sp>
        <p:nvSpPr>
          <p:cNvPr id="7" name="Shape 4"/>
          <p:cNvSpPr/>
          <p:nvPr/>
        </p:nvSpPr>
        <p:spPr>
          <a:xfrm>
            <a:off x="540897" y="1444539"/>
            <a:ext cx="2488567" cy="4855631"/>
          </a:xfrm>
          <a:prstGeom prst="rect">
            <a:avLst/>
          </a:prstGeom>
          <a:solidFill>
            <a:srgbClr val="F8F9FA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8" name="Shape 5"/>
          <p:cNvSpPr/>
          <p:nvPr/>
        </p:nvSpPr>
        <p:spPr>
          <a:xfrm>
            <a:off x="540897" y="1444539"/>
            <a:ext cx="2488567" cy="787521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901" y="1739297"/>
            <a:ext cx="198006" cy="19800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54908" y="1552542"/>
            <a:ext cx="1930552" cy="42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金属吸声屏体 + 亚克力板</a:t>
            </a:r>
            <a:endParaRPr lang="en-US" sz="1386" dirty="0"/>
          </a:p>
        </p:txBody>
      </p:sp>
      <p:sp>
        <p:nvSpPr>
          <p:cNvPr id="11" name="Text 7"/>
          <p:cNvSpPr/>
          <p:nvPr/>
        </p:nvSpPr>
        <p:spPr>
          <a:xfrm>
            <a:off x="666901" y="2358064"/>
            <a:ext cx="649217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典型城市：</a:t>
            </a:r>
            <a:endParaRPr lang="en-US" sz="1008" dirty="0"/>
          </a:p>
        </p:txBody>
      </p:sp>
      <p:sp>
        <p:nvSpPr>
          <p:cNvPr id="12" name="Shape 8"/>
          <p:cNvSpPr/>
          <p:nvPr/>
        </p:nvSpPr>
        <p:spPr>
          <a:xfrm>
            <a:off x="1674927" y="2358064"/>
            <a:ext cx="43201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3" name="Text 9"/>
          <p:cNvSpPr/>
          <p:nvPr/>
        </p:nvSpPr>
        <p:spPr>
          <a:xfrm>
            <a:off x="1674927" y="2358064"/>
            <a:ext cx="44891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广州</a:t>
            </a:r>
            <a:endParaRPr lang="en-US" sz="1071" dirty="0"/>
          </a:p>
        </p:txBody>
      </p:sp>
      <p:sp>
        <p:nvSpPr>
          <p:cNvPr id="14" name="Shape 10"/>
          <p:cNvSpPr/>
          <p:nvPr/>
        </p:nvSpPr>
        <p:spPr>
          <a:xfrm>
            <a:off x="2178941" y="2358064"/>
            <a:ext cx="43201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5" name="Text 11"/>
          <p:cNvSpPr/>
          <p:nvPr/>
        </p:nvSpPr>
        <p:spPr>
          <a:xfrm>
            <a:off x="2178941" y="2358064"/>
            <a:ext cx="44891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深圳</a:t>
            </a:r>
            <a:endParaRPr lang="en-US" sz="1071" dirty="0"/>
          </a:p>
        </p:txBody>
      </p:sp>
      <p:sp>
        <p:nvSpPr>
          <p:cNvPr id="16" name="Shape 12"/>
          <p:cNvSpPr/>
          <p:nvPr/>
        </p:nvSpPr>
        <p:spPr>
          <a:xfrm>
            <a:off x="1674927" y="2696451"/>
            <a:ext cx="43201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7" name="Text 13"/>
          <p:cNvSpPr/>
          <p:nvPr/>
        </p:nvSpPr>
        <p:spPr>
          <a:xfrm>
            <a:off x="1674927" y="2696451"/>
            <a:ext cx="44891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温州</a:t>
            </a:r>
            <a:endParaRPr lang="en-US" sz="1071" dirty="0"/>
          </a:p>
        </p:txBody>
      </p:sp>
      <p:sp>
        <p:nvSpPr>
          <p:cNvPr id="18" name="Shape 14"/>
          <p:cNvSpPr/>
          <p:nvPr/>
        </p:nvSpPr>
        <p:spPr>
          <a:xfrm>
            <a:off x="2178941" y="2696451"/>
            <a:ext cx="43201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9" name="Text 15"/>
          <p:cNvSpPr/>
          <p:nvPr/>
        </p:nvSpPr>
        <p:spPr>
          <a:xfrm>
            <a:off x="2178941" y="2696451"/>
            <a:ext cx="44891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西安</a:t>
            </a:r>
            <a:endParaRPr lang="en-US" sz="1071" dirty="0"/>
          </a:p>
        </p:txBody>
      </p:sp>
      <p:sp>
        <p:nvSpPr>
          <p:cNvPr id="20" name="Text 16"/>
          <p:cNvSpPr/>
          <p:nvPr/>
        </p:nvSpPr>
        <p:spPr>
          <a:xfrm>
            <a:off x="666901" y="3124843"/>
            <a:ext cx="649217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适用场景：</a:t>
            </a:r>
            <a:endParaRPr lang="en-US" sz="1008" dirty="0"/>
          </a:p>
        </p:txBody>
      </p:sp>
      <p:sp>
        <p:nvSpPr>
          <p:cNvPr id="21" name="Text 17"/>
          <p:cNvSpPr/>
          <p:nvPr/>
        </p:nvSpPr>
        <p:spPr>
          <a:xfrm>
            <a:off x="1674927" y="3124842"/>
            <a:ext cx="1228533" cy="9240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侧部透明多用亚克力，顶部配PC。</a:t>
            </a:r>
            <a:r>
              <a:rPr lang="en-US" sz="1134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优势：</a:t>
            </a: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抗冲击，适合沿海及台风区。</a:t>
            </a:r>
            <a:endParaRPr lang="en-US" sz="1197" dirty="0"/>
          </a:p>
        </p:txBody>
      </p:sp>
      <p:sp>
        <p:nvSpPr>
          <p:cNvPr id="22" name="Shape 18"/>
          <p:cNvSpPr/>
          <p:nvPr/>
        </p:nvSpPr>
        <p:spPr>
          <a:xfrm>
            <a:off x="3191468" y="1444539"/>
            <a:ext cx="2488567" cy="4855631"/>
          </a:xfrm>
          <a:prstGeom prst="rect">
            <a:avLst/>
          </a:prstGeom>
          <a:solidFill>
            <a:srgbClr val="F8F9FA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23" name="Shape 19"/>
          <p:cNvSpPr/>
          <p:nvPr/>
        </p:nvSpPr>
        <p:spPr>
          <a:xfrm>
            <a:off x="3191468" y="1444539"/>
            <a:ext cx="2488567" cy="787521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5472" y="1739297"/>
            <a:ext cx="198006" cy="19800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3605479" y="1552542"/>
            <a:ext cx="1930552" cy="42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金属吸声屏体 + 夹胶玻璃 + PC板</a:t>
            </a:r>
            <a:endParaRPr lang="en-US" sz="1386" dirty="0"/>
          </a:p>
        </p:txBody>
      </p:sp>
      <p:sp>
        <p:nvSpPr>
          <p:cNvPr id="26" name="Text 21"/>
          <p:cNvSpPr/>
          <p:nvPr/>
        </p:nvSpPr>
        <p:spPr>
          <a:xfrm>
            <a:off x="3317472" y="2358064"/>
            <a:ext cx="649217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典型城市：</a:t>
            </a:r>
            <a:endParaRPr lang="en-US" sz="1008" dirty="0"/>
          </a:p>
        </p:txBody>
      </p:sp>
      <p:sp>
        <p:nvSpPr>
          <p:cNvPr id="27" name="Shape 22"/>
          <p:cNvSpPr/>
          <p:nvPr/>
        </p:nvSpPr>
        <p:spPr>
          <a:xfrm>
            <a:off x="4325498" y="2358064"/>
            <a:ext cx="43201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8" name="Text 23"/>
          <p:cNvSpPr/>
          <p:nvPr/>
        </p:nvSpPr>
        <p:spPr>
          <a:xfrm>
            <a:off x="4325499" y="2358064"/>
            <a:ext cx="44891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宁波</a:t>
            </a:r>
            <a:endParaRPr lang="en-US" sz="1071" dirty="0"/>
          </a:p>
        </p:txBody>
      </p:sp>
      <p:sp>
        <p:nvSpPr>
          <p:cNvPr id="29" name="Shape 24"/>
          <p:cNvSpPr/>
          <p:nvPr/>
        </p:nvSpPr>
        <p:spPr>
          <a:xfrm>
            <a:off x="4829512" y="2358064"/>
            <a:ext cx="43201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0" name="Text 25"/>
          <p:cNvSpPr/>
          <p:nvPr/>
        </p:nvSpPr>
        <p:spPr>
          <a:xfrm>
            <a:off x="4829512" y="2358064"/>
            <a:ext cx="44891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北京</a:t>
            </a:r>
            <a:endParaRPr lang="en-US" sz="1071" dirty="0"/>
          </a:p>
        </p:txBody>
      </p:sp>
      <p:sp>
        <p:nvSpPr>
          <p:cNvPr id="31" name="Shape 26"/>
          <p:cNvSpPr/>
          <p:nvPr/>
        </p:nvSpPr>
        <p:spPr>
          <a:xfrm>
            <a:off x="4325499" y="2696451"/>
            <a:ext cx="81902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2" name="Text 27"/>
          <p:cNvSpPr/>
          <p:nvPr/>
        </p:nvSpPr>
        <p:spPr>
          <a:xfrm>
            <a:off x="4325499" y="2696451"/>
            <a:ext cx="81760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重庆(环线)</a:t>
            </a:r>
            <a:endParaRPr lang="en-US" sz="1071" dirty="0"/>
          </a:p>
        </p:txBody>
      </p:sp>
      <p:sp>
        <p:nvSpPr>
          <p:cNvPr id="33" name="Shape 28"/>
          <p:cNvSpPr/>
          <p:nvPr/>
        </p:nvSpPr>
        <p:spPr>
          <a:xfrm>
            <a:off x="4325498" y="3034839"/>
            <a:ext cx="43201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4" name="Text 29"/>
          <p:cNvSpPr/>
          <p:nvPr/>
        </p:nvSpPr>
        <p:spPr>
          <a:xfrm>
            <a:off x="4325499" y="3034839"/>
            <a:ext cx="44891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济南</a:t>
            </a:r>
            <a:endParaRPr lang="en-US" sz="1071" dirty="0"/>
          </a:p>
        </p:txBody>
      </p:sp>
      <p:sp>
        <p:nvSpPr>
          <p:cNvPr id="35" name="Text 30"/>
          <p:cNvSpPr/>
          <p:nvPr/>
        </p:nvSpPr>
        <p:spPr>
          <a:xfrm>
            <a:off x="3317472" y="3463230"/>
            <a:ext cx="649217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适用场景：</a:t>
            </a:r>
            <a:endParaRPr lang="en-US" sz="1008" dirty="0"/>
          </a:p>
        </p:txBody>
      </p:sp>
      <p:sp>
        <p:nvSpPr>
          <p:cNvPr id="36" name="Text 31"/>
          <p:cNvSpPr/>
          <p:nvPr/>
        </p:nvSpPr>
        <p:spPr>
          <a:xfrm>
            <a:off x="4325499" y="3463230"/>
            <a:ext cx="1228533" cy="9240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城市标准配置，侧面多为夹胶玻璃。</a:t>
            </a:r>
            <a:r>
              <a:rPr lang="en-US" sz="1134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优势：</a:t>
            </a: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兼顾吸声与采光，耐久性好。</a:t>
            </a:r>
            <a:endParaRPr lang="en-US" sz="1197" dirty="0"/>
          </a:p>
        </p:txBody>
      </p:sp>
      <p:sp>
        <p:nvSpPr>
          <p:cNvPr id="37" name="Shape 32"/>
          <p:cNvSpPr/>
          <p:nvPr/>
        </p:nvSpPr>
        <p:spPr>
          <a:xfrm>
            <a:off x="5842040" y="1444539"/>
            <a:ext cx="2488567" cy="4855631"/>
          </a:xfrm>
          <a:prstGeom prst="rect">
            <a:avLst/>
          </a:prstGeom>
          <a:solidFill>
            <a:srgbClr val="F8F9FA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38" name="Shape 33"/>
          <p:cNvSpPr/>
          <p:nvPr/>
        </p:nvSpPr>
        <p:spPr>
          <a:xfrm>
            <a:off x="5842040" y="1444539"/>
            <a:ext cx="2488567" cy="501763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3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6044" y="1596419"/>
            <a:ext cx="222756" cy="198006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6280802" y="1552542"/>
            <a:ext cx="1300036" cy="2132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全PC板 (透明式)</a:t>
            </a:r>
            <a:endParaRPr lang="en-US" sz="1386" dirty="0"/>
          </a:p>
        </p:txBody>
      </p:sp>
      <p:sp>
        <p:nvSpPr>
          <p:cNvPr id="41" name="Text 35"/>
          <p:cNvSpPr/>
          <p:nvPr/>
        </p:nvSpPr>
        <p:spPr>
          <a:xfrm>
            <a:off x="5968043" y="2072305"/>
            <a:ext cx="649217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典型城市：</a:t>
            </a:r>
            <a:endParaRPr lang="en-US" sz="1008" dirty="0"/>
          </a:p>
        </p:txBody>
      </p:sp>
      <p:sp>
        <p:nvSpPr>
          <p:cNvPr id="42" name="Shape 36"/>
          <p:cNvSpPr/>
          <p:nvPr/>
        </p:nvSpPr>
        <p:spPr>
          <a:xfrm>
            <a:off x="6976069" y="2072305"/>
            <a:ext cx="43201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3" name="Text 37"/>
          <p:cNvSpPr/>
          <p:nvPr/>
        </p:nvSpPr>
        <p:spPr>
          <a:xfrm>
            <a:off x="6976070" y="2072305"/>
            <a:ext cx="44891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合肥</a:t>
            </a:r>
            <a:endParaRPr lang="en-US" sz="1071" dirty="0"/>
          </a:p>
        </p:txBody>
      </p:sp>
      <p:sp>
        <p:nvSpPr>
          <p:cNvPr id="44" name="Shape 38"/>
          <p:cNvSpPr/>
          <p:nvPr/>
        </p:nvSpPr>
        <p:spPr>
          <a:xfrm>
            <a:off x="6976070" y="2410694"/>
            <a:ext cx="819022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5" name="Text 39"/>
          <p:cNvSpPr/>
          <p:nvPr/>
        </p:nvSpPr>
        <p:spPr>
          <a:xfrm>
            <a:off x="6976070" y="2410694"/>
            <a:ext cx="817606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武汉(部分)</a:t>
            </a:r>
            <a:endParaRPr lang="en-US" sz="1071" dirty="0"/>
          </a:p>
        </p:txBody>
      </p:sp>
      <p:sp>
        <p:nvSpPr>
          <p:cNvPr id="46" name="Text 40"/>
          <p:cNvSpPr/>
          <p:nvPr/>
        </p:nvSpPr>
        <p:spPr>
          <a:xfrm>
            <a:off x="5968043" y="2839084"/>
            <a:ext cx="649217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适用场景：</a:t>
            </a:r>
            <a:endParaRPr lang="en-US" sz="1008" dirty="0"/>
          </a:p>
        </p:txBody>
      </p:sp>
      <p:sp>
        <p:nvSpPr>
          <p:cNvPr id="47" name="Text 41"/>
          <p:cNvSpPr/>
          <p:nvPr/>
        </p:nvSpPr>
        <p:spPr>
          <a:xfrm>
            <a:off x="6976070" y="2839084"/>
            <a:ext cx="1228533" cy="9240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用于突出景观的路段。</a:t>
            </a:r>
            <a:r>
              <a:rPr lang="en-US" sz="1134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优势：</a:t>
            </a: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全透光；</a:t>
            </a:r>
            <a:r>
              <a:rPr lang="en-US" sz="1134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劣势：</a:t>
            </a: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吸声有限、易老化。</a:t>
            </a:r>
            <a:endParaRPr lang="en-US" sz="1197" dirty="0"/>
          </a:p>
        </p:txBody>
      </p:sp>
      <p:sp>
        <p:nvSpPr>
          <p:cNvPr id="48" name="Shape 42"/>
          <p:cNvSpPr/>
          <p:nvPr/>
        </p:nvSpPr>
        <p:spPr>
          <a:xfrm>
            <a:off x="8492611" y="1444539"/>
            <a:ext cx="2488567" cy="4855631"/>
          </a:xfrm>
          <a:prstGeom prst="rect">
            <a:avLst/>
          </a:prstGeom>
          <a:solidFill>
            <a:srgbClr val="F8F9FA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49" name="Shape 43"/>
          <p:cNvSpPr/>
          <p:nvPr/>
        </p:nvSpPr>
        <p:spPr>
          <a:xfrm>
            <a:off x="8492611" y="1444539"/>
            <a:ext cx="2488567" cy="787521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5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6615" y="1739297"/>
            <a:ext cx="198006" cy="198006"/>
          </a:xfrm>
          <a:prstGeom prst="rect">
            <a:avLst/>
          </a:prstGeom>
        </p:spPr>
      </p:pic>
      <p:sp>
        <p:nvSpPr>
          <p:cNvPr id="51" name="Text 44"/>
          <p:cNvSpPr/>
          <p:nvPr/>
        </p:nvSpPr>
        <p:spPr>
          <a:xfrm>
            <a:off x="8906622" y="1552542"/>
            <a:ext cx="1930552" cy="42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FFFFF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金属吸声屏体 + 亚克力 + 消声百叶</a:t>
            </a:r>
            <a:endParaRPr lang="en-US" sz="1386" dirty="0"/>
          </a:p>
        </p:txBody>
      </p:sp>
      <p:sp>
        <p:nvSpPr>
          <p:cNvPr id="52" name="Text 45"/>
          <p:cNvSpPr/>
          <p:nvPr/>
        </p:nvSpPr>
        <p:spPr>
          <a:xfrm>
            <a:off x="8618615" y="2358064"/>
            <a:ext cx="649217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典型城市：</a:t>
            </a:r>
            <a:endParaRPr lang="en-US" sz="1008" dirty="0"/>
          </a:p>
        </p:txBody>
      </p:sp>
      <p:sp>
        <p:nvSpPr>
          <p:cNvPr id="53" name="Shape 46"/>
          <p:cNvSpPr/>
          <p:nvPr/>
        </p:nvSpPr>
        <p:spPr>
          <a:xfrm>
            <a:off x="9626643" y="2358064"/>
            <a:ext cx="900024" cy="284387"/>
          </a:xfrm>
          <a:prstGeom prst="rect">
            <a:avLst/>
          </a:prstGeom>
          <a:solidFill>
            <a:srgbClr val="E3F2FD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4" name="Text 47"/>
          <p:cNvSpPr/>
          <p:nvPr/>
        </p:nvSpPr>
        <p:spPr>
          <a:xfrm>
            <a:off x="9626643" y="2358064"/>
            <a:ext cx="894550" cy="258914"/>
          </a:xfrm>
          <a:prstGeom prst="rect">
            <a:avLst/>
          </a:prstGeom>
          <a:noFill/>
          <a:ln/>
        </p:spPr>
        <p:txBody>
          <a:bodyPr wrap="none" lIns="85762" tIns="32161" rIns="85762" bIns="32161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071" dirty="0">
                <a:solidFill>
                  <a:srgbClr val="1565C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重庆(4号线)</a:t>
            </a:r>
            <a:endParaRPr lang="en-US" sz="1071" dirty="0"/>
          </a:p>
        </p:txBody>
      </p:sp>
      <p:sp>
        <p:nvSpPr>
          <p:cNvPr id="55" name="Text 48"/>
          <p:cNvSpPr/>
          <p:nvPr/>
        </p:nvSpPr>
        <p:spPr>
          <a:xfrm>
            <a:off x="8618615" y="2786454"/>
            <a:ext cx="649217" cy="1551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适用场景：</a:t>
            </a:r>
            <a:endParaRPr lang="en-US" sz="1008" dirty="0"/>
          </a:p>
        </p:txBody>
      </p:sp>
      <p:sp>
        <p:nvSpPr>
          <p:cNvPr id="56" name="Text 49"/>
          <p:cNvSpPr/>
          <p:nvPr/>
        </p:nvSpPr>
        <p:spPr>
          <a:xfrm>
            <a:off x="9626642" y="2786454"/>
            <a:ext cx="1228533" cy="688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需加强通风散热的高架段。</a:t>
            </a:r>
            <a:r>
              <a:rPr lang="en-US" sz="1134" b="1" dirty="0">
                <a:solidFill>
                  <a:srgbClr val="E53935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优势：</a:t>
            </a: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提升通风与散热。</a:t>
            </a:r>
            <a:endParaRPr lang="en-US" sz="1197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88B7FE21-260D-AFD9-CB01-1AE180AA073B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C23BCC0B-79B2-9127-1AE3-D2148436A3A7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9" name="图片 58">
              <a:extLst>
                <a:ext uri="{FF2B5EF4-FFF2-40B4-BE49-F238E27FC236}">
                  <a16:creationId xmlns:a16="http://schemas.microsoft.com/office/drawing/2014/main" id="{36E4DA6A-4577-AD3F-6FBA-64443BD60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图片 64" descr="preencoded.png">
            <a:extLst>
              <a:ext uri="{FF2B5EF4-FFF2-40B4-BE49-F238E27FC236}">
                <a16:creationId xmlns:a16="http://schemas.microsoft.com/office/drawing/2014/main" id="{3527DF59-220D-B1D9-39F2-ABCA3D5DD4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1"/>
          <p:cNvSpPr/>
          <p:nvPr/>
        </p:nvSpPr>
        <p:spPr>
          <a:xfrm>
            <a:off x="540896" y="450012"/>
            <a:ext cx="227626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03</a:t>
            </a:r>
            <a:endParaRPr lang="en-US" sz="1512" dirty="0"/>
          </a:p>
        </p:txBody>
      </p:sp>
      <p:sp>
        <p:nvSpPr>
          <p:cNvPr id="5" name="Text 2"/>
          <p:cNvSpPr/>
          <p:nvPr/>
        </p:nvSpPr>
        <p:spPr>
          <a:xfrm>
            <a:off x="990909" y="450012"/>
            <a:ext cx="3219838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M2：行业痛点剖析 — 结构不安全</a:t>
            </a:r>
            <a:endParaRPr lang="en-US" sz="1512" dirty="0"/>
          </a:p>
        </p:txBody>
      </p:sp>
      <p:sp>
        <p:nvSpPr>
          <p:cNvPr id="6" name="Text 3"/>
          <p:cNvSpPr/>
          <p:nvPr/>
        </p:nvSpPr>
        <p:spPr>
          <a:xfrm>
            <a:off x="540896" y="900024"/>
            <a:ext cx="10440282" cy="271485"/>
          </a:xfrm>
          <a:prstGeom prst="rect">
            <a:avLst/>
          </a:prstGeom>
          <a:noFill/>
          <a:ln/>
        </p:spPr>
        <p:txBody>
          <a:bodyPr wrap="square" lIns="160644" tIns="0" rIns="0" bIns="0" rtlCol="0" anchor="t">
            <a:spAutoFit/>
          </a:bodyPr>
          <a:lstStyle/>
          <a:p>
            <a:r>
              <a:rPr lang="en-US" sz="1764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轨交列车高速运行脉动力引发的安全红线挑战</a:t>
            </a:r>
            <a:endParaRPr lang="en-US" sz="1764" dirty="0"/>
          </a:p>
        </p:txBody>
      </p:sp>
      <p:sp>
        <p:nvSpPr>
          <p:cNvPr id="7" name="Shape 4"/>
          <p:cNvSpPr/>
          <p:nvPr/>
        </p:nvSpPr>
        <p:spPr>
          <a:xfrm>
            <a:off x="540897" y="1444539"/>
            <a:ext cx="3360079" cy="4945634"/>
          </a:xfrm>
          <a:prstGeom prst="rect">
            <a:avLst/>
          </a:prstGeom>
          <a:solidFill>
            <a:srgbClr val="FFEBEE"/>
          </a:solidFill>
          <a:ln w="9144">
            <a:solidFill>
              <a:srgbClr val="FFCDD2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8" name="Shape 5"/>
          <p:cNvSpPr/>
          <p:nvPr/>
        </p:nvSpPr>
        <p:spPr>
          <a:xfrm>
            <a:off x="540897" y="1444539"/>
            <a:ext cx="3342043" cy="54002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9" name="Shape 6"/>
          <p:cNvSpPr/>
          <p:nvPr/>
        </p:nvSpPr>
        <p:spPr>
          <a:xfrm>
            <a:off x="540897" y="1444539"/>
            <a:ext cx="3360079" cy="1440039"/>
          </a:xfrm>
          <a:prstGeom prst="rect">
            <a:avLst/>
          </a:prstGeom>
          <a:solidFill>
            <a:srgbClr val="B71C1C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0907" y="1804549"/>
            <a:ext cx="900024" cy="72001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937915" y="2612320"/>
            <a:ext cx="683649" cy="1357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82" b="1" kern="0" spc="1" dirty="0">
                <a:solidFill>
                  <a:srgbClr val="FFFFFF">
                    <a:alpha val="60000"/>
                  </a:srgbClr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现场实拍示意</a:t>
            </a:r>
            <a:endParaRPr lang="en-US" sz="882" dirty="0"/>
          </a:p>
        </p:txBody>
      </p:sp>
      <p:sp>
        <p:nvSpPr>
          <p:cNvPr id="12" name="Text 8"/>
          <p:cNvSpPr/>
          <p:nvPr/>
        </p:nvSpPr>
        <p:spPr>
          <a:xfrm>
            <a:off x="702901" y="3046581"/>
            <a:ext cx="3036071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B71C1C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01 紧固件及连接件失效</a:t>
            </a:r>
            <a:endParaRPr lang="en-US" sz="1512" dirty="0"/>
          </a:p>
        </p:txBody>
      </p:sp>
      <p:sp>
        <p:nvSpPr>
          <p:cNvPr id="13" name="Text 9"/>
          <p:cNvSpPr/>
          <p:nvPr/>
        </p:nvSpPr>
        <p:spPr>
          <a:xfrm>
            <a:off x="702901" y="3467343"/>
            <a:ext cx="3036071" cy="688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传统声屏障大量采用角钢、螺栓、铆钉等连接方式，在长期地铁振动下极易发生松动失效。</a:t>
            </a:r>
            <a:endParaRPr lang="en-US" sz="1197" dirty="0"/>
          </a:p>
        </p:txBody>
      </p:sp>
      <p:sp>
        <p:nvSpPr>
          <p:cNvPr id="14" name="Shape 10"/>
          <p:cNvSpPr/>
          <p:nvPr/>
        </p:nvSpPr>
        <p:spPr>
          <a:xfrm>
            <a:off x="702901" y="4995134"/>
            <a:ext cx="3036071" cy="351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5" name="Shape 11"/>
          <p:cNvSpPr/>
          <p:nvPr/>
        </p:nvSpPr>
        <p:spPr>
          <a:xfrm>
            <a:off x="702902" y="4995134"/>
            <a:ext cx="27000" cy="351009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904" y="5085137"/>
            <a:ext cx="144004" cy="14400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44910" y="5067137"/>
            <a:ext cx="1240724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紧固件螺栓松动脱落</a:t>
            </a:r>
            <a:endParaRPr lang="en-US" sz="1071" dirty="0"/>
          </a:p>
        </p:txBody>
      </p:sp>
      <p:sp>
        <p:nvSpPr>
          <p:cNvPr id="18" name="Shape 13"/>
          <p:cNvSpPr/>
          <p:nvPr/>
        </p:nvSpPr>
        <p:spPr>
          <a:xfrm>
            <a:off x="702901" y="5436146"/>
            <a:ext cx="3036071" cy="351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9" name="Shape 14"/>
          <p:cNvSpPr/>
          <p:nvPr/>
        </p:nvSpPr>
        <p:spPr>
          <a:xfrm>
            <a:off x="702902" y="5436146"/>
            <a:ext cx="27000" cy="351009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904" y="5526149"/>
            <a:ext cx="144004" cy="14400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44910" y="5508149"/>
            <a:ext cx="1102866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限位板弹簧卡失效</a:t>
            </a:r>
            <a:endParaRPr lang="en-US" sz="1071" dirty="0"/>
          </a:p>
        </p:txBody>
      </p:sp>
      <p:sp>
        <p:nvSpPr>
          <p:cNvPr id="22" name="Shape 16"/>
          <p:cNvSpPr/>
          <p:nvPr/>
        </p:nvSpPr>
        <p:spPr>
          <a:xfrm>
            <a:off x="702901" y="5877159"/>
            <a:ext cx="3036071" cy="351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3" name="Shape 17"/>
          <p:cNvSpPr/>
          <p:nvPr/>
        </p:nvSpPr>
        <p:spPr>
          <a:xfrm>
            <a:off x="702902" y="5877159"/>
            <a:ext cx="27000" cy="351009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904" y="5967160"/>
            <a:ext cx="144004" cy="14400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044910" y="5949161"/>
            <a:ext cx="1102866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固定角钢疲劳脱落</a:t>
            </a:r>
            <a:endParaRPr lang="en-US" sz="1071" dirty="0"/>
          </a:p>
        </p:txBody>
      </p:sp>
      <p:sp>
        <p:nvSpPr>
          <p:cNvPr id="26" name="Shape 19"/>
          <p:cNvSpPr/>
          <p:nvPr/>
        </p:nvSpPr>
        <p:spPr>
          <a:xfrm>
            <a:off x="4080981" y="1444539"/>
            <a:ext cx="3360079" cy="4945634"/>
          </a:xfrm>
          <a:prstGeom prst="rect">
            <a:avLst/>
          </a:prstGeom>
          <a:solidFill>
            <a:srgbClr val="FFEBEE"/>
          </a:solidFill>
          <a:ln w="9144">
            <a:solidFill>
              <a:srgbClr val="FFCDD2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27" name="Shape 20"/>
          <p:cNvSpPr/>
          <p:nvPr/>
        </p:nvSpPr>
        <p:spPr>
          <a:xfrm>
            <a:off x="4080981" y="1444539"/>
            <a:ext cx="3342043" cy="54002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8" name="Shape 21"/>
          <p:cNvSpPr/>
          <p:nvPr/>
        </p:nvSpPr>
        <p:spPr>
          <a:xfrm>
            <a:off x="4080981" y="1444539"/>
            <a:ext cx="3360079" cy="1440039"/>
          </a:xfrm>
          <a:prstGeom prst="rect">
            <a:avLst/>
          </a:prstGeom>
          <a:solidFill>
            <a:srgbClr val="B71C1C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5990" y="1804549"/>
            <a:ext cx="810023" cy="720019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6477998" y="2612320"/>
            <a:ext cx="683649" cy="1357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82" b="1" kern="0" spc="1" dirty="0">
                <a:solidFill>
                  <a:srgbClr val="FFFFFF">
                    <a:alpha val="60000"/>
                  </a:srgbClr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现场实拍示意</a:t>
            </a:r>
            <a:endParaRPr lang="en-US" sz="882" dirty="0"/>
          </a:p>
        </p:txBody>
      </p:sp>
      <p:sp>
        <p:nvSpPr>
          <p:cNvPr id="31" name="Text 23"/>
          <p:cNvSpPr/>
          <p:nvPr/>
        </p:nvSpPr>
        <p:spPr>
          <a:xfrm>
            <a:off x="4242984" y="3046581"/>
            <a:ext cx="3036071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B71C1C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02 声屏障屏体整体脱落</a:t>
            </a:r>
            <a:endParaRPr lang="en-US" sz="1512" dirty="0"/>
          </a:p>
        </p:txBody>
      </p:sp>
      <p:sp>
        <p:nvSpPr>
          <p:cNvPr id="32" name="Text 24"/>
          <p:cNvSpPr/>
          <p:nvPr/>
        </p:nvSpPr>
        <p:spPr>
          <a:xfrm>
            <a:off x="4242984" y="3467343"/>
            <a:ext cx="3036071" cy="688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“小板装大尺寸”设计，在热胀冷缩和脉动力交替作用下，板材极易掉落，威胁行车安全。</a:t>
            </a:r>
            <a:endParaRPr lang="en-US" sz="1197" dirty="0"/>
          </a:p>
        </p:txBody>
      </p:sp>
      <p:sp>
        <p:nvSpPr>
          <p:cNvPr id="33" name="Shape 25"/>
          <p:cNvSpPr/>
          <p:nvPr/>
        </p:nvSpPr>
        <p:spPr>
          <a:xfrm>
            <a:off x="4242984" y="4995134"/>
            <a:ext cx="3036071" cy="351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4" name="Shape 26"/>
          <p:cNvSpPr/>
          <p:nvPr/>
        </p:nvSpPr>
        <p:spPr>
          <a:xfrm>
            <a:off x="4242985" y="4995134"/>
            <a:ext cx="27000" cy="351009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50987" y="5085137"/>
            <a:ext cx="144004" cy="144004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4584994" y="5067137"/>
            <a:ext cx="1102866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侧部金属屏体脱落</a:t>
            </a:r>
            <a:endParaRPr lang="en-US" sz="1071" dirty="0"/>
          </a:p>
        </p:txBody>
      </p:sp>
      <p:sp>
        <p:nvSpPr>
          <p:cNvPr id="37" name="Shape 28"/>
          <p:cNvSpPr/>
          <p:nvPr/>
        </p:nvSpPr>
        <p:spPr>
          <a:xfrm>
            <a:off x="4242984" y="5436146"/>
            <a:ext cx="3036071" cy="351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8" name="Shape 29"/>
          <p:cNvSpPr/>
          <p:nvPr/>
        </p:nvSpPr>
        <p:spPr>
          <a:xfrm>
            <a:off x="4242985" y="5436146"/>
            <a:ext cx="27000" cy="351009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50987" y="5526149"/>
            <a:ext cx="144004" cy="144004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4584994" y="5508149"/>
            <a:ext cx="1139736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顶部PC板整体脱落</a:t>
            </a:r>
            <a:endParaRPr lang="en-US" sz="1071" dirty="0"/>
          </a:p>
        </p:txBody>
      </p:sp>
      <p:sp>
        <p:nvSpPr>
          <p:cNvPr id="41" name="Shape 31"/>
          <p:cNvSpPr/>
          <p:nvPr/>
        </p:nvSpPr>
        <p:spPr>
          <a:xfrm>
            <a:off x="4242984" y="5877159"/>
            <a:ext cx="3036071" cy="351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2" name="Shape 32"/>
          <p:cNvSpPr/>
          <p:nvPr/>
        </p:nvSpPr>
        <p:spPr>
          <a:xfrm>
            <a:off x="4242985" y="5877159"/>
            <a:ext cx="27000" cy="351009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43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50987" y="5967160"/>
            <a:ext cx="144004" cy="144004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4584994" y="5949161"/>
            <a:ext cx="1240724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导致顶部大面积开口</a:t>
            </a:r>
            <a:endParaRPr lang="en-US" sz="1071" dirty="0"/>
          </a:p>
        </p:txBody>
      </p:sp>
      <p:sp>
        <p:nvSpPr>
          <p:cNvPr id="45" name="Shape 34"/>
          <p:cNvSpPr/>
          <p:nvPr/>
        </p:nvSpPr>
        <p:spPr>
          <a:xfrm>
            <a:off x="7621064" y="1444539"/>
            <a:ext cx="3360115" cy="4945634"/>
          </a:xfrm>
          <a:prstGeom prst="rect">
            <a:avLst/>
          </a:prstGeom>
          <a:solidFill>
            <a:srgbClr val="FFEBEE"/>
          </a:solidFill>
          <a:ln w="9144">
            <a:solidFill>
              <a:srgbClr val="FFCDD2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sp>
        <p:nvSpPr>
          <p:cNvPr id="46" name="Shape 35"/>
          <p:cNvSpPr/>
          <p:nvPr/>
        </p:nvSpPr>
        <p:spPr>
          <a:xfrm>
            <a:off x="7621064" y="1444539"/>
            <a:ext cx="3342114" cy="54002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47" name="Shape 36"/>
          <p:cNvSpPr/>
          <p:nvPr/>
        </p:nvSpPr>
        <p:spPr>
          <a:xfrm>
            <a:off x="7621064" y="1444539"/>
            <a:ext cx="3360115" cy="1440039"/>
          </a:xfrm>
          <a:prstGeom prst="rect">
            <a:avLst/>
          </a:prstGeom>
          <a:solidFill>
            <a:srgbClr val="B71C1C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4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41112" y="1804549"/>
            <a:ext cx="720019" cy="720019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10018153" y="2612320"/>
            <a:ext cx="683649" cy="1357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882" b="1" kern="0" spc="1" dirty="0">
                <a:solidFill>
                  <a:srgbClr val="FFFFFF">
                    <a:alpha val="60000"/>
                  </a:srgbClr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现场实拍示意</a:t>
            </a:r>
            <a:endParaRPr lang="en-US" sz="882" dirty="0"/>
          </a:p>
        </p:txBody>
      </p:sp>
      <p:sp>
        <p:nvSpPr>
          <p:cNvPr id="50" name="Text 38"/>
          <p:cNvSpPr/>
          <p:nvPr/>
        </p:nvSpPr>
        <p:spPr>
          <a:xfrm>
            <a:off x="7783068" y="3046581"/>
            <a:ext cx="3036106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B71C1C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03 屏体板材破损及密封失效</a:t>
            </a:r>
            <a:endParaRPr lang="en-US" sz="1512" dirty="0"/>
          </a:p>
        </p:txBody>
      </p:sp>
      <p:sp>
        <p:nvSpPr>
          <p:cNvPr id="51" name="Text 39"/>
          <p:cNvSpPr/>
          <p:nvPr/>
        </p:nvSpPr>
        <p:spPr>
          <a:xfrm>
            <a:off x="7783068" y="3467343"/>
            <a:ext cx="3036106" cy="45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33333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材料老化及外力冲击导致密封结构破坏，直接引发漏声、漏水等功能性失效。</a:t>
            </a:r>
            <a:endParaRPr lang="en-US" sz="1197" dirty="0"/>
          </a:p>
        </p:txBody>
      </p:sp>
      <p:sp>
        <p:nvSpPr>
          <p:cNvPr id="52" name="Shape 40"/>
          <p:cNvSpPr/>
          <p:nvPr/>
        </p:nvSpPr>
        <p:spPr>
          <a:xfrm>
            <a:off x="7783068" y="4995134"/>
            <a:ext cx="3036106" cy="351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3" name="Shape 41"/>
          <p:cNvSpPr/>
          <p:nvPr/>
        </p:nvSpPr>
        <p:spPr>
          <a:xfrm>
            <a:off x="7783069" y="4995134"/>
            <a:ext cx="27000" cy="351009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54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91072" y="5085137"/>
            <a:ext cx="180005" cy="144004"/>
          </a:xfrm>
          <a:prstGeom prst="rect">
            <a:avLst/>
          </a:prstGeom>
        </p:spPr>
      </p:pic>
      <p:sp>
        <p:nvSpPr>
          <p:cNvPr id="55" name="Text 42"/>
          <p:cNvSpPr/>
          <p:nvPr/>
        </p:nvSpPr>
        <p:spPr>
          <a:xfrm>
            <a:off x="8161078" y="5067137"/>
            <a:ext cx="965008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橡胶垫老化脱出</a:t>
            </a:r>
            <a:endParaRPr lang="en-US" sz="1071" dirty="0"/>
          </a:p>
        </p:txBody>
      </p:sp>
      <p:sp>
        <p:nvSpPr>
          <p:cNvPr id="56" name="Shape 43"/>
          <p:cNvSpPr/>
          <p:nvPr/>
        </p:nvSpPr>
        <p:spPr>
          <a:xfrm>
            <a:off x="7783068" y="5436146"/>
            <a:ext cx="3036106" cy="351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57" name="Shape 44"/>
          <p:cNvSpPr/>
          <p:nvPr/>
        </p:nvSpPr>
        <p:spPr>
          <a:xfrm>
            <a:off x="7783069" y="5436146"/>
            <a:ext cx="27000" cy="351009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58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91072" y="5526149"/>
            <a:ext cx="180005" cy="144004"/>
          </a:xfrm>
          <a:prstGeom prst="rect">
            <a:avLst/>
          </a:prstGeom>
        </p:spPr>
      </p:pic>
      <p:sp>
        <p:nvSpPr>
          <p:cNvPr id="59" name="Text 45"/>
          <p:cNvSpPr/>
          <p:nvPr/>
        </p:nvSpPr>
        <p:spPr>
          <a:xfrm>
            <a:off x="8161078" y="5508149"/>
            <a:ext cx="1139736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PC板热胀冷缩开裂</a:t>
            </a:r>
            <a:endParaRPr lang="en-US" sz="1071" dirty="0"/>
          </a:p>
        </p:txBody>
      </p:sp>
      <p:sp>
        <p:nvSpPr>
          <p:cNvPr id="60" name="Shape 46"/>
          <p:cNvSpPr/>
          <p:nvPr/>
        </p:nvSpPr>
        <p:spPr>
          <a:xfrm>
            <a:off x="7783068" y="5877159"/>
            <a:ext cx="3036106" cy="3510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61" name="Shape 47"/>
          <p:cNvSpPr/>
          <p:nvPr/>
        </p:nvSpPr>
        <p:spPr>
          <a:xfrm>
            <a:off x="7783069" y="5877159"/>
            <a:ext cx="27000" cy="351009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62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91072" y="5967160"/>
            <a:ext cx="180005" cy="144004"/>
          </a:xfrm>
          <a:prstGeom prst="rect">
            <a:avLst/>
          </a:prstGeom>
        </p:spPr>
      </p:pic>
      <p:sp>
        <p:nvSpPr>
          <p:cNvPr id="63" name="Text 48"/>
          <p:cNvSpPr/>
          <p:nvPr/>
        </p:nvSpPr>
        <p:spPr>
          <a:xfrm>
            <a:off x="8161079" y="5949161"/>
            <a:ext cx="1516441" cy="1647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071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夹胶玻璃被飞石冲击破损</a:t>
            </a:r>
            <a:endParaRPr lang="en-US" sz="1071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D4D58FFB-D48F-7A56-94A2-010ABBB67E90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0B571C48-1F56-9299-8137-4C1254C822C3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6" name="图片 65">
              <a:extLst>
                <a:ext uri="{FF2B5EF4-FFF2-40B4-BE49-F238E27FC236}">
                  <a16:creationId xmlns:a16="http://schemas.microsoft.com/office/drawing/2014/main" id="{B4D0AB46-0D1E-1BAE-C4AB-763E02747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图片 32" descr="preencoded.png">
            <a:extLst>
              <a:ext uri="{FF2B5EF4-FFF2-40B4-BE49-F238E27FC236}">
                <a16:creationId xmlns:a16="http://schemas.microsoft.com/office/drawing/2014/main" id="{67BCE584-5F56-9D68-D384-493E093D75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1"/>
          <p:cNvSpPr/>
          <p:nvPr/>
        </p:nvSpPr>
        <p:spPr>
          <a:xfrm>
            <a:off x="540896" y="450012"/>
            <a:ext cx="227626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04</a:t>
            </a:r>
            <a:endParaRPr lang="en-US" sz="1512" dirty="0"/>
          </a:p>
        </p:txBody>
      </p:sp>
      <p:sp>
        <p:nvSpPr>
          <p:cNvPr id="5" name="Text 2"/>
          <p:cNvSpPr/>
          <p:nvPr/>
        </p:nvSpPr>
        <p:spPr>
          <a:xfrm>
            <a:off x="990909" y="450012"/>
            <a:ext cx="3219838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M2：行业痛点剖析 — 使用寿命短</a:t>
            </a:r>
            <a:endParaRPr lang="en-US" sz="1512" dirty="0"/>
          </a:p>
        </p:txBody>
      </p:sp>
      <p:sp>
        <p:nvSpPr>
          <p:cNvPr id="6" name="Text 3"/>
          <p:cNvSpPr/>
          <p:nvPr/>
        </p:nvSpPr>
        <p:spPr>
          <a:xfrm>
            <a:off x="540896" y="791917"/>
            <a:ext cx="10440282" cy="271485"/>
          </a:xfrm>
          <a:prstGeom prst="rect">
            <a:avLst/>
          </a:prstGeom>
          <a:noFill/>
          <a:ln/>
        </p:spPr>
        <p:txBody>
          <a:bodyPr wrap="square" lIns="160644" tIns="0" rIns="0" bIns="0" rtlCol="0" anchor="t">
            <a:spAutoFit/>
          </a:bodyPr>
          <a:lstStyle/>
          <a:p>
            <a:r>
              <a:rPr lang="en-US" sz="1764" b="1" dirty="0">
                <a:solidFill>
                  <a:srgbClr val="E6510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复杂室外环境导致的严重耐久性危机</a:t>
            </a:r>
            <a:endParaRPr lang="en-US" sz="1764" dirty="0"/>
          </a:p>
        </p:txBody>
      </p:sp>
      <p:sp>
        <p:nvSpPr>
          <p:cNvPr id="7" name="Shape 4"/>
          <p:cNvSpPr/>
          <p:nvPr/>
        </p:nvSpPr>
        <p:spPr>
          <a:xfrm>
            <a:off x="540896" y="1174531"/>
            <a:ext cx="10440282" cy="954026"/>
          </a:xfrm>
          <a:prstGeom prst="rect">
            <a:avLst/>
          </a:prstGeom>
          <a:solidFill>
            <a:srgbClr val="FFF3E0"/>
          </a:solidFill>
          <a:ln w="9144">
            <a:solidFill>
              <a:srgbClr val="FFE0B2"/>
            </a:solidFill>
            <a:prstDash val="solid"/>
          </a:ln>
        </p:spPr>
        <p:txBody>
          <a:bodyPr/>
          <a:lstStyle/>
          <a:p>
            <a:endParaRPr sz="2142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904" y="1485040"/>
            <a:ext cx="360010" cy="3600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50919" y="1354536"/>
            <a:ext cx="7560204" cy="5001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323" dirty="0">
                <a:solidFill>
                  <a:srgbClr val="424242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传统材料与防腐工艺难以应对复杂的室外环境（尤其是</a:t>
            </a:r>
            <a:r>
              <a:rPr lang="en-US" sz="1260" b="1" dirty="0">
                <a:solidFill>
                  <a:srgbClr val="E6510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沿海及工业区</a:t>
            </a:r>
            <a:r>
              <a:rPr lang="en-US" sz="1323" dirty="0">
                <a:solidFill>
                  <a:srgbClr val="424242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的高盐雾、高腐蚀环境），
往往在投入使用短短几年后即出现严重锈蚀，</a:t>
            </a:r>
            <a:r>
              <a:rPr lang="en-US" sz="1260" b="1" dirty="0">
                <a:solidFill>
                  <a:srgbClr val="E6510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根本无法保证15年的设计使用寿命</a:t>
            </a:r>
            <a:r>
              <a:rPr lang="en-US" sz="1323" dirty="0">
                <a:solidFill>
                  <a:srgbClr val="424242"/>
                </a:solidFill>
                <a:latin typeface="Noto Sans SC Medium" pitchFamily="34" charset="0"/>
                <a:ea typeface="Noto Sans SC Medium" pitchFamily="34" charset="-122"/>
                <a:cs typeface="Noto Sans SC Medium" pitchFamily="34" charset="-120"/>
              </a:rPr>
              <a:t>。</a:t>
            </a:r>
            <a:endParaRPr lang="en-US" sz="1323" dirty="0"/>
          </a:p>
        </p:txBody>
      </p:sp>
      <p:sp>
        <p:nvSpPr>
          <p:cNvPr id="10" name="Shape 6"/>
          <p:cNvSpPr/>
          <p:nvPr/>
        </p:nvSpPr>
        <p:spPr>
          <a:xfrm>
            <a:off x="558898" y="2398564"/>
            <a:ext cx="5004135" cy="54002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904" y="2715824"/>
            <a:ext cx="283507" cy="32400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47415" y="2687697"/>
            <a:ext cx="2209560" cy="2520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638" b="1" dirty="0">
                <a:solidFill>
                  <a:srgbClr val="333333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01 金属屏体锈蚀穿孔</a:t>
            </a:r>
            <a:endParaRPr lang="en-US" sz="1638" dirty="0"/>
          </a:p>
        </p:txBody>
      </p:sp>
      <p:sp>
        <p:nvSpPr>
          <p:cNvPr id="13" name="Text 8"/>
          <p:cNvSpPr/>
          <p:nvPr/>
        </p:nvSpPr>
        <p:spPr>
          <a:xfrm>
            <a:off x="828904" y="3226586"/>
            <a:ext cx="4464121" cy="45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金属吸声面板表面防腐层一旦被破坏（如飞石刮擦、安装磕碰），在雨水和盐雾侵蚀下，面板会迅速发生大面积锈蚀。</a:t>
            </a:r>
            <a:endParaRPr lang="en-US" sz="1197" dirty="0"/>
          </a:p>
        </p:txBody>
      </p:sp>
      <p:sp>
        <p:nvSpPr>
          <p:cNvPr id="14" name="Shape 9"/>
          <p:cNvSpPr/>
          <p:nvPr/>
        </p:nvSpPr>
        <p:spPr>
          <a:xfrm>
            <a:off x="828904" y="3924950"/>
            <a:ext cx="4464121" cy="1058935"/>
          </a:xfrm>
          <a:prstGeom prst="rect">
            <a:avLst/>
          </a:prstGeom>
          <a:solidFill>
            <a:srgbClr val="F5F5F5"/>
          </a:solidFill>
          <a:ln w="9144">
            <a:solidFill>
              <a:srgbClr val="BDBDBD"/>
            </a:solidFill>
            <a:prstDash val="dash"/>
          </a:ln>
        </p:spPr>
        <p:txBody>
          <a:bodyPr/>
          <a:lstStyle/>
          <a:p>
            <a:endParaRPr sz="2142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2956" y="3980778"/>
            <a:ext cx="576016" cy="57601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890934" y="4691799"/>
            <a:ext cx="2340063" cy="1745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134" b="1" kern="0" spc="3" dirty="0">
                <a:solidFill>
                  <a:srgbClr val="9E9E9E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现场实拍：屏体锈蚀穿孔示意</a:t>
            </a:r>
            <a:endParaRPr lang="en-US" sz="1134" dirty="0"/>
          </a:p>
        </p:txBody>
      </p:sp>
      <p:sp>
        <p:nvSpPr>
          <p:cNvPr id="17" name="Shape 11"/>
          <p:cNvSpPr/>
          <p:nvPr/>
        </p:nvSpPr>
        <p:spPr>
          <a:xfrm>
            <a:off x="828904" y="5253892"/>
            <a:ext cx="4464121" cy="758271"/>
          </a:xfrm>
          <a:prstGeom prst="rect">
            <a:avLst/>
          </a:prstGeom>
          <a:solidFill>
            <a:srgbClr val="FFEBEE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8" name="Shape 12"/>
          <p:cNvSpPr/>
          <p:nvPr/>
        </p:nvSpPr>
        <p:spPr>
          <a:xfrm>
            <a:off x="828904" y="5253892"/>
            <a:ext cx="36001" cy="758271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9" name="Text 13"/>
          <p:cNvSpPr/>
          <p:nvPr/>
        </p:nvSpPr>
        <p:spPr>
          <a:xfrm>
            <a:off x="963907" y="5388895"/>
            <a:ext cx="4194114" cy="155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直接后果</a:t>
            </a:r>
            <a:endParaRPr lang="en-US" sz="1008" dirty="0"/>
          </a:p>
        </p:txBody>
      </p:sp>
      <p:sp>
        <p:nvSpPr>
          <p:cNvPr id="20" name="Text 14"/>
          <p:cNvSpPr/>
          <p:nvPr/>
        </p:nvSpPr>
        <p:spPr>
          <a:xfrm>
            <a:off x="963907" y="5640902"/>
            <a:ext cx="4194114" cy="1745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134" b="1" dirty="0">
                <a:solidFill>
                  <a:srgbClr val="B71C1C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吸声材料外漏失效，屏体结构强度丧失</a:t>
            </a:r>
            <a:endParaRPr lang="en-US" sz="1134" dirty="0"/>
          </a:p>
        </p:txBody>
      </p:sp>
      <p:sp>
        <p:nvSpPr>
          <p:cNvPr id="21" name="Shape 15"/>
          <p:cNvSpPr/>
          <p:nvPr/>
        </p:nvSpPr>
        <p:spPr>
          <a:xfrm>
            <a:off x="5959044" y="2398564"/>
            <a:ext cx="5004135" cy="54002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9050" y="2715824"/>
            <a:ext cx="243006" cy="324009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607060" y="2687697"/>
            <a:ext cx="2677573" cy="2520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638" b="1" dirty="0">
                <a:solidFill>
                  <a:srgbClr val="333333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02 钢结构及立柱深层锈蚀</a:t>
            </a:r>
            <a:endParaRPr lang="en-US" sz="1638" dirty="0"/>
          </a:p>
        </p:txBody>
      </p:sp>
      <p:sp>
        <p:nvSpPr>
          <p:cNvPr id="24" name="Text 17"/>
          <p:cNvSpPr/>
          <p:nvPr/>
        </p:nvSpPr>
        <p:spPr>
          <a:xfrm>
            <a:off x="6229049" y="3226586"/>
            <a:ext cx="4464121" cy="45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作为声屏障骨架的主受力构件（H型钢立柱、横梁等），若防腐工艺不达标，焊缝及节点处极易发生深层结构性锈蚀。</a:t>
            </a:r>
            <a:endParaRPr lang="en-US" sz="1197" dirty="0"/>
          </a:p>
        </p:txBody>
      </p:sp>
      <p:sp>
        <p:nvSpPr>
          <p:cNvPr id="25" name="Shape 18"/>
          <p:cNvSpPr/>
          <p:nvPr/>
        </p:nvSpPr>
        <p:spPr>
          <a:xfrm>
            <a:off x="6229049" y="3924950"/>
            <a:ext cx="4464121" cy="1058935"/>
          </a:xfrm>
          <a:prstGeom prst="rect">
            <a:avLst/>
          </a:prstGeom>
          <a:solidFill>
            <a:srgbClr val="F5F5F5"/>
          </a:solidFill>
          <a:ln w="9144">
            <a:solidFill>
              <a:srgbClr val="BDBDBD"/>
            </a:solidFill>
            <a:prstDash val="dash"/>
          </a:ln>
        </p:spPr>
        <p:txBody>
          <a:bodyPr/>
          <a:lstStyle/>
          <a:p>
            <a:endParaRPr sz="2142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3102" y="3980778"/>
            <a:ext cx="576016" cy="57601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201076" y="4691799"/>
            <a:ext cx="2520068" cy="1745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134" b="1" kern="0" spc="3" dirty="0">
                <a:solidFill>
                  <a:srgbClr val="9E9E9E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现场实拍：钢立柱根部锈蚀示意</a:t>
            </a:r>
            <a:endParaRPr lang="en-US" sz="1134" dirty="0"/>
          </a:p>
        </p:txBody>
      </p:sp>
      <p:sp>
        <p:nvSpPr>
          <p:cNvPr id="28" name="Shape 20"/>
          <p:cNvSpPr/>
          <p:nvPr/>
        </p:nvSpPr>
        <p:spPr>
          <a:xfrm>
            <a:off x="6229049" y="5253892"/>
            <a:ext cx="4464121" cy="758271"/>
          </a:xfrm>
          <a:prstGeom prst="rect">
            <a:avLst/>
          </a:prstGeom>
          <a:solidFill>
            <a:srgbClr val="FFEBEE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29" name="Shape 21"/>
          <p:cNvSpPr/>
          <p:nvPr/>
        </p:nvSpPr>
        <p:spPr>
          <a:xfrm>
            <a:off x="6229050" y="5253892"/>
            <a:ext cx="36001" cy="758271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30" name="Text 22"/>
          <p:cNvSpPr/>
          <p:nvPr/>
        </p:nvSpPr>
        <p:spPr>
          <a:xfrm>
            <a:off x="6364053" y="5388895"/>
            <a:ext cx="4194114" cy="155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008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致命隐患</a:t>
            </a:r>
            <a:endParaRPr lang="en-US" sz="1008" dirty="0"/>
          </a:p>
        </p:txBody>
      </p:sp>
      <p:sp>
        <p:nvSpPr>
          <p:cNvPr id="31" name="Text 23"/>
          <p:cNvSpPr/>
          <p:nvPr/>
        </p:nvSpPr>
        <p:spPr>
          <a:xfrm>
            <a:off x="6364053" y="5640902"/>
            <a:ext cx="4194114" cy="1745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134" b="1" dirty="0">
                <a:solidFill>
                  <a:srgbClr val="B71C1C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大幅降低抗风与承载能力，带来倒塌风险</a:t>
            </a:r>
            <a:endParaRPr lang="en-US" sz="1134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329D934A-F4BE-BBE9-F46E-5806CCC1A65D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DC0F51B2-457D-50DE-61E6-10F170A9036E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4" name="图片 33">
              <a:extLst>
                <a:ext uri="{FF2B5EF4-FFF2-40B4-BE49-F238E27FC236}">
                  <a16:creationId xmlns:a16="http://schemas.microsoft.com/office/drawing/2014/main" id="{37F5D3BD-FC34-1A13-01C0-4A7D324D19F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图片 41" descr="preencoded.png">
            <a:extLst>
              <a:ext uri="{FF2B5EF4-FFF2-40B4-BE49-F238E27FC236}">
                <a16:creationId xmlns:a16="http://schemas.microsoft.com/office/drawing/2014/main" id="{3FFD8BCF-F323-D63C-BA88-0EF68E94BB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82" y="-1"/>
            <a:ext cx="11520311" cy="6480175"/>
          </a:xfrm>
          <a:custGeom>
            <a:avLst/>
            <a:gdLst>
              <a:gd name="csX0" fmla="*/ 9601713 w 11520311"/>
              <a:gd name="csY0" fmla="*/ 215878 h 6480175"/>
              <a:gd name="csX1" fmla="*/ 9601713 w 11520311"/>
              <a:gd name="csY1" fmla="*/ 1007933 h 6480175"/>
              <a:gd name="csX2" fmla="*/ 11304540 w 11520311"/>
              <a:gd name="csY2" fmla="*/ 1007933 h 6480175"/>
              <a:gd name="csX3" fmla="*/ 11304540 w 11520311"/>
              <a:gd name="csY3" fmla="*/ 215878 h 6480175"/>
              <a:gd name="csX4" fmla="*/ 0 w 11520311"/>
              <a:gd name="csY4" fmla="*/ 0 h 6480175"/>
              <a:gd name="csX5" fmla="*/ 11520311 w 11520311"/>
              <a:gd name="csY5" fmla="*/ 0 h 6480175"/>
              <a:gd name="csX6" fmla="*/ 11520311 w 11520311"/>
              <a:gd name="csY6" fmla="*/ 6480175 h 6480175"/>
              <a:gd name="csX7" fmla="*/ 0 w 11520311"/>
              <a:gd name="csY7" fmla="*/ 6480175 h 6480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520311" h="6480175">
                <a:moveTo>
                  <a:pt x="9601713" y="215878"/>
                </a:moveTo>
                <a:lnTo>
                  <a:pt x="9601713" y="1007933"/>
                </a:lnTo>
                <a:lnTo>
                  <a:pt x="11304540" y="1007933"/>
                </a:lnTo>
                <a:lnTo>
                  <a:pt x="11304540" y="215878"/>
                </a:lnTo>
                <a:close/>
                <a:moveTo>
                  <a:pt x="0" y="0"/>
                </a:moveTo>
                <a:lnTo>
                  <a:pt x="11520311" y="0"/>
                </a:lnTo>
                <a:lnTo>
                  <a:pt x="11520311" y="6480175"/>
                </a:lnTo>
                <a:lnTo>
                  <a:pt x="0" y="6480175"/>
                </a:lnTo>
                <a:close/>
              </a:path>
            </a:pathLst>
          </a:custGeom>
        </p:spPr>
      </p:pic>
      <p:sp>
        <p:nvSpPr>
          <p:cNvPr id="4" name="Text 1"/>
          <p:cNvSpPr/>
          <p:nvPr/>
        </p:nvSpPr>
        <p:spPr>
          <a:xfrm>
            <a:off x="540896" y="450012"/>
            <a:ext cx="227626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1565C0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05</a:t>
            </a:r>
            <a:endParaRPr lang="en-US" sz="1512" dirty="0"/>
          </a:p>
        </p:txBody>
      </p:sp>
      <p:sp>
        <p:nvSpPr>
          <p:cNvPr id="5" name="Text 2"/>
          <p:cNvSpPr/>
          <p:nvPr/>
        </p:nvSpPr>
        <p:spPr>
          <a:xfrm>
            <a:off x="990910" y="450012"/>
            <a:ext cx="3435843" cy="2326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333333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M2：行业痛点剖析 — 维保成本高昂</a:t>
            </a:r>
            <a:endParaRPr lang="en-US" sz="1512" dirty="0"/>
          </a:p>
        </p:txBody>
      </p:sp>
      <p:sp>
        <p:nvSpPr>
          <p:cNvPr id="6" name="Text 3"/>
          <p:cNvSpPr/>
          <p:nvPr/>
        </p:nvSpPr>
        <p:spPr>
          <a:xfrm>
            <a:off x="360891" y="900024"/>
            <a:ext cx="10800292" cy="271485"/>
          </a:xfrm>
          <a:prstGeom prst="rect">
            <a:avLst/>
          </a:prstGeom>
          <a:noFill/>
          <a:ln/>
        </p:spPr>
        <p:txBody>
          <a:bodyPr wrap="square" lIns="128643" tIns="0" rIns="0" bIns="0" rtlCol="0" anchor="t">
            <a:spAutoFit/>
          </a:bodyPr>
          <a:lstStyle/>
          <a:p>
            <a:r>
              <a:rPr lang="en-US" sz="1764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全生命周期痛点：维保作业困难与高昂的后期成本</a:t>
            </a:r>
            <a:endParaRPr lang="en-US" sz="1764" dirty="0"/>
          </a:p>
        </p:txBody>
      </p:sp>
      <p:sp>
        <p:nvSpPr>
          <p:cNvPr id="7" name="Shape 4"/>
          <p:cNvSpPr/>
          <p:nvPr/>
        </p:nvSpPr>
        <p:spPr>
          <a:xfrm>
            <a:off x="360892" y="1399538"/>
            <a:ext cx="5310144" cy="78256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8" name="Shape 5"/>
          <p:cNvSpPr/>
          <p:nvPr/>
        </p:nvSpPr>
        <p:spPr>
          <a:xfrm>
            <a:off x="360892" y="1399538"/>
            <a:ext cx="36001" cy="782563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896" y="1599794"/>
            <a:ext cx="324009" cy="32400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36907" y="1507540"/>
            <a:ext cx="4626126" cy="213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螺栓众多，排查困难</a:t>
            </a:r>
            <a:endParaRPr lang="en-US" sz="1386" dirty="0"/>
          </a:p>
        </p:txBody>
      </p:sp>
      <p:sp>
        <p:nvSpPr>
          <p:cNvPr id="11" name="Text 7"/>
          <p:cNvSpPr/>
          <p:nvPr/>
        </p:nvSpPr>
        <p:spPr>
          <a:xfrm>
            <a:off x="936907" y="1847300"/>
            <a:ext cx="4154984" cy="1947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12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传统结构节点繁琐，螺栓数量庞大，难以逐一排查，隐患多。</a:t>
            </a:r>
            <a:endParaRPr lang="en-US" sz="1197" dirty="0"/>
          </a:p>
        </p:txBody>
      </p:sp>
      <p:sp>
        <p:nvSpPr>
          <p:cNvPr id="12" name="Shape 8"/>
          <p:cNvSpPr/>
          <p:nvPr/>
        </p:nvSpPr>
        <p:spPr>
          <a:xfrm>
            <a:off x="360892" y="2290106"/>
            <a:ext cx="5310144" cy="78256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3" name="Shape 9"/>
          <p:cNvSpPr/>
          <p:nvPr/>
        </p:nvSpPr>
        <p:spPr>
          <a:xfrm>
            <a:off x="360892" y="2290106"/>
            <a:ext cx="36001" cy="782563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894" y="2490360"/>
            <a:ext cx="364510" cy="32400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36907" y="2398108"/>
            <a:ext cx="4626126" cy="213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缺乏安全设施，风险极高</a:t>
            </a:r>
            <a:endParaRPr lang="en-US" sz="1386" dirty="0"/>
          </a:p>
        </p:txBody>
      </p:sp>
      <p:sp>
        <p:nvSpPr>
          <p:cNvPr id="16" name="Text 11"/>
          <p:cNvSpPr/>
          <p:nvPr/>
        </p:nvSpPr>
        <p:spPr>
          <a:xfrm>
            <a:off x="936907" y="2737867"/>
            <a:ext cx="3231654" cy="1947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12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未预留检修通道和防坠装置，高空作业风险高。</a:t>
            </a:r>
            <a:endParaRPr lang="en-US" sz="1197" dirty="0"/>
          </a:p>
        </p:txBody>
      </p:sp>
      <p:sp>
        <p:nvSpPr>
          <p:cNvPr id="17" name="Shape 12"/>
          <p:cNvSpPr/>
          <p:nvPr/>
        </p:nvSpPr>
        <p:spPr>
          <a:xfrm>
            <a:off x="360892" y="3180672"/>
            <a:ext cx="5310144" cy="782563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sz="2142"/>
          </a:p>
        </p:txBody>
      </p:sp>
      <p:sp>
        <p:nvSpPr>
          <p:cNvPr id="18" name="Shape 13"/>
          <p:cNvSpPr/>
          <p:nvPr/>
        </p:nvSpPr>
        <p:spPr>
          <a:xfrm>
            <a:off x="360892" y="3180672"/>
            <a:ext cx="36001" cy="782563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895" y="3380928"/>
            <a:ext cx="405011" cy="324009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36907" y="3288674"/>
            <a:ext cx="4626126" cy="213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386" b="1" dirty="0">
                <a:solidFill>
                  <a:srgbClr val="1A3A6B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外表脏污，清洁难题</a:t>
            </a:r>
            <a:endParaRPr lang="en-US" sz="1386" dirty="0"/>
          </a:p>
        </p:txBody>
      </p:sp>
      <p:sp>
        <p:nvSpPr>
          <p:cNvPr id="21" name="Text 15"/>
          <p:cNvSpPr/>
          <p:nvPr/>
        </p:nvSpPr>
        <p:spPr>
          <a:xfrm>
            <a:off x="936907" y="3628434"/>
            <a:ext cx="3231654" cy="1947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12000"/>
              </a:lnSpc>
            </a:pPr>
            <a:r>
              <a:rPr lang="en-US" sz="1197" dirty="0">
                <a:solidFill>
                  <a:srgbClr val="55555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顶部积水积灰严重，缺乏清洗通道，影响景观。</a:t>
            </a:r>
            <a:endParaRPr lang="en-US" sz="1197" dirty="0"/>
          </a:p>
        </p:txBody>
      </p:sp>
      <p:sp>
        <p:nvSpPr>
          <p:cNvPr id="22" name="Shape 16"/>
          <p:cNvSpPr/>
          <p:nvPr/>
        </p:nvSpPr>
        <p:spPr>
          <a:xfrm>
            <a:off x="5851041" y="1399537"/>
            <a:ext cx="5310144" cy="1538584"/>
          </a:xfrm>
          <a:prstGeom prst="rect">
            <a:avLst/>
          </a:prstGeom>
          <a:solidFill>
            <a:srgbClr val="1A3A6B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1166" y="2038063"/>
            <a:ext cx="810023" cy="1080029"/>
          </a:xfrm>
          <a:prstGeom prst="rect">
            <a:avLst/>
          </a:prstGeom>
        </p:spPr>
      </p:pic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5044" y="1584043"/>
            <a:ext cx="157505" cy="180005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242551" y="1543541"/>
            <a:ext cx="1905801" cy="193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260" b="1" dirty="0">
                <a:solidFill>
                  <a:srgbClr val="E3F2FD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上海地铁5号线维保改造</a:t>
            </a:r>
            <a:endParaRPr lang="en-US" sz="1260" dirty="0"/>
          </a:p>
        </p:txBody>
      </p:sp>
      <p:sp>
        <p:nvSpPr>
          <p:cNvPr id="26" name="Text 18"/>
          <p:cNvSpPr/>
          <p:nvPr/>
        </p:nvSpPr>
        <p:spPr>
          <a:xfrm>
            <a:off x="5995044" y="1894551"/>
            <a:ext cx="1489190" cy="5227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80000"/>
              </a:lnSpc>
            </a:pPr>
            <a:r>
              <a:rPr lang="en-US" sz="4158" b="1" dirty="0">
                <a:solidFill>
                  <a:srgbClr val="CA8A04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3,600</a:t>
            </a:r>
            <a:endParaRPr lang="en-US" sz="4158" dirty="0"/>
          </a:p>
        </p:txBody>
      </p:sp>
      <p:sp>
        <p:nvSpPr>
          <p:cNvPr id="27" name="Text 19"/>
          <p:cNvSpPr/>
          <p:nvPr/>
        </p:nvSpPr>
        <p:spPr>
          <a:xfrm>
            <a:off x="7691589" y="2182558"/>
            <a:ext cx="538609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元/m²</a:t>
            </a:r>
            <a:endParaRPr lang="en-US" sz="1512" dirty="0"/>
          </a:p>
        </p:txBody>
      </p:sp>
      <p:sp>
        <p:nvSpPr>
          <p:cNvPr id="28" name="Text 20"/>
          <p:cNvSpPr/>
          <p:nvPr/>
        </p:nvSpPr>
        <p:spPr>
          <a:xfrm>
            <a:off x="5995044" y="2567320"/>
            <a:ext cx="2308324" cy="1947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12000"/>
              </a:lnSpc>
            </a:pPr>
            <a:r>
              <a:rPr lang="en-US" sz="1197" dirty="0">
                <a:solidFill>
                  <a:srgbClr val="E3F2F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造价高且工期长，严重影响运营。</a:t>
            </a:r>
            <a:endParaRPr lang="en-US" sz="1197" dirty="0"/>
          </a:p>
        </p:txBody>
      </p:sp>
      <p:sp>
        <p:nvSpPr>
          <p:cNvPr id="29" name="Shape 21"/>
          <p:cNvSpPr/>
          <p:nvPr/>
        </p:nvSpPr>
        <p:spPr>
          <a:xfrm>
            <a:off x="5851041" y="3046125"/>
            <a:ext cx="5310144" cy="1538584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sz="2142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1166" y="3684650"/>
            <a:ext cx="810023" cy="1080029"/>
          </a:xfrm>
          <a:prstGeom prst="rect">
            <a:avLst/>
          </a:prstGeom>
        </p:spPr>
      </p:pic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95044" y="3230630"/>
            <a:ext cx="157505" cy="180005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6242551" y="3190129"/>
            <a:ext cx="1795548" cy="193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r>
              <a:rPr lang="en-US" sz="1260" b="1" dirty="0">
                <a:solidFill>
                  <a:srgbClr val="E3F2FD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深圳地铁维保 (直立式)</a:t>
            </a:r>
            <a:endParaRPr lang="en-US" sz="1260" dirty="0"/>
          </a:p>
        </p:txBody>
      </p:sp>
      <p:sp>
        <p:nvSpPr>
          <p:cNvPr id="33" name="Text 23"/>
          <p:cNvSpPr/>
          <p:nvPr/>
        </p:nvSpPr>
        <p:spPr>
          <a:xfrm>
            <a:off x="5995044" y="3541139"/>
            <a:ext cx="1489190" cy="5227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80000"/>
              </a:lnSpc>
            </a:pPr>
            <a:r>
              <a:rPr lang="en-US" sz="4158" b="1" dirty="0">
                <a:solidFill>
                  <a:srgbClr val="CA8A04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1,000</a:t>
            </a:r>
            <a:endParaRPr lang="en-US" sz="4158" dirty="0"/>
          </a:p>
        </p:txBody>
      </p:sp>
      <p:sp>
        <p:nvSpPr>
          <p:cNvPr id="34" name="Text 24"/>
          <p:cNvSpPr/>
          <p:nvPr/>
        </p:nvSpPr>
        <p:spPr>
          <a:xfrm>
            <a:off x="7691589" y="3829146"/>
            <a:ext cx="538609" cy="2326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r>
              <a:rPr lang="en-US" sz="1512" b="1" dirty="0">
                <a:solidFill>
                  <a:srgbClr val="CA8A04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元/m²</a:t>
            </a:r>
            <a:endParaRPr lang="en-US" sz="1512" dirty="0"/>
          </a:p>
        </p:txBody>
      </p:sp>
      <p:sp>
        <p:nvSpPr>
          <p:cNvPr id="35" name="Text 25"/>
          <p:cNvSpPr/>
          <p:nvPr/>
        </p:nvSpPr>
        <p:spPr>
          <a:xfrm>
            <a:off x="5995045" y="4213906"/>
            <a:ext cx="1692771" cy="19473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12000"/>
              </a:lnSpc>
            </a:pPr>
            <a:r>
              <a:rPr lang="en-US" sz="1197" dirty="0">
                <a:solidFill>
                  <a:srgbClr val="E3F2F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更换立柱及安装造价高。</a:t>
            </a:r>
            <a:endParaRPr lang="en-US" sz="1197" dirty="0"/>
          </a:p>
        </p:txBody>
      </p:sp>
      <p:sp>
        <p:nvSpPr>
          <p:cNvPr id="36" name="Shape 26"/>
          <p:cNvSpPr/>
          <p:nvPr/>
        </p:nvSpPr>
        <p:spPr>
          <a:xfrm>
            <a:off x="5851041" y="4764715"/>
            <a:ext cx="5310144" cy="655190"/>
          </a:xfrm>
          <a:prstGeom prst="rect">
            <a:avLst/>
          </a:prstGeom>
          <a:solidFill>
            <a:srgbClr val="FFF3E0"/>
          </a:solidFill>
          <a:ln w="18288">
            <a:solidFill>
              <a:srgbClr val="CA8A04"/>
            </a:solidFill>
            <a:prstDash val="dash"/>
          </a:ln>
        </p:spPr>
        <p:txBody>
          <a:bodyPr/>
          <a:lstStyle/>
          <a:p>
            <a:endParaRPr sz="2142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82669" y="5025722"/>
            <a:ext cx="198006" cy="198006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6406323" y="4969470"/>
            <a:ext cx="3202800" cy="22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lang="en-US" sz="1386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核心洞察：既有线施工费用通常是新建的</a:t>
            </a:r>
            <a:endParaRPr lang="en-US" sz="1386" dirty="0"/>
          </a:p>
        </p:txBody>
      </p:sp>
      <p:sp>
        <p:nvSpPr>
          <p:cNvPr id="39" name="Text 28"/>
          <p:cNvSpPr/>
          <p:nvPr/>
        </p:nvSpPr>
        <p:spPr>
          <a:xfrm>
            <a:off x="9918785" y="4865967"/>
            <a:ext cx="828753" cy="32791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lang="en-US" sz="2016" b="1" dirty="0">
                <a:solidFill>
                  <a:srgbClr val="B71C1C"/>
                </a:solidFill>
                <a:latin typeface="Noto Sans SC Black" pitchFamily="34" charset="0"/>
                <a:ea typeface="Noto Sans SC Black" pitchFamily="34" charset="-122"/>
                <a:cs typeface="Noto Sans SC Black" pitchFamily="34" charset="-120"/>
              </a:rPr>
              <a:t>5-10倍</a:t>
            </a:r>
            <a:endParaRPr lang="en-US" sz="2016" dirty="0"/>
          </a:p>
        </p:txBody>
      </p:sp>
      <p:sp>
        <p:nvSpPr>
          <p:cNvPr id="40" name="Text 29"/>
          <p:cNvSpPr/>
          <p:nvPr/>
        </p:nvSpPr>
        <p:spPr>
          <a:xfrm>
            <a:off x="10841586" y="4969470"/>
            <a:ext cx="177933" cy="2253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lang="en-US" sz="1386" b="1" dirty="0">
                <a:solidFill>
                  <a:srgbClr val="D32F2F"/>
                </a:solidFill>
                <a:latin typeface="Noto Sans SC Bold" pitchFamily="34" charset="0"/>
                <a:ea typeface="Noto Sans SC Bold" pitchFamily="34" charset="-122"/>
                <a:cs typeface="Noto Sans SC Bold" pitchFamily="34" charset="-120"/>
              </a:rPr>
              <a:t>！</a:t>
            </a:r>
            <a:endParaRPr lang="en-US" sz="1386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20A1DB10-B665-ECA4-3990-4EAE782AB698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  <a:solidFill>
            <a:schemeClr val="bg1"/>
          </a:solidFill>
        </p:grpSpPr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1794494E-D055-0C76-1AA9-E61769398AE6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92CDF1BC-C109-3DB8-9050-8BFC91E56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  <a:grpFill/>
          </p:spPr>
        </p:pic>
      </p:grpSp>
    </p:spTree>
  </p:cSld>
  <p:clrMapOvr>
    <a:masterClrMapping/>
  </p:clrMapOvr>
  <p:transition spd="med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2d3d0867-56ac-4b91-885a-98830f3a9883"/>
  <p:tag name="COMMONDATA" val="eyJoZGlkIjoiYzdmNGQzMDgyYjljZWJkYmE4MzFmN2Y2ZTVjN2YxYTkifQ=="/>
  <p:tag name="RESOURCE_RECORD_KEY" val="{&quot;29&quot;:[50053212,50000264,50000269,50000088,50053352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元素">
  <a:themeElements>
    <a:clrScheme name="Elemental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Elemental">
      <a:maj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lemental">
      <a: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48000">
              <a:schemeClr val="phClr">
                <a:tint val="54000"/>
                <a:satMod val="140000"/>
              </a:schemeClr>
            </a:gs>
            <a:gs pos="100000">
              <a:schemeClr val="phClr">
                <a:tint val="24000"/>
                <a:satMod val="260000"/>
              </a:schemeClr>
            </a:gs>
          </a:gsLst>
          <a:lin ang="1620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48000"/>
                <a:satMod val="180000"/>
                <a:lumMod val="94000"/>
              </a:schemeClr>
            </a:gs>
            <a:gs pos="100000">
              <a:schemeClr val="phClr">
                <a:shade val="48000"/>
                <a:satMod val="180000"/>
                <a:lumMod val="94000"/>
              </a:schemeClr>
            </a:gs>
          </a:gsLst>
          <a:lin ang="414000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12700" dir="5400000" sx="102000" sy="102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19800000"/>
            </a:lightRig>
          </a:scene3d>
          <a:sp3d prstMaterial="metal">
            <a:bevelT w="38100" h="38100"/>
          </a:sp3d>
        </a:effectStyle>
        <a:effectStyle>
          <a:effectLst>
            <a:outerShdw blurRad="114300" dist="114300" dir="5400000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plastic"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40000"/>
                <a:satMod val="18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4000"/>
                <a:satMod val="280000"/>
              </a:schemeClr>
              <a:schemeClr val="phClr">
                <a:tint val="60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1A89E"/>
      </a:accent1>
      <a:accent2>
        <a:srgbClr val="0C2834"/>
      </a:accent2>
      <a:accent3>
        <a:srgbClr val="015E58"/>
      </a:accent3>
      <a:accent4>
        <a:srgbClr val="07161D"/>
      </a:accent4>
      <a:accent5>
        <a:srgbClr val="004844"/>
      </a:accent5>
      <a:accent6>
        <a:srgbClr val="051116"/>
      </a:accent6>
      <a:hlink>
        <a:srgbClr val="0000FF"/>
      </a:hlink>
      <a:folHlink>
        <a:srgbClr val="FF00FF"/>
      </a:folHlink>
    </a:clrScheme>
    <a:fontScheme name="包图主题2">
      <a:majorFont>
        <a:latin typeface="Helvetica"/>
        <a:ea typeface="Helvetica"/>
        <a:cs typeface="Helvetica"/>
      </a:majorFont>
      <a:minorFont>
        <a:latin typeface="等线"/>
        <a:ea typeface="等线"/>
        <a:cs typeface="等线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344</Words>
  <Application>Microsoft Office PowerPoint</Application>
  <PresentationFormat>自定义</PresentationFormat>
  <Paragraphs>106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7" baseType="lpstr">
      <vt:lpstr>Hei Regular</vt:lpstr>
      <vt:lpstr>Heiti SC Medium</vt:lpstr>
      <vt:lpstr>Noto Sans SC</vt:lpstr>
      <vt:lpstr>Noto Sans SC Black</vt:lpstr>
      <vt:lpstr>Noto Sans SC Bold</vt:lpstr>
      <vt:lpstr>Noto Sans SC Medium</vt:lpstr>
      <vt:lpstr>黑体</vt:lpstr>
      <vt:lpstr>微软雅黑 Light</vt:lpstr>
      <vt:lpstr>Arial</vt:lpstr>
      <vt:lpstr>Calibri</vt:lpstr>
      <vt:lpstr>Palatino Linotype</vt:lpstr>
      <vt:lpstr>元素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zm</cp:lastModifiedBy>
  <cp:revision>208</cp:revision>
  <cp:lastPrinted>2024-05-27T04:20:00Z</cp:lastPrinted>
  <dcterms:created xsi:type="dcterms:W3CDTF">2024-05-27T04:50:00Z</dcterms:created>
  <dcterms:modified xsi:type="dcterms:W3CDTF">2026-05-26T07:50:48Z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DE9C49FFB710414A91E48644DEB2DA1B_13</vt:lpwstr>
  </property>
</Properties>
</file>