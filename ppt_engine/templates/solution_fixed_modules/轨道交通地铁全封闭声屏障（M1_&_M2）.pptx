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884" r:id="rId2"/>
    <p:sldId id="256" r:id="rId3"/>
    <p:sldId id="257" r:id="rId4"/>
    <p:sldId id="258" r:id="rId5"/>
    <p:sldId id="259" r:id="rId6"/>
    <p:sldId id="260" r:id="rId7"/>
    <p:sldId id="261" r:id="rId8"/>
  </p:sldIdLst>
  <p:sldSz cx="11522075" cy="6480175"/>
  <p:notesSz cx="6797675" cy="9926638"/>
  <p:custDataLst>
    <p:tags r:id="rId11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1BAA403-AC97-4EF6-A78F-2AE45B316E2E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894E5B-FB02-4862-83DE-3046D151FCFF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2H>
    <a:band1V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7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2026/5/26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‹#›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dirty="0"/>
              <a:t>内页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792163" y="6005513"/>
            <a:ext cx="2592388" cy="346075"/>
          </a:xfrm>
          <a:prstGeom prst="rect">
            <a:avLst/>
          </a:prstGeom>
        </p:spPr>
        <p:txBody>
          <a:bodyPr lIns="91440" tIns="45720" rIns="91440" bIns="45720"/>
          <a:lstStyle>
            <a:lvl1pPr eaLnBrk="1" fontAlgn="auto" hangingPunct="1">
              <a:defRPr kumimoji="1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17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350" y="6005513"/>
            <a:ext cx="3889375" cy="346075"/>
          </a:xfrm>
          <a:prstGeom prst="rect">
            <a:avLst/>
          </a:prstGeom>
        </p:spPr>
        <p:txBody>
          <a:bodyPr lIns="91440" tIns="45720" rIns="91440" bIns="45720"/>
          <a:lstStyle>
            <a:lvl1pPr eaLnBrk="1" fontAlgn="auto" hangingPunct="1">
              <a:defRPr kumimoji="1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17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8" name="幻灯片编号"/>
          <p:cNvSpPr txBox="1">
            <a:spLocks noGrp="1"/>
          </p:cNvSpPr>
          <p:nvPr>
            <p:ph type="sldNum" sz="quarter" idx="4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>
              <a:defRPr sz="1100" b="0" i="0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CCCABE6-6732-4ACA-8D43-943F4C4C37C1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‹#›</a:t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</a:p>
          <a:p>
            <a:pPr lvl="1"/>
            <a:r>
              <a:rPr lang="zh-CN" altLang="zh-CN" dirty="0"/>
              <a:t>正文级别 2</a:t>
            </a:r>
          </a:p>
          <a:p>
            <a:pPr lvl="2"/>
            <a:r>
              <a:rPr lang="zh-CN" altLang="zh-CN" dirty="0"/>
              <a:t>正文级别 3</a:t>
            </a:r>
          </a:p>
          <a:p>
            <a:pPr lvl="3"/>
            <a:r>
              <a:rPr lang="zh-CN" altLang="zh-CN" dirty="0"/>
              <a:t>正文级别 4</a:t>
            </a:r>
          </a:p>
          <a:p>
            <a:pPr lvl="4"/>
            <a:r>
              <a:rPr lang="zh-CN" altLang="zh-CN" dirty="0"/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6.jpe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3"/>
          <p:cNvSpPr txBox="1"/>
          <p:nvPr/>
        </p:nvSpPr>
        <p:spPr>
          <a:xfrm>
            <a:off x="385265" y="5552947"/>
            <a:ext cx="5687761" cy="326390"/>
          </a:xfrm>
          <a:prstGeom prst="rect">
            <a:avLst/>
          </a:prstGeom>
          <a:ln w="12700">
            <a:miter lim="400000"/>
          </a:ln>
        </p:spPr>
        <p:txBody>
          <a:bodyPr wrap="square" lIns="45711" rIns="45711">
            <a:spAutoFit/>
          </a:bodyPr>
          <a:lstStyle/>
          <a:p>
            <a:pPr defTabSz="967740">
              <a:lnSpc>
                <a:spcPct val="170000"/>
              </a:lnSpc>
              <a:defRPr sz="1600"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Heiti SC Medium" panose="02000000000000000000" charset="-122"/>
              </a:defRPr>
            </a:pPr>
            <a:endParaRPr lang="en-US" altLang="zh-CN" sz="9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BA2D4E-F069-7801-17F8-2023325A2E91}"/>
              </a:ext>
            </a:extLst>
          </p:cNvPr>
          <p:cNvSpPr/>
          <p:nvPr/>
        </p:nvSpPr>
        <p:spPr>
          <a:xfrm>
            <a:off x="9602595" y="215877"/>
            <a:ext cx="1702827" cy="792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图片 39" descr="preencoded.png">
            <a:extLst>
              <a:ext uri="{FF2B5EF4-FFF2-40B4-BE49-F238E27FC236}">
                <a16:creationId xmlns:a16="http://schemas.microsoft.com/office/drawing/2014/main" id="{6D12ED7D-B5EE-25C1-78A9-65B17306EA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01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09" y="450012"/>
            <a:ext cx="2904828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M1：行业技术标准与规范现状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540896" y="900024"/>
            <a:ext cx="10440282" cy="271485"/>
          </a:xfrm>
          <a:prstGeom prst="rect">
            <a:avLst/>
          </a:prstGeom>
          <a:noFill/>
          <a:ln/>
        </p:spPr>
        <p:txBody>
          <a:bodyPr wrap="square" lIns="160644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轨交声屏障面临的“标准缺失”挑战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540896" y="1534541"/>
            <a:ext cx="4680126" cy="147604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Shape 5"/>
          <p:cNvSpPr/>
          <p:nvPr/>
        </p:nvSpPr>
        <p:spPr>
          <a:xfrm>
            <a:off x="540897" y="1534541"/>
            <a:ext cx="36001" cy="14760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9" name="Text 6"/>
          <p:cNvSpPr/>
          <p:nvPr/>
        </p:nvSpPr>
        <p:spPr>
          <a:xfrm>
            <a:off x="765903" y="1759547"/>
            <a:ext cx="4230115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kern="0" spc="1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国家标准 (公路适用)</a:t>
            </a:r>
            <a:endParaRPr lang="en-US" sz="1008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03" y="2100432"/>
            <a:ext cx="173254" cy="1980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29159" y="2056556"/>
            <a:ext cx="2178059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《声屏障结构技术标准》</a:t>
            </a:r>
            <a:endParaRPr lang="en-US" sz="1386" dirty="0"/>
          </a:p>
        </p:txBody>
      </p:sp>
      <p:sp>
        <p:nvSpPr>
          <p:cNvPr id="12" name="Shape 8"/>
          <p:cNvSpPr/>
          <p:nvPr/>
        </p:nvSpPr>
        <p:spPr>
          <a:xfrm>
            <a:off x="765903" y="2477317"/>
            <a:ext cx="1554792" cy="308258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Text 9"/>
          <p:cNvSpPr/>
          <p:nvPr/>
        </p:nvSpPr>
        <p:spPr>
          <a:xfrm>
            <a:off x="765903" y="2477316"/>
            <a:ext cx="1478081" cy="261134"/>
          </a:xfrm>
          <a:prstGeom prst="rect">
            <a:avLst/>
          </a:prstGeom>
          <a:noFill/>
          <a:ln/>
        </p:spPr>
        <p:txBody>
          <a:bodyPr wrap="none" lIns="128643" tIns="42881" rIns="128643" bIns="42881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51335-2018</a:t>
            </a:r>
            <a:endParaRPr lang="en-US" sz="1134" dirty="0"/>
          </a:p>
        </p:txBody>
      </p:sp>
      <p:sp>
        <p:nvSpPr>
          <p:cNvPr id="14" name="Shape 10"/>
          <p:cNvSpPr/>
          <p:nvPr/>
        </p:nvSpPr>
        <p:spPr>
          <a:xfrm>
            <a:off x="540896" y="3190586"/>
            <a:ext cx="4680126" cy="147604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5" name="Shape 11"/>
          <p:cNvSpPr/>
          <p:nvPr/>
        </p:nvSpPr>
        <p:spPr>
          <a:xfrm>
            <a:off x="540897" y="3190586"/>
            <a:ext cx="36001" cy="14760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6" name="Text 12"/>
          <p:cNvSpPr/>
          <p:nvPr/>
        </p:nvSpPr>
        <p:spPr>
          <a:xfrm>
            <a:off x="765903" y="3415592"/>
            <a:ext cx="4230115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kern="0" spc="1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 (铁路适用)</a:t>
            </a:r>
            <a:endParaRPr lang="en-US" sz="1008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3" y="3756477"/>
            <a:ext cx="173254" cy="19800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29159" y="3712601"/>
            <a:ext cx="2574070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《铁路声屏障工程设计规范》</a:t>
            </a:r>
            <a:endParaRPr lang="en-US" sz="1386" dirty="0"/>
          </a:p>
        </p:txBody>
      </p:sp>
      <p:sp>
        <p:nvSpPr>
          <p:cNvPr id="19" name="Shape 14"/>
          <p:cNvSpPr/>
          <p:nvPr/>
        </p:nvSpPr>
        <p:spPr>
          <a:xfrm>
            <a:off x="765903" y="4133361"/>
            <a:ext cx="1374787" cy="308258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0" name="Text 15"/>
          <p:cNvSpPr/>
          <p:nvPr/>
        </p:nvSpPr>
        <p:spPr>
          <a:xfrm>
            <a:off x="765902" y="4133361"/>
            <a:ext cx="1317780" cy="261134"/>
          </a:xfrm>
          <a:prstGeom prst="rect">
            <a:avLst/>
          </a:prstGeom>
          <a:noFill/>
          <a:ln/>
        </p:spPr>
        <p:txBody>
          <a:bodyPr wrap="none" lIns="128643" tIns="42881" rIns="128643" bIns="42881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TB 10505-2019</a:t>
            </a:r>
            <a:endParaRPr lang="en-US" sz="1134" dirty="0"/>
          </a:p>
        </p:txBody>
      </p:sp>
      <p:sp>
        <p:nvSpPr>
          <p:cNvPr id="21" name="Shape 16"/>
          <p:cNvSpPr/>
          <p:nvPr/>
        </p:nvSpPr>
        <p:spPr>
          <a:xfrm>
            <a:off x="540896" y="4846630"/>
            <a:ext cx="4680126" cy="147604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2" name="Shape 17"/>
          <p:cNvSpPr/>
          <p:nvPr/>
        </p:nvSpPr>
        <p:spPr>
          <a:xfrm>
            <a:off x="540897" y="4846630"/>
            <a:ext cx="36001" cy="14760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3" name="Text 18"/>
          <p:cNvSpPr/>
          <p:nvPr/>
        </p:nvSpPr>
        <p:spPr>
          <a:xfrm>
            <a:off x="765903" y="5071637"/>
            <a:ext cx="4230115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kern="0" spc="1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 (铁路构件)</a:t>
            </a:r>
            <a:endParaRPr lang="en-US" sz="1008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903" y="5412522"/>
            <a:ext cx="222756" cy="19800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78661" y="5368645"/>
            <a:ext cx="2178059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《铁路声屏障声学构件》</a:t>
            </a:r>
            <a:endParaRPr lang="en-US" sz="1386" dirty="0"/>
          </a:p>
        </p:txBody>
      </p:sp>
      <p:sp>
        <p:nvSpPr>
          <p:cNvPr id="26" name="Shape 20"/>
          <p:cNvSpPr/>
          <p:nvPr/>
        </p:nvSpPr>
        <p:spPr>
          <a:xfrm>
            <a:off x="765903" y="5789406"/>
            <a:ext cx="1444539" cy="308258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7" name="Text 21"/>
          <p:cNvSpPr/>
          <p:nvPr/>
        </p:nvSpPr>
        <p:spPr>
          <a:xfrm>
            <a:off x="765902" y="5789405"/>
            <a:ext cx="1378695" cy="261134"/>
          </a:xfrm>
          <a:prstGeom prst="rect">
            <a:avLst/>
          </a:prstGeom>
          <a:noFill/>
          <a:ln/>
        </p:spPr>
        <p:txBody>
          <a:bodyPr wrap="none" lIns="128643" tIns="42881" rIns="128643" bIns="42881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TB/T 3122-2019</a:t>
            </a:r>
            <a:endParaRPr lang="en-US" sz="1134" dirty="0"/>
          </a:p>
        </p:txBody>
      </p:sp>
      <p:sp>
        <p:nvSpPr>
          <p:cNvPr id="28" name="Shape 22"/>
          <p:cNvSpPr/>
          <p:nvPr/>
        </p:nvSpPr>
        <p:spPr>
          <a:xfrm>
            <a:off x="5581032" y="1534540"/>
            <a:ext cx="5400146" cy="481963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1148" y="4734128"/>
            <a:ext cx="1350037" cy="1800049"/>
          </a:xfrm>
          <a:prstGeom prst="rect">
            <a:avLst/>
          </a:prstGeom>
        </p:spPr>
      </p:pic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1042" y="2432315"/>
            <a:ext cx="216006" cy="28800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292051" y="2368188"/>
            <a:ext cx="1728047" cy="310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2016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核心行业洞察</a:t>
            </a:r>
            <a:endParaRPr lang="en-US" sz="2016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1042" y="3151209"/>
            <a:ext cx="216006" cy="21600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292051" y="3054457"/>
            <a:ext cx="4329117" cy="500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国内轨道交通声屏障标准尚不完善，目前</a:t>
            </a:r>
            <a:r>
              <a:rPr lang="en-US" sz="126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无针对性、系统性的国家或行业专门标准</a:t>
            </a: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23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1042" y="3952231"/>
            <a:ext cx="216006" cy="216006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6292051" y="3855479"/>
            <a:ext cx="4329117" cy="500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轨交环境具有极强的特殊性（如</a:t>
            </a:r>
            <a:r>
              <a:rPr lang="en-US" sz="126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列车脉动力大、运行频次高、环境腐蚀性强</a:t>
            </a: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）。</a:t>
            </a:r>
            <a:endParaRPr lang="en-US" sz="1323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1042" y="4753253"/>
            <a:ext cx="216006" cy="216006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6292051" y="4656501"/>
            <a:ext cx="4329117" cy="76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直接套用现有的公路或铁路标准，往往</a:t>
            </a:r>
            <a:r>
              <a:rPr lang="en-US" sz="126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难以满足长期的结构安全与维保需求</a:t>
            </a: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，亟需专业厂商提供定制化、高标准的技术方案。</a:t>
            </a:r>
            <a:endParaRPr lang="en-US" sz="1323" dirty="0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图片 57" descr="preencoded.png">
            <a:extLst>
              <a:ext uri="{FF2B5EF4-FFF2-40B4-BE49-F238E27FC236}">
                <a16:creationId xmlns:a16="http://schemas.microsoft.com/office/drawing/2014/main" id="{95BE3048-32AD-9E19-4062-5BE6333340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02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09" y="450012"/>
            <a:ext cx="3336840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M1：主流产品型式与技术路线分类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540896" y="900024"/>
            <a:ext cx="10440282" cy="271485"/>
          </a:xfrm>
          <a:prstGeom prst="rect">
            <a:avLst/>
          </a:prstGeom>
          <a:noFill/>
          <a:ln/>
        </p:spPr>
        <p:txBody>
          <a:bodyPr wrap="square" lIns="160644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全国重点城市轨交全封闭声屏障材料技术路线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540897" y="1444539"/>
            <a:ext cx="2488567" cy="4855631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8" name="Shape 5"/>
          <p:cNvSpPr/>
          <p:nvPr/>
        </p:nvSpPr>
        <p:spPr>
          <a:xfrm>
            <a:off x="540897" y="1444539"/>
            <a:ext cx="2488567" cy="78752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901" y="1739297"/>
            <a:ext cx="198006" cy="19800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54908" y="1552542"/>
            <a:ext cx="1930552" cy="42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亚克力板</a:t>
            </a:r>
            <a:endParaRPr lang="en-US" sz="1386" dirty="0"/>
          </a:p>
        </p:txBody>
      </p:sp>
      <p:sp>
        <p:nvSpPr>
          <p:cNvPr id="11" name="Text 7"/>
          <p:cNvSpPr/>
          <p:nvPr/>
        </p:nvSpPr>
        <p:spPr>
          <a:xfrm>
            <a:off x="666901" y="235806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1008" dirty="0"/>
          </a:p>
        </p:txBody>
      </p:sp>
      <p:sp>
        <p:nvSpPr>
          <p:cNvPr id="12" name="Shape 8"/>
          <p:cNvSpPr/>
          <p:nvPr/>
        </p:nvSpPr>
        <p:spPr>
          <a:xfrm>
            <a:off x="1674927" y="2358064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Text 9"/>
          <p:cNvSpPr/>
          <p:nvPr/>
        </p:nvSpPr>
        <p:spPr>
          <a:xfrm>
            <a:off x="1674927" y="2358064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广州</a:t>
            </a:r>
            <a:endParaRPr lang="en-US" sz="1071" dirty="0"/>
          </a:p>
        </p:txBody>
      </p:sp>
      <p:sp>
        <p:nvSpPr>
          <p:cNvPr id="14" name="Shape 10"/>
          <p:cNvSpPr/>
          <p:nvPr/>
        </p:nvSpPr>
        <p:spPr>
          <a:xfrm>
            <a:off x="2178941" y="2358064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5" name="Text 11"/>
          <p:cNvSpPr/>
          <p:nvPr/>
        </p:nvSpPr>
        <p:spPr>
          <a:xfrm>
            <a:off x="2178941" y="2358064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深圳</a:t>
            </a:r>
            <a:endParaRPr lang="en-US" sz="1071" dirty="0"/>
          </a:p>
        </p:txBody>
      </p:sp>
      <p:sp>
        <p:nvSpPr>
          <p:cNvPr id="16" name="Shape 12"/>
          <p:cNvSpPr/>
          <p:nvPr/>
        </p:nvSpPr>
        <p:spPr>
          <a:xfrm>
            <a:off x="1674927" y="2696451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7" name="Text 13"/>
          <p:cNvSpPr/>
          <p:nvPr/>
        </p:nvSpPr>
        <p:spPr>
          <a:xfrm>
            <a:off x="1674927" y="2696451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温州</a:t>
            </a:r>
            <a:endParaRPr lang="en-US" sz="1071" dirty="0"/>
          </a:p>
        </p:txBody>
      </p:sp>
      <p:sp>
        <p:nvSpPr>
          <p:cNvPr id="18" name="Shape 14"/>
          <p:cNvSpPr/>
          <p:nvPr/>
        </p:nvSpPr>
        <p:spPr>
          <a:xfrm>
            <a:off x="2178941" y="2696451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9" name="Text 15"/>
          <p:cNvSpPr/>
          <p:nvPr/>
        </p:nvSpPr>
        <p:spPr>
          <a:xfrm>
            <a:off x="2178941" y="2696451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西安</a:t>
            </a:r>
            <a:endParaRPr lang="en-US" sz="1071" dirty="0"/>
          </a:p>
        </p:txBody>
      </p:sp>
      <p:sp>
        <p:nvSpPr>
          <p:cNvPr id="20" name="Text 16"/>
          <p:cNvSpPr/>
          <p:nvPr/>
        </p:nvSpPr>
        <p:spPr>
          <a:xfrm>
            <a:off x="666901" y="3124843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1008" dirty="0"/>
          </a:p>
        </p:txBody>
      </p:sp>
      <p:sp>
        <p:nvSpPr>
          <p:cNvPr id="21" name="Text 17"/>
          <p:cNvSpPr/>
          <p:nvPr/>
        </p:nvSpPr>
        <p:spPr>
          <a:xfrm>
            <a:off x="1674927" y="3124842"/>
            <a:ext cx="1228533" cy="9240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侧部透明多用亚克力，顶部配PC。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抗冲击，适合沿海及台风区。</a:t>
            </a:r>
            <a:endParaRPr lang="en-US" sz="1197" dirty="0"/>
          </a:p>
        </p:txBody>
      </p:sp>
      <p:sp>
        <p:nvSpPr>
          <p:cNvPr id="22" name="Shape 18"/>
          <p:cNvSpPr/>
          <p:nvPr/>
        </p:nvSpPr>
        <p:spPr>
          <a:xfrm>
            <a:off x="3191468" y="1444539"/>
            <a:ext cx="2488567" cy="4855631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23" name="Shape 19"/>
          <p:cNvSpPr/>
          <p:nvPr/>
        </p:nvSpPr>
        <p:spPr>
          <a:xfrm>
            <a:off x="3191468" y="1444539"/>
            <a:ext cx="2488567" cy="78752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5472" y="1739297"/>
            <a:ext cx="198006" cy="19800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605479" y="1552542"/>
            <a:ext cx="1930552" cy="42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夹胶玻璃 + PC板</a:t>
            </a:r>
            <a:endParaRPr lang="en-US" sz="1386" dirty="0"/>
          </a:p>
        </p:txBody>
      </p:sp>
      <p:sp>
        <p:nvSpPr>
          <p:cNvPr id="26" name="Text 21"/>
          <p:cNvSpPr/>
          <p:nvPr/>
        </p:nvSpPr>
        <p:spPr>
          <a:xfrm>
            <a:off x="3317472" y="235806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1008" dirty="0"/>
          </a:p>
        </p:txBody>
      </p:sp>
      <p:sp>
        <p:nvSpPr>
          <p:cNvPr id="27" name="Shape 22"/>
          <p:cNvSpPr/>
          <p:nvPr/>
        </p:nvSpPr>
        <p:spPr>
          <a:xfrm>
            <a:off x="4325498" y="2358064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8" name="Text 23"/>
          <p:cNvSpPr/>
          <p:nvPr/>
        </p:nvSpPr>
        <p:spPr>
          <a:xfrm>
            <a:off x="4325499" y="2358064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宁波</a:t>
            </a:r>
            <a:endParaRPr lang="en-US" sz="1071" dirty="0"/>
          </a:p>
        </p:txBody>
      </p:sp>
      <p:sp>
        <p:nvSpPr>
          <p:cNvPr id="29" name="Shape 24"/>
          <p:cNvSpPr/>
          <p:nvPr/>
        </p:nvSpPr>
        <p:spPr>
          <a:xfrm>
            <a:off x="4829512" y="2358064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0" name="Text 25"/>
          <p:cNvSpPr/>
          <p:nvPr/>
        </p:nvSpPr>
        <p:spPr>
          <a:xfrm>
            <a:off x="4829512" y="2358064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北京</a:t>
            </a:r>
            <a:endParaRPr lang="en-US" sz="1071" dirty="0"/>
          </a:p>
        </p:txBody>
      </p:sp>
      <p:sp>
        <p:nvSpPr>
          <p:cNvPr id="31" name="Shape 26"/>
          <p:cNvSpPr/>
          <p:nvPr/>
        </p:nvSpPr>
        <p:spPr>
          <a:xfrm>
            <a:off x="4325499" y="2696451"/>
            <a:ext cx="81902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2" name="Text 27"/>
          <p:cNvSpPr/>
          <p:nvPr/>
        </p:nvSpPr>
        <p:spPr>
          <a:xfrm>
            <a:off x="4325499" y="2696451"/>
            <a:ext cx="81760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重庆(环线)</a:t>
            </a:r>
            <a:endParaRPr lang="en-US" sz="1071" dirty="0"/>
          </a:p>
        </p:txBody>
      </p:sp>
      <p:sp>
        <p:nvSpPr>
          <p:cNvPr id="33" name="Shape 28"/>
          <p:cNvSpPr/>
          <p:nvPr/>
        </p:nvSpPr>
        <p:spPr>
          <a:xfrm>
            <a:off x="4325498" y="3034839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4" name="Text 29"/>
          <p:cNvSpPr/>
          <p:nvPr/>
        </p:nvSpPr>
        <p:spPr>
          <a:xfrm>
            <a:off x="4325499" y="3034839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济南</a:t>
            </a:r>
            <a:endParaRPr lang="en-US" sz="1071" dirty="0"/>
          </a:p>
        </p:txBody>
      </p:sp>
      <p:sp>
        <p:nvSpPr>
          <p:cNvPr id="35" name="Text 30"/>
          <p:cNvSpPr/>
          <p:nvPr/>
        </p:nvSpPr>
        <p:spPr>
          <a:xfrm>
            <a:off x="3317472" y="3463230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1008" dirty="0"/>
          </a:p>
        </p:txBody>
      </p:sp>
      <p:sp>
        <p:nvSpPr>
          <p:cNvPr id="36" name="Text 31"/>
          <p:cNvSpPr/>
          <p:nvPr/>
        </p:nvSpPr>
        <p:spPr>
          <a:xfrm>
            <a:off x="4325499" y="3463230"/>
            <a:ext cx="1228533" cy="9240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城市标准配置，侧面多为夹胶玻璃。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兼顾吸声与采光，耐久性好。</a:t>
            </a:r>
            <a:endParaRPr lang="en-US" sz="1197" dirty="0"/>
          </a:p>
        </p:txBody>
      </p:sp>
      <p:sp>
        <p:nvSpPr>
          <p:cNvPr id="37" name="Shape 32"/>
          <p:cNvSpPr/>
          <p:nvPr/>
        </p:nvSpPr>
        <p:spPr>
          <a:xfrm>
            <a:off x="5842040" y="1444539"/>
            <a:ext cx="2488567" cy="4855631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38" name="Shape 33"/>
          <p:cNvSpPr/>
          <p:nvPr/>
        </p:nvSpPr>
        <p:spPr>
          <a:xfrm>
            <a:off x="5842040" y="1444539"/>
            <a:ext cx="2488567" cy="50176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6044" y="1596419"/>
            <a:ext cx="222756" cy="198006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6280802" y="1552542"/>
            <a:ext cx="1300036" cy="2132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全PC板 (透明式)</a:t>
            </a:r>
            <a:endParaRPr lang="en-US" sz="1386" dirty="0"/>
          </a:p>
        </p:txBody>
      </p:sp>
      <p:sp>
        <p:nvSpPr>
          <p:cNvPr id="41" name="Text 35"/>
          <p:cNvSpPr/>
          <p:nvPr/>
        </p:nvSpPr>
        <p:spPr>
          <a:xfrm>
            <a:off x="5968043" y="2072305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1008" dirty="0"/>
          </a:p>
        </p:txBody>
      </p:sp>
      <p:sp>
        <p:nvSpPr>
          <p:cNvPr id="42" name="Shape 36"/>
          <p:cNvSpPr/>
          <p:nvPr/>
        </p:nvSpPr>
        <p:spPr>
          <a:xfrm>
            <a:off x="6976069" y="2072305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3" name="Text 37"/>
          <p:cNvSpPr/>
          <p:nvPr/>
        </p:nvSpPr>
        <p:spPr>
          <a:xfrm>
            <a:off x="6976070" y="2072305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合肥</a:t>
            </a:r>
            <a:endParaRPr lang="en-US" sz="1071" dirty="0"/>
          </a:p>
        </p:txBody>
      </p:sp>
      <p:sp>
        <p:nvSpPr>
          <p:cNvPr id="44" name="Shape 38"/>
          <p:cNvSpPr/>
          <p:nvPr/>
        </p:nvSpPr>
        <p:spPr>
          <a:xfrm>
            <a:off x="6976070" y="2410694"/>
            <a:ext cx="81902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5" name="Text 39"/>
          <p:cNvSpPr/>
          <p:nvPr/>
        </p:nvSpPr>
        <p:spPr>
          <a:xfrm>
            <a:off x="6976070" y="2410694"/>
            <a:ext cx="81760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武汉(部分)</a:t>
            </a:r>
            <a:endParaRPr lang="en-US" sz="1071" dirty="0"/>
          </a:p>
        </p:txBody>
      </p:sp>
      <p:sp>
        <p:nvSpPr>
          <p:cNvPr id="46" name="Text 40"/>
          <p:cNvSpPr/>
          <p:nvPr/>
        </p:nvSpPr>
        <p:spPr>
          <a:xfrm>
            <a:off x="5968043" y="283908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1008" dirty="0"/>
          </a:p>
        </p:txBody>
      </p:sp>
      <p:sp>
        <p:nvSpPr>
          <p:cNvPr id="47" name="Text 41"/>
          <p:cNvSpPr/>
          <p:nvPr/>
        </p:nvSpPr>
        <p:spPr>
          <a:xfrm>
            <a:off x="6976070" y="2839084"/>
            <a:ext cx="1228533" cy="9240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用于突出景观的路段。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全透光；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劣势：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吸声有限、易老化。</a:t>
            </a:r>
            <a:endParaRPr lang="en-US" sz="1197" dirty="0"/>
          </a:p>
        </p:txBody>
      </p:sp>
      <p:sp>
        <p:nvSpPr>
          <p:cNvPr id="48" name="Shape 42"/>
          <p:cNvSpPr/>
          <p:nvPr/>
        </p:nvSpPr>
        <p:spPr>
          <a:xfrm>
            <a:off x="8492611" y="1444539"/>
            <a:ext cx="2488567" cy="4855631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49" name="Shape 43"/>
          <p:cNvSpPr/>
          <p:nvPr/>
        </p:nvSpPr>
        <p:spPr>
          <a:xfrm>
            <a:off x="8492611" y="1444539"/>
            <a:ext cx="2488567" cy="78752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615" y="1739297"/>
            <a:ext cx="198006" cy="198006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8906622" y="1552542"/>
            <a:ext cx="1930552" cy="42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亚克力 + 消声百叶</a:t>
            </a:r>
            <a:endParaRPr lang="en-US" sz="1386" dirty="0"/>
          </a:p>
        </p:txBody>
      </p:sp>
      <p:sp>
        <p:nvSpPr>
          <p:cNvPr id="52" name="Text 45"/>
          <p:cNvSpPr/>
          <p:nvPr/>
        </p:nvSpPr>
        <p:spPr>
          <a:xfrm>
            <a:off x="8618615" y="235806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1008" dirty="0"/>
          </a:p>
        </p:txBody>
      </p:sp>
      <p:sp>
        <p:nvSpPr>
          <p:cNvPr id="53" name="Shape 46"/>
          <p:cNvSpPr/>
          <p:nvPr/>
        </p:nvSpPr>
        <p:spPr>
          <a:xfrm>
            <a:off x="9626643" y="2358064"/>
            <a:ext cx="900024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4" name="Text 47"/>
          <p:cNvSpPr/>
          <p:nvPr/>
        </p:nvSpPr>
        <p:spPr>
          <a:xfrm>
            <a:off x="9626643" y="2358064"/>
            <a:ext cx="894550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重庆(4号线)</a:t>
            </a:r>
            <a:endParaRPr lang="en-US" sz="1071" dirty="0"/>
          </a:p>
        </p:txBody>
      </p:sp>
      <p:sp>
        <p:nvSpPr>
          <p:cNvPr id="55" name="Text 48"/>
          <p:cNvSpPr/>
          <p:nvPr/>
        </p:nvSpPr>
        <p:spPr>
          <a:xfrm>
            <a:off x="8618615" y="278645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1008" dirty="0"/>
          </a:p>
        </p:txBody>
      </p:sp>
      <p:sp>
        <p:nvSpPr>
          <p:cNvPr id="56" name="Text 49"/>
          <p:cNvSpPr/>
          <p:nvPr/>
        </p:nvSpPr>
        <p:spPr>
          <a:xfrm>
            <a:off x="9626642" y="2786454"/>
            <a:ext cx="1228533" cy="688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需加强通风散热的高架段。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提升通风与散热。</a:t>
            </a:r>
            <a:endParaRPr lang="en-US" sz="1197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图片 64" descr="preencoded.png">
            <a:extLst>
              <a:ext uri="{FF2B5EF4-FFF2-40B4-BE49-F238E27FC236}">
                <a16:creationId xmlns:a16="http://schemas.microsoft.com/office/drawing/2014/main" id="{3527DF59-220D-B1D9-39F2-ABCA3D5DD4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03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09" y="450012"/>
            <a:ext cx="3219838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结构不安全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540896" y="900024"/>
            <a:ext cx="10440282" cy="271485"/>
          </a:xfrm>
          <a:prstGeom prst="rect">
            <a:avLst/>
          </a:prstGeom>
          <a:noFill/>
          <a:ln/>
        </p:spPr>
        <p:txBody>
          <a:bodyPr wrap="square" lIns="160644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轨交列车高速运行脉动力引发的安全红线挑战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540897" y="1444539"/>
            <a:ext cx="3360079" cy="4945634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8" name="Shape 5"/>
          <p:cNvSpPr/>
          <p:nvPr/>
        </p:nvSpPr>
        <p:spPr>
          <a:xfrm>
            <a:off x="540897" y="1444539"/>
            <a:ext cx="3342043" cy="54002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9" name="Shape 6"/>
          <p:cNvSpPr/>
          <p:nvPr/>
        </p:nvSpPr>
        <p:spPr>
          <a:xfrm>
            <a:off x="540897" y="1444539"/>
            <a:ext cx="3360079" cy="1440039"/>
          </a:xfrm>
          <a:prstGeom prst="rect">
            <a:avLst/>
          </a:prstGeom>
          <a:solidFill>
            <a:srgbClr val="B71C1C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0907" y="1804549"/>
            <a:ext cx="900024" cy="72001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937915" y="2612320"/>
            <a:ext cx="683649" cy="1357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82" b="1" kern="0" spc="1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882" dirty="0"/>
          </a:p>
        </p:txBody>
      </p:sp>
      <p:sp>
        <p:nvSpPr>
          <p:cNvPr id="12" name="Text 8"/>
          <p:cNvSpPr/>
          <p:nvPr/>
        </p:nvSpPr>
        <p:spPr>
          <a:xfrm>
            <a:off x="702901" y="3046581"/>
            <a:ext cx="3036071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01 紧固件及连接件失效</a:t>
            </a:r>
            <a:endParaRPr lang="en-US" sz="1512" dirty="0"/>
          </a:p>
        </p:txBody>
      </p:sp>
      <p:sp>
        <p:nvSpPr>
          <p:cNvPr id="13" name="Text 9"/>
          <p:cNvSpPr/>
          <p:nvPr/>
        </p:nvSpPr>
        <p:spPr>
          <a:xfrm>
            <a:off x="702901" y="3467343"/>
            <a:ext cx="3036071" cy="688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传统声屏障大量采用角钢、螺栓、铆钉等连接方式，在长期地铁振动下极易发生松动失效。</a:t>
            </a:r>
            <a:endParaRPr lang="en-US" sz="1197" dirty="0"/>
          </a:p>
        </p:txBody>
      </p:sp>
      <p:sp>
        <p:nvSpPr>
          <p:cNvPr id="14" name="Shape 10"/>
          <p:cNvSpPr/>
          <p:nvPr/>
        </p:nvSpPr>
        <p:spPr>
          <a:xfrm>
            <a:off x="702901" y="4995134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5" name="Shape 11"/>
          <p:cNvSpPr/>
          <p:nvPr/>
        </p:nvSpPr>
        <p:spPr>
          <a:xfrm>
            <a:off x="702902" y="4995134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904" y="5085137"/>
            <a:ext cx="144004" cy="1440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44910" y="5067137"/>
            <a:ext cx="1240724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紧固件螺栓松动脱落</a:t>
            </a:r>
            <a:endParaRPr lang="en-US" sz="1071" dirty="0"/>
          </a:p>
        </p:txBody>
      </p:sp>
      <p:sp>
        <p:nvSpPr>
          <p:cNvPr id="18" name="Shape 13"/>
          <p:cNvSpPr/>
          <p:nvPr/>
        </p:nvSpPr>
        <p:spPr>
          <a:xfrm>
            <a:off x="702901" y="5436146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9" name="Shape 14"/>
          <p:cNvSpPr/>
          <p:nvPr/>
        </p:nvSpPr>
        <p:spPr>
          <a:xfrm>
            <a:off x="702902" y="5436146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904" y="5526149"/>
            <a:ext cx="144004" cy="14400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44910" y="5508149"/>
            <a:ext cx="110286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限位板弹簧卡失效</a:t>
            </a:r>
            <a:endParaRPr lang="en-US" sz="1071" dirty="0"/>
          </a:p>
        </p:txBody>
      </p:sp>
      <p:sp>
        <p:nvSpPr>
          <p:cNvPr id="22" name="Shape 16"/>
          <p:cNvSpPr/>
          <p:nvPr/>
        </p:nvSpPr>
        <p:spPr>
          <a:xfrm>
            <a:off x="702901" y="5877159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3" name="Shape 17"/>
          <p:cNvSpPr/>
          <p:nvPr/>
        </p:nvSpPr>
        <p:spPr>
          <a:xfrm>
            <a:off x="702902" y="5877159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904" y="5967160"/>
            <a:ext cx="144004" cy="14400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44910" y="5949161"/>
            <a:ext cx="110286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固定角钢疲劳脱落</a:t>
            </a:r>
            <a:endParaRPr lang="en-US" sz="1071" dirty="0"/>
          </a:p>
        </p:txBody>
      </p:sp>
      <p:sp>
        <p:nvSpPr>
          <p:cNvPr id="26" name="Shape 19"/>
          <p:cNvSpPr/>
          <p:nvPr/>
        </p:nvSpPr>
        <p:spPr>
          <a:xfrm>
            <a:off x="4080981" y="1444539"/>
            <a:ext cx="3360079" cy="4945634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27" name="Shape 20"/>
          <p:cNvSpPr/>
          <p:nvPr/>
        </p:nvSpPr>
        <p:spPr>
          <a:xfrm>
            <a:off x="4080981" y="1444539"/>
            <a:ext cx="3342043" cy="54002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8" name="Shape 21"/>
          <p:cNvSpPr/>
          <p:nvPr/>
        </p:nvSpPr>
        <p:spPr>
          <a:xfrm>
            <a:off x="4080981" y="1444539"/>
            <a:ext cx="3360079" cy="1440039"/>
          </a:xfrm>
          <a:prstGeom prst="rect">
            <a:avLst/>
          </a:prstGeom>
          <a:solidFill>
            <a:srgbClr val="B71C1C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5990" y="1804549"/>
            <a:ext cx="810023" cy="720019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477998" y="2612320"/>
            <a:ext cx="683649" cy="1357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82" b="1" kern="0" spc="1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882" dirty="0"/>
          </a:p>
        </p:txBody>
      </p:sp>
      <p:sp>
        <p:nvSpPr>
          <p:cNvPr id="31" name="Text 23"/>
          <p:cNvSpPr/>
          <p:nvPr/>
        </p:nvSpPr>
        <p:spPr>
          <a:xfrm>
            <a:off x="4242984" y="3046581"/>
            <a:ext cx="3036071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02 声屏障屏体整体脱落</a:t>
            </a:r>
            <a:endParaRPr lang="en-US" sz="1512" dirty="0"/>
          </a:p>
        </p:txBody>
      </p:sp>
      <p:sp>
        <p:nvSpPr>
          <p:cNvPr id="32" name="Text 24"/>
          <p:cNvSpPr/>
          <p:nvPr/>
        </p:nvSpPr>
        <p:spPr>
          <a:xfrm>
            <a:off x="4242984" y="3467343"/>
            <a:ext cx="3036071" cy="688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“小板装大尺寸”设计，在热胀冷缩和脉动力交替作用下，板材极易掉落，威胁行车安全。</a:t>
            </a:r>
            <a:endParaRPr lang="en-US" sz="1197" dirty="0"/>
          </a:p>
        </p:txBody>
      </p:sp>
      <p:sp>
        <p:nvSpPr>
          <p:cNvPr id="33" name="Shape 25"/>
          <p:cNvSpPr/>
          <p:nvPr/>
        </p:nvSpPr>
        <p:spPr>
          <a:xfrm>
            <a:off x="4242984" y="4995134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4" name="Shape 26"/>
          <p:cNvSpPr/>
          <p:nvPr/>
        </p:nvSpPr>
        <p:spPr>
          <a:xfrm>
            <a:off x="4242985" y="4995134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0987" y="5085137"/>
            <a:ext cx="144004" cy="144004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4584994" y="5067137"/>
            <a:ext cx="110286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侧部金属屏体脱落</a:t>
            </a:r>
            <a:endParaRPr lang="en-US" sz="1071" dirty="0"/>
          </a:p>
        </p:txBody>
      </p:sp>
      <p:sp>
        <p:nvSpPr>
          <p:cNvPr id="37" name="Shape 28"/>
          <p:cNvSpPr/>
          <p:nvPr/>
        </p:nvSpPr>
        <p:spPr>
          <a:xfrm>
            <a:off x="4242984" y="5436146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8" name="Shape 29"/>
          <p:cNvSpPr/>
          <p:nvPr/>
        </p:nvSpPr>
        <p:spPr>
          <a:xfrm>
            <a:off x="4242985" y="5436146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0987" y="5526149"/>
            <a:ext cx="144004" cy="144004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4584994" y="5508149"/>
            <a:ext cx="113973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顶部PC板整体脱落</a:t>
            </a:r>
            <a:endParaRPr lang="en-US" sz="1071" dirty="0"/>
          </a:p>
        </p:txBody>
      </p:sp>
      <p:sp>
        <p:nvSpPr>
          <p:cNvPr id="41" name="Shape 31"/>
          <p:cNvSpPr/>
          <p:nvPr/>
        </p:nvSpPr>
        <p:spPr>
          <a:xfrm>
            <a:off x="4242984" y="5877159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2" name="Shape 32"/>
          <p:cNvSpPr/>
          <p:nvPr/>
        </p:nvSpPr>
        <p:spPr>
          <a:xfrm>
            <a:off x="4242985" y="5877159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43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0987" y="5967160"/>
            <a:ext cx="144004" cy="14400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4584994" y="5949161"/>
            <a:ext cx="1240724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导致顶部大面积开口</a:t>
            </a:r>
            <a:endParaRPr lang="en-US" sz="1071" dirty="0"/>
          </a:p>
        </p:txBody>
      </p:sp>
      <p:sp>
        <p:nvSpPr>
          <p:cNvPr id="45" name="Shape 34"/>
          <p:cNvSpPr/>
          <p:nvPr/>
        </p:nvSpPr>
        <p:spPr>
          <a:xfrm>
            <a:off x="7621064" y="1444539"/>
            <a:ext cx="3360115" cy="4945634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46" name="Shape 35"/>
          <p:cNvSpPr/>
          <p:nvPr/>
        </p:nvSpPr>
        <p:spPr>
          <a:xfrm>
            <a:off x="7621064" y="1444539"/>
            <a:ext cx="3342114" cy="54002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7" name="Shape 36"/>
          <p:cNvSpPr/>
          <p:nvPr/>
        </p:nvSpPr>
        <p:spPr>
          <a:xfrm>
            <a:off x="7621064" y="1444539"/>
            <a:ext cx="3360115" cy="1440039"/>
          </a:xfrm>
          <a:prstGeom prst="rect">
            <a:avLst/>
          </a:prstGeom>
          <a:solidFill>
            <a:srgbClr val="B71C1C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1112" y="1804549"/>
            <a:ext cx="720019" cy="720019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10018153" y="2612320"/>
            <a:ext cx="683649" cy="1357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82" b="1" kern="0" spc="1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882" dirty="0"/>
          </a:p>
        </p:txBody>
      </p:sp>
      <p:sp>
        <p:nvSpPr>
          <p:cNvPr id="50" name="Text 38"/>
          <p:cNvSpPr/>
          <p:nvPr/>
        </p:nvSpPr>
        <p:spPr>
          <a:xfrm>
            <a:off x="7783068" y="3046581"/>
            <a:ext cx="3036106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03 屏体板材破损及密封失效</a:t>
            </a:r>
            <a:endParaRPr lang="en-US" sz="1512" dirty="0"/>
          </a:p>
        </p:txBody>
      </p:sp>
      <p:sp>
        <p:nvSpPr>
          <p:cNvPr id="51" name="Text 39"/>
          <p:cNvSpPr/>
          <p:nvPr/>
        </p:nvSpPr>
        <p:spPr>
          <a:xfrm>
            <a:off x="7783068" y="3467343"/>
            <a:ext cx="3036106" cy="45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材料老化及外力冲击导致密封结构破坏，直接引发漏声、漏水等功能性失效。</a:t>
            </a:r>
            <a:endParaRPr lang="en-US" sz="1197" dirty="0"/>
          </a:p>
        </p:txBody>
      </p:sp>
      <p:sp>
        <p:nvSpPr>
          <p:cNvPr id="52" name="Shape 40"/>
          <p:cNvSpPr/>
          <p:nvPr/>
        </p:nvSpPr>
        <p:spPr>
          <a:xfrm>
            <a:off x="7783068" y="4995134"/>
            <a:ext cx="3036106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3" name="Shape 41"/>
          <p:cNvSpPr/>
          <p:nvPr/>
        </p:nvSpPr>
        <p:spPr>
          <a:xfrm>
            <a:off x="7783069" y="4995134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5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1072" y="5085137"/>
            <a:ext cx="180005" cy="144004"/>
          </a:xfrm>
          <a:prstGeom prst="rect">
            <a:avLst/>
          </a:prstGeom>
        </p:spPr>
      </p:pic>
      <p:sp>
        <p:nvSpPr>
          <p:cNvPr id="55" name="Text 42"/>
          <p:cNvSpPr/>
          <p:nvPr/>
        </p:nvSpPr>
        <p:spPr>
          <a:xfrm>
            <a:off x="8161078" y="5067137"/>
            <a:ext cx="965008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橡胶垫老化脱出</a:t>
            </a:r>
            <a:endParaRPr lang="en-US" sz="1071" dirty="0"/>
          </a:p>
        </p:txBody>
      </p:sp>
      <p:sp>
        <p:nvSpPr>
          <p:cNvPr id="56" name="Shape 43"/>
          <p:cNvSpPr/>
          <p:nvPr/>
        </p:nvSpPr>
        <p:spPr>
          <a:xfrm>
            <a:off x="7783068" y="5436146"/>
            <a:ext cx="3036106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7" name="Shape 44"/>
          <p:cNvSpPr/>
          <p:nvPr/>
        </p:nvSpPr>
        <p:spPr>
          <a:xfrm>
            <a:off x="7783069" y="5436146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58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1072" y="5526149"/>
            <a:ext cx="180005" cy="144004"/>
          </a:xfrm>
          <a:prstGeom prst="rect">
            <a:avLst/>
          </a:prstGeom>
        </p:spPr>
      </p:pic>
      <p:sp>
        <p:nvSpPr>
          <p:cNvPr id="59" name="Text 45"/>
          <p:cNvSpPr/>
          <p:nvPr/>
        </p:nvSpPr>
        <p:spPr>
          <a:xfrm>
            <a:off x="8161078" y="5508149"/>
            <a:ext cx="113973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PC板热胀冷缩开裂</a:t>
            </a:r>
            <a:endParaRPr lang="en-US" sz="1071" dirty="0"/>
          </a:p>
        </p:txBody>
      </p:sp>
      <p:sp>
        <p:nvSpPr>
          <p:cNvPr id="60" name="Shape 46"/>
          <p:cNvSpPr/>
          <p:nvPr/>
        </p:nvSpPr>
        <p:spPr>
          <a:xfrm>
            <a:off x="7783068" y="5877159"/>
            <a:ext cx="3036106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61" name="Shape 47"/>
          <p:cNvSpPr/>
          <p:nvPr/>
        </p:nvSpPr>
        <p:spPr>
          <a:xfrm>
            <a:off x="7783069" y="5877159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6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1072" y="5967160"/>
            <a:ext cx="180005" cy="144004"/>
          </a:xfrm>
          <a:prstGeom prst="rect">
            <a:avLst/>
          </a:prstGeom>
        </p:spPr>
      </p:pic>
      <p:sp>
        <p:nvSpPr>
          <p:cNvPr id="63" name="Text 48"/>
          <p:cNvSpPr/>
          <p:nvPr/>
        </p:nvSpPr>
        <p:spPr>
          <a:xfrm>
            <a:off x="8161079" y="5949161"/>
            <a:ext cx="1516441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夹胶玻璃被飞石冲击破损</a:t>
            </a:r>
            <a:endParaRPr lang="en-US" sz="1071"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图片 32" descr="preencoded.png">
            <a:extLst>
              <a:ext uri="{FF2B5EF4-FFF2-40B4-BE49-F238E27FC236}">
                <a16:creationId xmlns:a16="http://schemas.microsoft.com/office/drawing/2014/main" id="{67BCE584-5F56-9D68-D384-493E093D75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04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09" y="450012"/>
            <a:ext cx="3219838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使用寿命短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540896" y="791917"/>
            <a:ext cx="10440282" cy="271485"/>
          </a:xfrm>
          <a:prstGeom prst="rect">
            <a:avLst/>
          </a:prstGeom>
          <a:noFill/>
          <a:ln/>
        </p:spPr>
        <p:txBody>
          <a:bodyPr wrap="square" lIns="160644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复杂室外环境导致的严重耐久性危机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540896" y="1174531"/>
            <a:ext cx="10440282" cy="954026"/>
          </a:xfrm>
          <a:prstGeom prst="rect">
            <a:avLst/>
          </a:prstGeom>
          <a:solidFill>
            <a:srgbClr val="FFF3E0"/>
          </a:solidFill>
          <a:ln w="9144">
            <a:solidFill>
              <a:srgbClr val="FFE0B2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904" y="1485040"/>
            <a:ext cx="360010" cy="3600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50919" y="1354536"/>
            <a:ext cx="7560204" cy="500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323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传统材料与防腐工艺难以应对复杂的室外环境（尤其是</a:t>
            </a:r>
            <a:r>
              <a:rPr lang="en-US" sz="126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沿海及工业区</a:t>
            </a:r>
            <a:r>
              <a:rPr lang="en-US" sz="1323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的高盐雾、高腐蚀环境），
往往在投入使用短短几年后即出现严重锈蚀，</a:t>
            </a:r>
            <a:r>
              <a:rPr lang="en-US" sz="126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根本无法保证15年的设计使用寿命</a:t>
            </a:r>
            <a:r>
              <a:rPr lang="en-US" sz="1323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。</a:t>
            </a:r>
            <a:endParaRPr lang="en-US" sz="1323" dirty="0"/>
          </a:p>
        </p:txBody>
      </p:sp>
      <p:sp>
        <p:nvSpPr>
          <p:cNvPr id="10" name="Shape 6"/>
          <p:cNvSpPr/>
          <p:nvPr/>
        </p:nvSpPr>
        <p:spPr>
          <a:xfrm>
            <a:off x="558898" y="2398564"/>
            <a:ext cx="5004135" cy="54002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904" y="2715824"/>
            <a:ext cx="283507" cy="32400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47415" y="2687697"/>
            <a:ext cx="2209560" cy="252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638" b="1" dirty="0">
                <a:solidFill>
                  <a:srgbClr val="333333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01 金属屏体锈蚀穿孔</a:t>
            </a:r>
            <a:endParaRPr lang="en-US" sz="1638" dirty="0"/>
          </a:p>
        </p:txBody>
      </p:sp>
      <p:sp>
        <p:nvSpPr>
          <p:cNvPr id="13" name="Text 8"/>
          <p:cNvSpPr/>
          <p:nvPr/>
        </p:nvSpPr>
        <p:spPr>
          <a:xfrm>
            <a:off x="828904" y="3226586"/>
            <a:ext cx="4464121" cy="45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金属吸声面板表面防腐层一旦被破坏（如飞石刮擦、安装磕碰），在雨水和盐雾侵蚀下，面板会迅速发生大面积锈蚀。</a:t>
            </a:r>
            <a:endParaRPr lang="en-US" sz="1197" dirty="0"/>
          </a:p>
        </p:txBody>
      </p:sp>
      <p:sp>
        <p:nvSpPr>
          <p:cNvPr id="14" name="Shape 9"/>
          <p:cNvSpPr/>
          <p:nvPr/>
        </p:nvSpPr>
        <p:spPr>
          <a:xfrm>
            <a:off x="828904" y="3924950"/>
            <a:ext cx="4464121" cy="1058935"/>
          </a:xfrm>
          <a:prstGeom prst="rect">
            <a:avLst/>
          </a:prstGeom>
          <a:solidFill>
            <a:srgbClr val="F5F5F5"/>
          </a:solidFill>
          <a:ln w="9144">
            <a:solidFill>
              <a:srgbClr val="BDBDBD"/>
            </a:solidFill>
            <a:prstDash val="dash"/>
          </a:ln>
        </p:spPr>
        <p:txBody>
          <a:bodyPr/>
          <a:lstStyle/>
          <a:p>
            <a:endParaRPr sz="2142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956" y="3980778"/>
            <a:ext cx="576016" cy="57601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890934" y="4691799"/>
            <a:ext cx="2340063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kern="0" spc="3" dirty="0">
                <a:solidFill>
                  <a:srgbClr val="9E9E9E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现场实拍：屏体锈蚀穿孔示意</a:t>
            </a:r>
            <a:endParaRPr lang="en-US" sz="1134" dirty="0"/>
          </a:p>
        </p:txBody>
      </p:sp>
      <p:sp>
        <p:nvSpPr>
          <p:cNvPr id="17" name="Shape 11"/>
          <p:cNvSpPr/>
          <p:nvPr/>
        </p:nvSpPr>
        <p:spPr>
          <a:xfrm>
            <a:off x="828904" y="5253892"/>
            <a:ext cx="4464121" cy="758271"/>
          </a:xfrm>
          <a:prstGeom prst="rect">
            <a:avLst/>
          </a:prstGeom>
          <a:solidFill>
            <a:srgbClr val="FFEBEE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8" name="Shape 12"/>
          <p:cNvSpPr/>
          <p:nvPr/>
        </p:nvSpPr>
        <p:spPr>
          <a:xfrm>
            <a:off x="828904" y="5253892"/>
            <a:ext cx="36001" cy="75827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9" name="Text 13"/>
          <p:cNvSpPr/>
          <p:nvPr/>
        </p:nvSpPr>
        <p:spPr>
          <a:xfrm>
            <a:off x="963907" y="5388895"/>
            <a:ext cx="4194114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直接后果</a:t>
            </a:r>
            <a:endParaRPr lang="en-US" sz="1008" dirty="0"/>
          </a:p>
        </p:txBody>
      </p:sp>
      <p:sp>
        <p:nvSpPr>
          <p:cNvPr id="20" name="Text 14"/>
          <p:cNvSpPr/>
          <p:nvPr/>
        </p:nvSpPr>
        <p:spPr>
          <a:xfrm>
            <a:off x="963907" y="5640902"/>
            <a:ext cx="4194114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B71C1C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吸声材料外漏失效，屏体结构强度丧失</a:t>
            </a:r>
            <a:endParaRPr lang="en-US" sz="1134" dirty="0"/>
          </a:p>
        </p:txBody>
      </p:sp>
      <p:sp>
        <p:nvSpPr>
          <p:cNvPr id="21" name="Shape 15"/>
          <p:cNvSpPr/>
          <p:nvPr/>
        </p:nvSpPr>
        <p:spPr>
          <a:xfrm>
            <a:off x="5959044" y="2398564"/>
            <a:ext cx="5004135" cy="54002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9050" y="2715824"/>
            <a:ext cx="243006" cy="32400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607060" y="2687697"/>
            <a:ext cx="2677573" cy="252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638" b="1" dirty="0">
                <a:solidFill>
                  <a:srgbClr val="333333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02 钢结构及立柱深层锈蚀</a:t>
            </a:r>
            <a:endParaRPr lang="en-US" sz="1638" dirty="0"/>
          </a:p>
        </p:txBody>
      </p:sp>
      <p:sp>
        <p:nvSpPr>
          <p:cNvPr id="24" name="Text 17"/>
          <p:cNvSpPr/>
          <p:nvPr/>
        </p:nvSpPr>
        <p:spPr>
          <a:xfrm>
            <a:off x="6229049" y="3226586"/>
            <a:ext cx="4464121" cy="45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作为声屏障骨架的主受力构件（H型钢立柱、横梁等），若防腐工艺不达标，焊缝及节点处极易发生深层结构性锈蚀。</a:t>
            </a:r>
            <a:endParaRPr lang="en-US" sz="1197" dirty="0"/>
          </a:p>
        </p:txBody>
      </p:sp>
      <p:sp>
        <p:nvSpPr>
          <p:cNvPr id="25" name="Shape 18"/>
          <p:cNvSpPr/>
          <p:nvPr/>
        </p:nvSpPr>
        <p:spPr>
          <a:xfrm>
            <a:off x="6229049" y="3924950"/>
            <a:ext cx="4464121" cy="1058935"/>
          </a:xfrm>
          <a:prstGeom prst="rect">
            <a:avLst/>
          </a:prstGeom>
          <a:solidFill>
            <a:srgbClr val="F5F5F5"/>
          </a:solidFill>
          <a:ln w="9144">
            <a:solidFill>
              <a:srgbClr val="BDBDBD"/>
            </a:solidFill>
            <a:prstDash val="dash"/>
          </a:ln>
        </p:spPr>
        <p:txBody>
          <a:bodyPr/>
          <a:lstStyle/>
          <a:p>
            <a:endParaRPr sz="2142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3102" y="3980778"/>
            <a:ext cx="576016" cy="57601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201076" y="4691799"/>
            <a:ext cx="2520068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kern="0" spc="3" dirty="0">
                <a:solidFill>
                  <a:srgbClr val="9E9E9E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现场实拍：钢立柱根部锈蚀示意</a:t>
            </a:r>
            <a:endParaRPr lang="en-US" sz="1134" dirty="0"/>
          </a:p>
        </p:txBody>
      </p:sp>
      <p:sp>
        <p:nvSpPr>
          <p:cNvPr id="28" name="Shape 20"/>
          <p:cNvSpPr/>
          <p:nvPr/>
        </p:nvSpPr>
        <p:spPr>
          <a:xfrm>
            <a:off x="6229049" y="5253892"/>
            <a:ext cx="4464121" cy="758271"/>
          </a:xfrm>
          <a:prstGeom prst="rect">
            <a:avLst/>
          </a:prstGeom>
          <a:solidFill>
            <a:srgbClr val="FFEBEE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9" name="Shape 21"/>
          <p:cNvSpPr/>
          <p:nvPr/>
        </p:nvSpPr>
        <p:spPr>
          <a:xfrm>
            <a:off x="6229050" y="5253892"/>
            <a:ext cx="36001" cy="75827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0" name="Text 22"/>
          <p:cNvSpPr/>
          <p:nvPr/>
        </p:nvSpPr>
        <p:spPr>
          <a:xfrm>
            <a:off x="6364053" y="5388895"/>
            <a:ext cx="4194114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致命隐患</a:t>
            </a:r>
            <a:endParaRPr lang="en-US" sz="1008" dirty="0"/>
          </a:p>
        </p:txBody>
      </p:sp>
      <p:sp>
        <p:nvSpPr>
          <p:cNvPr id="31" name="Text 23"/>
          <p:cNvSpPr/>
          <p:nvPr/>
        </p:nvSpPr>
        <p:spPr>
          <a:xfrm>
            <a:off x="6364053" y="5640902"/>
            <a:ext cx="4194114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B71C1C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大幅降低抗风与承载能力，带来倒塌风险</a:t>
            </a:r>
            <a:endParaRPr lang="en-US" sz="1134"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图片 41" descr="preencoded.png">
            <a:extLst>
              <a:ext uri="{FF2B5EF4-FFF2-40B4-BE49-F238E27FC236}">
                <a16:creationId xmlns:a16="http://schemas.microsoft.com/office/drawing/2014/main" id="{3FFD8BCF-F323-D63C-BA88-0EF68E94BB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05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10" y="450012"/>
            <a:ext cx="3435843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维保成本高昂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360891" y="900024"/>
            <a:ext cx="10800292" cy="271485"/>
          </a:xfrm>
          <a:prstGeom prst="rect">
            <a:avLst/>
          </a:prstGeom>
          <a:noFill/>
          <a:ln/>
        </p:spPr>
        <p:txBody>
          <a:bodyPr wrap="square" lIns="128643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全生命周期痛点：维保作业困难与高昂的后期成本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360892" y="1399538"/>
            <a:ext cx="5310144" cy="7825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Shape 5"/>
          <p:cNvSpPr/>
          <p:nvPr/>
        </p:nvSpPr>
        <p:spPr>
          <a:xfrm>
            <a:off x="360892" y="1399538"/>
            <a:ext cx="36001" cy="78256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896" y="1599794"/>
            <a:ext cx="324009" cy="32400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36907" y="1507540"/>
            <a:ext cx="4626126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螺栓众多，排查困难</a:t>
            </a:r>
            <a:endParaRPr lang="en-US" sz="1386" dirty="0"/>
          </a:p>
        </p:txBody>
      </p:sp>
      <p:sp>
        <p:nvSpPr>
          <p:cNvPr id="11" name="Text 7"/>
          <p:cNvSpPr/>
          <p:nvPr/>
        </p:nvSpPr>
        <p:spPr>
          <a:xfrm>
            <a:off x="936907" y="1847300"/>
            <a:ext cx="4154984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传统结构节点繁琐，螺栓数量庞大，难以逐一排查，隐患多。</a:t>
            </a:r>
            <a:endParaRPr lang="en-US" sz="1197" dirty="0"/>
          </a:p>
        </p:txBody>
      </p:sp>
      <p:sp>
        <p:nvSpPr>
          <p:cNvPr id="12" name="Shape 8"/>
          <p:cNvSpPr/>
          <p:nvPr/>
        </p:nvSpPr>
        <p:spPr>
          <a:xfrm>
            <a:off x="360892" y="2290106"/>
            <a:ext cx="5310144" cy="7825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Shape 9"/>
          <p:cNvSpPr/>
          <p:nvPr/>
        </p:nvSpPr>
        <p:spPr>
          <a:xfrm>
            <a:off x="360892" y="2290106"/>
            <a:ext cx="36001" cy="78256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894" y="2490360"/>
            <a:ext cx="364510" cy="32400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36907" y="2398108"/>
            <a:ext cx="4626126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缺乏安全设施，风险极高</a:t>
            </a:r>
            <a:endParaRPr lang="en-US" sz="1386" dirty="0"/>
          </a:p>
        </p:txBody>
      </p:sp>
      <p:sp>
        <p:nvSpPr>
          <p:cNvPr id="16" name="Text 11"/>
          <p:cNvSpPr/>
          <p:nvPr/>
        </p:nvSpPr>
        <p:spPr>
          <a:xfrm>
            <a:off x="936907" y="2737867"/>
            <a:ext cx="3231654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未预留检修通道和防坠装置，高空作业风险高。</a:t>
            </a:r>
            <a:endParaRPr lang="en-US" sz="1197" dirty="0"/>
          </a:p>
        </p:txBody>
      </p:sp>
      <p:sp>
        <p:nvSpPr>
          <p:cNvPr id="17" name="Shape 12"/>
          <p:cNvSpPr/>
          <p:nvPr/>
        </p:nvSpPr>
        <p:spPr>
          <a:xfrm>
            <a:off x="360892" y="3180672"/>
            <a:ext cx="5310144" cy="7825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8" name="Shape 13"/>
          <p:cNvSpPr/>
          <p:nvPr/>
        </p:nvSpPr>
        <p:spPr>
          <a:xfrm>
            <a:off x="360892" y="3180672"/>
            <a:ext cx="36001" cy="78256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895" y="3380928"/>
            <a:ext cx="405011" cy="32400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36907" y="3288674"/>
            <a:ext cx="4626126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外表脏污，清洁难题</a:t>
            </a:r>
            <a:endParaRPr lang="en-US" sz="1386" dirty="0"/>
          </a:p>
        </p:txBody>
      </p:sp>
      <p:sp>
        <p:nvSpPr>
          <p:cNvPr id="21" name="Text 15"/>
          <p:cNvSpPr/>
          <p:nvPr/>
        </p:nvSpPr>
        <p:spPr>
          <a:xfrm>
            <a:off x="936907" y="3628434"/>
            <a:ext cx="3231654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顶部积水积灰严重，缺乏清洗通道，影响景观。</a:t>
            </a:r>
            <a:endParaRPr lang="en-US" sz="1197" dirty="0"/>
          </a:p>
        </p:txBody>
      </p:sp>
      <p:sp>
        <p:nvSpPr>
          <p:cNvPr id="22" name="Shape 16"/>
          <p:cNvSpPr/>
          <p:nvPr/>
        </p:nvSpPr>
        <p:spPr>
          <a:xfrm>
            <a:off x="5851041" y="1399537"/>
            <a:ext cx="5310144" cy="1538584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1166" y="2038063"/>
            <a:ext cx="810023" cy="1080029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5044" y="1584043"/>
            <a:ext cx="157505" cy="18000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242551" y="1543541"/>
            <a:ext cx="1905801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E3F2FD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上海地铁5号线维保改造</a:t>
            </a:r>
            <a:endParaRPr lang="en-US" sz="1260" dirty="0"/>
          </a:p>
        </p:txBody>
      </p:sp>
      <p:sp>
        <p:nvSpPr>
          <p:cNvPr id="26" name="Text 18"/>
          <p:cNvSpPr/>
          <p:nvPr/>
        </p:nvSpPr>
        <p:spPr>
          <a:xfrm>
            <a:off x="5995044" y="1894551"/>
            <a:ext cx="1489190" cy="5227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80000"/>
              </a:lnSpc>
            </a:pPr>
            <a:r>
              <a:rPr lang="en-US" sz="4158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3,600</a:t>
            </a:r>
            <a:endParaRPr lang="en-US" sz="4158" dirty="0"/>
          </a:p>
        </p:txBody>
      </p:sp>
      <p:sp>
        <p:nvSpPr>
          <p:cNvPr id="27" name="Text 19"/>
          <p:cNvSpPr/>
          <p:nvPr/>
        </p:nvSpPr>
        <p:spPr>
          <a:xfrm>
            <a:off x="7691589" y="2182558"/>
            <a:ext cx="538609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元/m²</a:t>
            </a:r>
            <a:endParaRPr lang="en-US" sz="1512" dirty="0"/>
          </a:p>
        </p:txBody>
      </p:sp>
      <p:sp>
        <p:nvSpPr>
          <p:cNvPr id="28" name="Text 20"/>
          <p:cNvSpPr/>
          <p:nvPr/>
        </p:nvSpPr>
        <p:spPr>
          <a:xfrm>
            <a:off x="5995044" y="2567320"/>
            <a:ext cx="2308324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E3F2F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造价高且工期长，严重影响运营。</a:t>
            </a:r>
            <a:endParaRPr lang="en-US" sz="1197" dirty="0"/>
          </a:p>
        </p:txBody>
      </p:sp>
      <p:sp>
        <p:nvSpPr>
          <p:cNvPr id="29" name="Shape 21"/>
          <p:cNvSpPr/>
          <p:nvPr/>
        </p:nvSpPr>
        <p:spPr>
          <a:xfrm>
            <a:off x="5851041" y="3046125"/>
            <a:ext cx="5310144" cy="1538584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1166" y="3684650"/>
            <a:ext cx="810023" cy="1080029"/>
          </a:xfrm>
          <a:prstGeom prst="rect">
            <a:avLst/>
          </a:prstGeom>
        </p:spPr>
      </p:pic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5044" y="3230630"/>
            <a:ext cx="157505" cy="180005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6242551" y="3190129"/>
            <a:ext cx="1795548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E3F2FD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深圳地铁维保 (直立式)</a:t>
            </a:r>
            <a:endParaRPr lang="en-US" sz="1260" dirty="0"/>
          </a:p>
        </p:txBody>
      </p:sp>
      <p:sp>
        <p:nvSpPr>
          <p:cNvPr id="33" name="Text 23"/>
          <p:cNvSpPr/>
          <p:nvPr/>
        </p:nvSpPr>
        <p:spPr>
          <a:xfrm>
            <a:off x="5995044" y="3541139"/>
            <a:ext cx="1489190" cy="5227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80000"/>
              </a:lnSpc>
            </a:pPr>
            <a:r>
              <a:rPr lang="en-US" sz="4158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1,000</a:t>
            </a:r>
            <a:endParaRPr lang="en-US" sz="4158" dirty="0"/>
          </a:p>
        </p:txBody>
      </p:sp>
      <p:sp>
        <p:nvSpPr>
          <p:cNvPr id="34" name="Text 24"/>
          <p:cNvSpPr/>
          <p:nvPr/>
        </p:nvSpPr>
        <p:spPr>
          <a:xfrm>
            <a:off x="7691589" y="3829146"/>
            <a:ext cx="538609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元/m²</a:t>
            </a:r>
            <a:endParaRPr lang="en-US" sz="1512" dirty="0"/>
          </a:p>
        </p:txBody>
      </p:sp>
      <p:sp>
        <p:nvSpPr>
          <p:cNvPr id="35" name="Text 25"/>
          <p:cNvSpPr/>
          <p:nvPr/>
        </p:nvSpPr>
        <p:spPr>
          <a:xfrm>
            <a:off x="5995045" y="4213906"/>
            <a:ext cx="1692771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E3F2F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更换立柱及安装造价高。</a:t>
            </a:r>
            <a:endParaRPr lang="en-US" sz="1197" dirty="0"/>
          </a:p>
        </p:txBody>
      </p:sp>
      <p:sp>
        <p:nvSpPr>
          <p:cNvPr id="36" name="Shape 26"/>
          <p:cNvSpPr/>
          <p:nvPr/>
        </p:nvSpPr>
        <p:spPr>
          <a:xfrm>
            <a:off x="5851041" y="4764715"/>
            <a:ext cx="5310144" cy="655190"/>
          </a:xfrm>
          <a:prstGeom prst="rect">
            <a:avLst/>
          </a:prstGeom>
          <a:solidFill>
            <a:srgbClr val="FFF3E0"/>
          </a:solidFill>
          <a:ln w="18288">
            <a:solidFill>
              <a:srgbClr val="CA8A04"/>
            </a:solidFill>
            <a:prstDash val="dash"/>
          </a:ln>
        </p:spPr>
        <p:txBody>
          <a:bodyPr/>
          <a:lstStyle/>
          <a:p>
            <a:endParaRPr sz="2142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82669" y="5025722"/>
            <a:ext cx="198006" cy="198006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6406323" y="4969470"/>
            <a:ext cx="3202800" cy="22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lang="en-US" sz="1386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核心洞察：既有线施工费用通常是新建的</a:t>
            </a:r>
            <a:endParaRPr lang="en-US" sz="1386" dirty="0"/>
          </a:p>
        </p:txBody>
      </p:sp>
      <p:sp>
        <p:nvSpPr>
          <p:cNvPr id="39" name="Text 28"/>
          <p:cNvSpPr/>
          <p:nvPr/>
        </p:nvSpPr>
        <p:spPr>
          <a:xfrm>
            <a:off x="9918785" y="4865967"/>
            <a:ext cx="828753" cy="32791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lang="en-US" sz="2016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5-10倍</a:t>
            </a:r>
            <a:endParaRPr lang="en-US" sz="2016" dirty="0"/>
          </a:p>
        </p:txBody>
      </p:sp>
      <p:sp>
        <p:nvSpPr>
          <p:cNvPr id="40" name="Text 29"/>
          <p:cNvSpPr/>
          <p:nvPr/>
        </p:nvSpPr>
        <p:spPr>
          <a:xfrm>
            <a:off x="10841586" y="4969470"/>
            <a:ext cx="177933" cy="22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lang="en-US" sz="1386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！</a:t>
            </a:r>
            <a:endParaRPr lang="en-US" sz="1386" dirty="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82" y="-1"/>
            <a:ext cx="15360031" cy="20736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42"/>
          </a:p>
        </p:txBody>
      </p:sp>
      <p:sp>
        <p:nvSpPr>
          <p:cNvPr id="3" name="TextBox 2"/>
          <p:cNvSpPr txBox="1"/>
          <p:nvPr/>
        </p:nvSpPr>
        <p:spPr>
          <a:xfrm>
            <a:off x="634499" y="403211"/>
            <a:ext cx="1976823" cy="3250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12" b="1">
                <a:solidFill>
                  <a:srgbClr val="1A3A6B"/>
                </a:solidFill>
                <a:latin typeface="Microsoft YaHei"/>
              </a:rPr>
              <a:t>中驰智能PPT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82887" y="403211"/>
            <a:ext cx="2085827" cy="3055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86" b="1">
                <a:solidFill>
                  <a:srgbClr val="CA8A04"/>
                </a:solidFill>
                <a:latin typeface="Microsoft YaHei"/>
              </a:rPr>
              <a:t>M1/M2 | 项目生成信息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7304" y="806422"/>
            <a:ext cx="2714205" cy="5964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76" b="1">
                <a:solidFill>
                  <a:srgbClr val="1A3A6B"/>
                </a:solidFill>
                <a:latin typeface="Microsoft YaHei"/>
              </a:rPr>
              <a:t>项目生成信息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807303" y="1555241"/>
            <a:ext cx="2304062" cy="6912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42"/>
          </a:p>
        </p:txBody>
      </p:sp>
      <p:sp>
        <p:nvSpPr>
          <p:cNvPr id="7" name="TextBox 6"/>
          <p:cNvSpPr txBox="1"/>
          <p:nvPr/>
        </p:nvSpPr>
        <p:spPr>
          <a:xfrm>
            <a:off x="1037710" y="1900851"/>
            <a:ext cx="3496022" cy="4025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16">
                <a:solidFill>
                  <a:srgbClr val="1F2937"/>
                </a:solidFill>
                <a:latin typeface="Microsoft YaHei"/>
              </a:rPr>
              <a:t>项目名称：{{project_name}}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7710" y="2534468"/>
            <a:ext cx="4058675" cy="4025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16">
                <a:solidFill>
                  <a:srgbClr val="1F2937"/>
                </a:solidFill>
                <a:latin typeface="Microsoft YaHei"/>
              </a:rPr>
              <a:t>项目所在地：{{project_location}}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710" y="3168085"/>
            <a:ext cx="3820277" cy="4025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16">
                <a:solidFill>
                  <a:srgbClr val="1F2937"/>
                </a:solidFill>
                <a:latin typeface="Microsoft YaHei"/>
              </a:rPr>
              <a:t>建设/业主单位：{{owner_unit}}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710" y="3801702"/>
            <a:ext cx="3098477" cy="4025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16">
                <a:solidFill>
                  <a:srgbClr val="1F2937"/>
                </a:solidFill>
                <a:latin typeface="Microsoft YaHei"/>
              </a:rPr>
              <a:t>产品线：{{product_line}}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710" y="4435319"/>
            <a:ext cx="3071675" cy="4025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16">
                <a:solidFill>
                  <a:srgbClr val="1F2937"/>
                </a:solidFill>
                <a:latin typeface="Microsoft YaHei"/>
              </a:rPr>
              <a:t>线路名称：{{line_name}}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710" y="5068937"/>
            <a:ext cx="3788858" cy="4025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16">
                <a:solidFill>
                  <a:srgbClr val="1F2937"/>
                </a:solidFill>
                <a:latin typeface="Microsoft YaHei"/>
              </a:rPr>
              <a:t>现场痛点：{{site_pain_points}}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7710" y="5702554"/>
            <a:ext cx="4515980" cy="4025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16">
                <a:solidFill>
                  <a:srgbClr val="1F2937"/>
                </a:solidFill>
                <a:latin typeface="Microsoft YaHei"/>
              </a:rPr>
              <a:t>施工场景：{{construction_scenario}}</a:t>
            </a:r>
          </a:p>
        </p:txBody>
      </p:sp>
    </p:spTree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401</Words>
  <Application>Microsoft Office PowerPoint</Application>
  <PresentationFormat>自定义</PresentationFormat>
  <Paragraphs>117</Paragraphs>
  <Slides>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0" baseType="lpstr">
      <vt:lpstr>Hei Regular</vt:lpstr>
      <vt:lpstr>Heiti SC Medium</vt:lpstr>
      <vt:lpstr>Noto Sans SC</vt:lpstr>
      <vt:lpstr>Noto Sans SC Black</vt:lpstr>
      <vt:lpstr>Noto Sans SC Bold</vt:lpstr>
      <vt:lpstr>Noto Sans SC Medium</vt:lpstr>
      <vt:lpstr>黑体</vt:lpstr>
      <vt:lpstr>Microsoft YaHei</vt:lpstr>
      <vt:lpstr>微软雅黑 Light</vt:lpstr>
      <vt:lpstr>Arial</vt:lpstr>
      <vt:lpstr>Calibri</vt:lpstr>
      <vt:lpstr>Palatino Linotype</vt:lpstr>
      <vt:lpstr>元素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206</cp:revision>
  <cp:lastPrinted>2024-05-27T04:20:00Z</cp:lastPrinted>
  <dcterms:created xsi:type="dcterms:W3CDTF">2024-05-27T04:50:00Z</dcterms:created>
  <dcterms:modified xsi:type="dcterms:W3CDTF">2026-05-26T06:22:00Z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DE9C49FFB710414A91E48644DEB2DA1B_13</vt:lpwstr>
  </property>
</Properties>
</file>