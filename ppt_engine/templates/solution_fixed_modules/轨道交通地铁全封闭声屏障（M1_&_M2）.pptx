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72425" y="357188"/>
            <a:ext cx="7429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spc="2" kern="0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中驰股份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85813" y="357188"/>
            <a:ext cx="230564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M1：行业技术标准与规范现状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28625" y="714375"/>
            <a:ext cx="8286750" cy="289322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轨交声屏障面临的“标准缺失”挑战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8625" y="1218009"/>
            <a:ext cx="3714750" cy="1171575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Shape 5"/>
          <p:cNvSpPr/>
          <p:nvPr/>
        </p:nvSpPr>
        <p:spPr>
          <a:xfrm>
            <a:off x="428625" y="1218009"/>
            <a:ext cx="28575" cy="117157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6"/>
          <p:cNvSpPr/>
          <p:nvPr/>
        </p:nvSpPr>
        <p:spPr>
          <a:xfrm>
            <a:off x="607219" y="1396603"/>
            <a:ext cx="335756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666666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国家标准 (公路适用)</a:t>
            </a:r>
            <a:endParaRPr lang="en-US" sz="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219" y="1667173"/>
            <a:ext cx="137517" cy="15716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16173" y="1632347"/>
            <a:ext cx="172878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《声屏障结构技术标准》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7219" y="1966317"/>
            <a:ext cx="1234083" cy="244673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3" name="Text 9"/>
          <p:cNvSpPr/>
          <p:nvPr/>
        </p:nvSpPr>
        <p:spPr>
          <a:xfrm>
            <a:off x="607219" y="1966317"/>
            <a:ext cx="1234083" cy="244673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GB/T 51335-2018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8625" y="2532459"/>
            <a:ext cx="3714750" cy="1171575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5" name="Shape 11"/>
          <p:cNvSpPr/>
          <p:nvPr/>
        </p:nvSpPr>
        <p:spPr>
          <a:xfrm>
            <a:off x="428625" y="2532459"/>
            <a:ext cx="28575" cy="117157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2"/>
          <p:cNvSpPr/>
          <p:nvPr/>
        </p:nvSpPr>
        <p:spPr>
          <a:xfrm>
            <a:off x="607219" y="2711053"/>
            <a:ext cx="335756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666666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行业标准 (铁路适用)</a:t>
            </a:r>
            <a:endParaRPr lang="en-US" sz="8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219" y="2981623"/>
            <a:ext cx="137517" cy="15716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6173" y="2946797"/>
            <a:ext cx="2043113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《铁路声屏障工程设计规范》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07219" y="3280767"/>
            <a:ext cx="1091208" cy="244673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Text 15"/>
          <p:cNvSpPr/>
          <p:nvPr/>
        </p:nvSpPr>
        <p:spPr>
          <a:xfrm>
            <a:off x="607219" y="3280767"/>
            <a:ext cx="1091208" cy="244673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TB 10505-2019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428625" y="3846909"/>
            <a:ext cx="3714750" cy="1171575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22" name="Shape 17"/>
          <p:cNvSpPr/>
          <p:nvPr/>
        </p:nvSpPr>
        <p:spPr>
          <a:xfrm>
            <a:off x="428625" y="3846909"/>
            <a:ext cx="28575" cy="117157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Text 18"/>
          <p:cNvSpPr/>
          <p:nvPr/>
        </p:nvSpPr>
        <p:spPr>
          <a:xfrm>
            <a:off x="607219" y="4025503"/>
            <a:ext cx="335756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666666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行业标准 (铁路构件)</a:t>
            </a:r>
            <a:endParaRPr lang="en-US" sz="8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219" y="4296073"/>
            <a:ext cx="176808" cy="15716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55464" y="4261247"/>
            <a:ext cx="172878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《铁路声屏障声学构件》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07219" y="4595217"/>
            <a:ext cx="1146572" cy="244673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7" name="Text 21"/>
          <p:cNvSpPr/>
          <p:nvPr/>
        </p:nvSpPr>
        <p:spPr>
          <a:xfrm>
            <a:off x="607219" y="4595217"/>
            <a:ext cx="1146572" cy="244673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TB/T 3122-2019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429125" y="1218009"/>
            <a:ext cx="4286250" cy="3825478"/>
          </a:xfrm>
          <a:prstGeom prst="rect">
            <a:avLst/>
          </a:prstGeom>
          <a:solidFill>
            <a:srgbClr val="1A3A6B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6688" y="3757613"/>
            <a:ext cx="1071563" cy="1428750"/>
          </a:xfrm>
          <a:prstGeom prst="rect">
            <a:avLst/>
          </a:prstGeom>
        </p:spPr>
      </p:pic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4875" y="1930598"/>
            <a:ext cx="171450" cy="2286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4993481" y="1879699"/>
            <a:ext cx="1371600" cy="330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8A04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核心行业洞察</a:t>
            </a:r>
            <a:endParaRPr lang="en-US" sz="1600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4875" y="2501205"/>
            <a:ext cx="171450" cy="17145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4993481" y="2424410"/>
            <a:ext cx="3436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国内轨道交通声屏障标准尚不完善，目前</a:t>
            </a:r>
            <a:r>
              <a:rPr lang="en-US" sz="10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无针对性、系</a:t>
            </a:r>
            <a:r>
              <a:rPr lang="en-US" sz="10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统性的国家或行业专门标准</a:t>
            </a: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05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14875" y="3136999"/>
            <a:ext cx="171450" cy="17145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4993481" y="3060204"/>
            <a:ext cx="3436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轨交环境具有极强的特殊性（如</a:t>
            </a:r>
            <a:r>
              <a:rPr lang="en-US" sz="10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列车脉动力大、运行频</a:t>
            </a:r>
            <a:r>
              <a:rPr lang="en-US" sz="10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次高、环境腐蚀性强</a:t>
            </a: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）。</a:t>
            </a:r>
            <a:endParaRPr lang="en-US" sz="105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4875" y="3772793"/>
            <a:ext cx="171450" cy="17145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4993481" y="3695998"/>
            <a:ext cx="3436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直接套用现有的公路或铁路标准，往往</a:t>
            </a:r>
            <a:r>
              <a:rPr lang="en-US" sz="10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难以满足长期的</a:t>
            </a:r>
            <a:r>
              <a:rPr lang="en-US" sz="10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结构安全与维保需求</a:t>
            </a: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，亟需专业厂商提供定制化、高标</a:t>
            </a: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准的技术方案。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72425" y="357188"/>
            <a:ext cx="7429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spc="2" kern="0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中驰股份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85813" y="357188"/>
            <a:ext cx="264854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M1：主流产品型式与技术路线分类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28625" y="714375"/>
            <a:ext cx="8286750" cy="289322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全国重点城市轨交全封闭声屏障材料技术路线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8625" y="1146572"/>
            <a:ext cx="1975247" cy="3854053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28625" y="1146572"/>
            <a:ext cx="1975247" cy="625078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5" y="1380530"/>
            <a:ext cx="157163" cy="15716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7238" y="1232297"/>
            <a:ext cx="153233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金属吸声屏体 + 亚克力板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28638" y="1871663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1328738" y="1871663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3" name="Text 9"/>
          <p:cNvSpPr/>
          <p:nvPr/>
        </p:nvSpPr>
        <p:spPr>
          <a:xfrm>
            <a:off x="1328738" y="1871663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广州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1728788" y="1871663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5" name="Text 11"/>
          <p:cNvSpPr/>
          <p:nvPr/>
        </p:nvSpPr>
        <p:spPr>
          <a:xfrm>
            <a:off x="1728788" y="1871663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深圳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1328738" y="2140251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7" name="Text 13"/>
          <p:cNvSpPr/>
          <p:nvPr/>
        </p:nvSpPr>
        <p:spPr>
          <a:xfrm>
            <a:off x="1328738" y="2140251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温州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1728788" y="2140251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9" name="Text 15"/>
          <p:cNvSpPr/>
          <p:nvPr/>
        </p:nvSpPr>
        <p:spPr>
          <a:xfrm>
            <a:off x="1728788" y="2140251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西安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528638" y="2480277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1328738" y="2480277"/>
            <a:ext cx="975122" cy="10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侧部透明多用亚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克力，顶部配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PC。</a:t>
            </a:r>
            <a:r>
              <a:rPr lang="en-US" sz="900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优势：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抗冲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击，适合沿海及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台风区。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2532459" y="1146572"/>
            <a:ext cx="1975247" cy="3854053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532459" y="1146572"/>
            <a:ext cx="1975247" cy="625078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6759" y="1380530"/>
            <a:ext cx="157163" cy="157163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861072" y="1232297"/>
            <a:ext cx="153233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金属吸声屏体 + 夹胶玻璃 + PC板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2632472" y="1871663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3432572" y="1871663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8" name="Text 23"/>
          <p:cNvSpPr/>
          <p:nvPr/>
        </p:nvSpPr>
        <p:spPr>
          <a:xfrm>
            <a:off x="3432572" y="1871663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宁波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3832622" y="1871663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0" name="Text 25"/>
          <p:cNvSpPr/>
          <p:nvPr/>
        </p:nvSpPr>
        <p:spPr>
          <a:xfrm>
            <a:off x="3832622" y="1871663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北京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3432572" y="2140251"/>
            <a:ext cx="650081" cy="22572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2" name="Text 27"/>
          <p:cNvSpPr/>
          <p:nvPr/>
        </p:nvSpPr>
        <p:spPr>
          <a:xfrm>
            <a:off x="3432572" y="2140251"/>
            <a:ext cx="650081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重庆(环线)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3432572" y="2408839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4" name="Text 29"/>
          <p:cNvSpPr/>
          <p:nvPr/>
        </p:nvSpPr>
        <p:spPr>
          <a:xfrm>
            <a:off x="3432572" y="2408839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济南</a:t>
            </a:r>
            <a:endParaRPr lang="en-US" sz="850" dirty="0"/>
          </a:p>
        </p:txBody>
      </p:sp>
      <p:sp>
        <p:nvSpPr>
          <p:cNvPr id="35" name="Text 30"/>
          <p:cNvSpPr/>
          <p:nvPr/>
        </p:nvSpPr>
        <p:spPr>
          <a:xfrm>
            <a:off x="2632472" y="2748865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3432572" y="2748865"/>
            <a:ext cx="975122" cy="10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城市标准配置，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侧面多为夹胶玻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璃。</a:t>
            </a:r>
            <a:r>
              <a:rPr lang="en-US" sz="900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优势：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兼顾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吸声与采光，耐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久性好。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4636294" y="1146572"/>
            <a:ext cx="1975247" cy="3854053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636294" y="1146572"/>
            <a:ext cx="1975247" cy="398264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594" y="1267123"/>
            <a:ext cx="176808" cy="157163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4984552" y="1232297"/>
            <a:ext cx="1148358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全PC板 (透明式)</a:t>
            </a:r>
            <a:endParaRPr lang="en-US" sz="1100" dirty="0"/>
          </a:p>
        </p:txBody>
      </p:sp>
      <p:sp>
        <p:nvSpPr>
          <p:cNvPr id="41" name="Text 35"/>
          <p:cNvSpPr/>
          <p:nvPr/>
        </p:nvSpPr>
        <p:spPr>
          <a:xfrm>
            <a:off x="4736306" y="1644848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800" dirty="0"/>
          </a:p>
        </p:txBody>
      </p:sp>
      <p:sp>
        <p:nvSpPr>
          <p:cNvPr id="42" name="Shape 36"/>
          <p:cNvSpPr/>
          <p:nvPr/>
        </p:nvSpPr>
        <p:spPr>
          <a:xfrm>
            <a:off x="5536406" y="1644848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43" name="Text 37"/>
          <p:cNvSpPr/>
          <p:nvPr/>
        </p:nvSpPr>
        <p:spPr>
          <a:xfrm>
            <a:off x="5536406" y="1644848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合肥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5536406" y="1913437"/>
            <a:ext cx="650081" cy="22572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45" name="Text 39"/>
          <p:cNvSpPr/>
          <p:nvPr/>
        </p:nvSpPr>
        <p:spPr>
          <a:xfrm>
            <a:off x="5536406" y="1913437"/>
            <a:ext cx="650081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武汉(部分)</a:t>
            </a:r>
            <a:endParaRPr lang="en-US" sz="850" dirty="0"/>
          </a:p>
        </p:txBody>
      </p:sp>
      <p:sp>
        <p:nvSpPr>
          <p:cNvPr id="46" name="Text 40"/>
          <p:cNvSpPr/>
          <p:nvPr/>
        </p:nvSpPr>
        <p:spPr>
          <a:xfrm>
            <a:off x="4736306" y="2253462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800" dirty="0"/>
          </a:p>
        </p:txBody>
      </p:sp>
      <p:sp>
        <p:nvSpPr>
          <p:cNvPr id="47" name="Text 41"/>
          <p:cNvSpPr/>
          <p:nvPr/>
        </p:nvSpPr>
        <p:spPr>
          <a:xfrm>
            <a:off x="5536406" y="2253462"/>
            <a:ext cx="975122" cy="10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用于突出景观的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路段。</a:t>
            </a:r>
            <a:r>
              <a:rPr lang="en-US" sz="900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优势：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透光；</a:t>
            </a:r>
            <a:r>
              <a:rPr lang="en-US" sz="900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劣势：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吸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声有限、易老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化。</a:t>
            </a:r>
            <a:endParaRPr lang="en-US" sz="950" dirty="0"/>
          </a:p>
        </p:txBody>
      </p:sp>
      <p:sp>
        <p:nvSpPr>
          <p:cNvPr id="48" name="Shape 42"/>
          <p:cNvSpPr/>
          <p:nvPr/>
        </p:nvSpPr>
        <p:spPr>
          <a:xfrm>
            <a:off x="6740128" y="1146572"/>
            <a:ext cx="1975247" cy="3854053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6740128" y="1146572"/>
            <a:ext cx="1975247" cy="625078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5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4428" y="1380530"/>
            <a:ext cx="157163" cy="157163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7068741" y="1232297"/>
            <a:ext cx="153233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金属吸声屏体 + 亚克力 + 消声百叶</a:t>
            </a:r>
            <a:endParaRPr lang="en-US" sz="1100" dirty="0"/>
          </a:p>
        </p:txBody>
      </p:sp>
      <p:sp>
        <p:nvSpPr>
          <p:cNvPr id="52" name="Text 45"/>
          <p:cNvSpPr/>
          <p:nvPr/>
        </p:nvSpPr>
        <p:spPr>
          <a:xfrm>
            <a:off x="6840141" y="1871663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800" dirty="0"/>
          </a:p>
        </p:txBody>
      </p:sp>
      <p:sp>
        <p:nvSpPr>
          <p:cNvPr id="53" name="Shape 46"/>
          <p:cNvSpPr/>
          <p:nvPr/>
        </p:nvSpPr>
        <p:spPr>
          <a:xfrm>
            <a:off x="7640241" y="1871663"/>
            <a:ext cx="714375" cy="225726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54" name="Text 47"/>
          <p:cNvSpPr/>
          <p:nvPr/>
        </p:nvSpPr>
        <p:spPr>
          <a:xfrm>
            <a:off x="7640241" y="1871663"/>
            <a:ext cx="714375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重庆(4号线)</a:t>
            </a:r>
            <a:endParaRPr lang="en-US" sz="850" dirty="0"/>
          </a:p>
        </p:txBody>
      </p:sp>
      <p:sp>
        <p:nvSpPr>
          <p:cNvPr id="55" name="Text 48"/>
          <p:cNvSpPr/>
          <p:nvPr/>
        </p:nvSpPr>
        <p:spPr>
          <a:xfrm>
            <a:off x="6840141" y="2211688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800" dirty="0"/>
          </a:p>
        </p:txBody>
      </p:sp>
      <p:sp>
        <p:nvSpPr>
          <p:cNvPr id="56" name="Text 49"/>
          <p:cNvSpPr/>
          <p:nvPr/>
        </p:nvSpPr>
        <p:spPr>
          <a:xfrm>
            <a:off x="7640241" y="2211688"/>
            <a:ext cx="975122" cy="822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需加强通风散热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的高架段。</a:t>
            </a:r>
            <a:r>
              <a:rPr lang="en-US" sz="900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</a:t>
            </a:r>
            <a:r>
              <a:rPr lang="en-US" sz="900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势：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提升通风与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散热。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72425" y="357188"/>
            <a:ext cx="7429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spc="2" kern="0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中驰股份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85813" y="357188"/>
            <a:ext cx="2555677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M2：行业痛点剖析 — 结构不安全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28625" y="714375"/>
            <a:ext cx="8286750" cy="289322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轨交列车高速运行脉动力引发的安全红线挑战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8625" y="1146572"/>
            <a:ext cx="2666991" cy="3925491"/>
          </a:xfrm>
          <a:prstGeom prst="rect">
            <a:avLst/>
          </a:prstGeom>
          <a:solidFill>
            <a:srgbClr val="FFEBEE"/>
          </a:solidFill>
          <a:ln w="9144">
            <a:solidFill>
              <a:srgbClr val="FFCDD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28625" y="1146572"/>
            <a:ext cx="2652675" cy="42863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9" name="Shape 6"/>
          <p:cNvSpPr/>
          <p:nvPr/>
        </p:nvSpPr>
        <p:spPr>
          <a:xfrm>
            <a:off x="428625" y="1146572"/>
            <a:ext cx="2666991" cy="1143000"/>
          </a:xfrm>
          <a:prstGeom prst="rect">
            <a:avLst/>
          </a:prstGeom>
          <a:solidFill>
            <a:srgbClr val="B71C1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919" y="1432322"/>
            <a:ext cx="714375" cy="5715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331207" y="2073473"/>
            <a:ext cx="64293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FFFFFF">
                    <a:alpha val="60000"/>
                  </a:srgbClr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现场实拍示意</a:t>
            </a:r>
            <a:endParaRPr lang="en-US" sz="700" dirty="0"/>
          </a:p>
        </p:txBody>
      </p:sp>
      <p:sp>
        <p:nvSpPr>
          <p:cNvPr id="12" name="Text 8"/>
          <p:cNvSpPr/>
          <p:nvPr/>
        </p:nvSpPr>
        <p:spPr>
          <a:xfrm>
            <a:off x="557213" y="2418159"/>
            <a:ext cx="2409816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01 紧固件及连接件失效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57213" y="2752130"/>
            <a:ext cx="2409816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传统声屏障大量采用角钢、螺栓、铆钉等连接方式，在长期地铁振动下极易发生松动失效。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57213" y="3964781"/>
            <a:ext cx="2409816" cy="2786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557213" y="3964781"/>
            <a:ext cx="21431" cy="278606"/>
          </a:xfrm>
          <a:prstGeom prst="rect">
            <a:avLst/>
          </a:prstGeom>
          <a:solidFill>
            <a:srgbClr val="D32F2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8" y="4036219"/>
            <a:ext cx="114300" cy="1143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8675" y="4021931"/>
            <a:ext cx="10287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紧固件螺栓松动脱落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557213" y="4314825"/>
            <a:ext cx="2409816" cy="2786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4"/>
          <p:cNvSpPr/>
          <p:nvPr/>
        </p:nvSpPr>
        <p:spPr>
          <a:xfrm>
            <a:off x="557213" y="4314825"/>
            <a:ext cx="21431" cy="278606"/>
          </a:xfrm>
          <a:prstGeom prst="rect">
            <a:avLst/>
          </a:prstGeom>
          <a:solidFill>
            <a:srgbClr val="D32F2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4386263"/>
            <a:ext cx="114300" cy="1143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28675" y="4371975"/>
            <a:ext cx="9144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限位板弹簧卡失效</a:t>
            </a:r>
            <a:endParaRPr lang="en-US" sz="850" dirty="0"/>
          </a:p>
        </p:txBody>
      </p:sp>
      <p:sp>
        <p:nvSpPr>
          <p:cNvPr id="22" name="Shape 16"/>
          <p:cNvSpPr/>
          <p:nvPr/>
        </p:nvSpPr>
        <p:spPr>
          <a:xfrm>
            <a:off x="557213" y="4664869"/>
            <a:ext cx="2409816" cy="2786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17"/>
          <p:cNvSpPr/>
          <p:nvPr/>
        </p:nvSpPr>
        <p:spPr>
          <a:xfrm>
            <a:off x="557213" y="4664869"/>
            <a:ext cx="21431" cy="278606"/>
          </a:xfrm>
          <a:prstGeom prst="rect">
            <a:avLst/>
          </a:prstGeom>
          <a:solidFill>
            <a:srgbClr val="D32F2F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38" y="4736306"/>
            <a:ext cx="114300" cy="1143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28675" y="4722019"/>
            <a:ext cx="9144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固定角钢疲劳脱落</a:t>
            </a:r>
            <a:endParaRPr lang="en-US" sz="850" dirty="0"/>
          </a:p>
        </p:txBody>
      </p:sp>
      <p:sp>
        <p:nvSpPr>
          <p:cNvPr id="26" name="Shape 19"/>
          <p:cNvSpPr/>
          <p:nvPr/>
        </p:nvSpPr>
        <p:spPr>
          <a:xfrm>
            <a:off x="3238491" y="1146572"/>
            <a:ext cx="2666991" cy="3925491"/>
          </a:xfrm>
          <a:prstGeom prst="rect">
            <a:avLst/>
          </a:prstGeom>
          <a:solidFill>
            <a:srgbClr val="FFEBEE"/>
          </a:solidFill>
          <a:ln w="9144">
            <a:solidFill>
              <a:srgbClr val="FFCDD2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3238491" y="1146572"/>
            <a:ext cx="2652675" cy="42863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28" name="Shape 21"/>
          <p:cNvSpPr/>
          <p:nvPr/>
        </p:nvSpPr>
        <p:spPr>
          <a:xfrm>
            <a:off x="3238491" y="1146572"/>
            <a:ext cx="2666991" cy="1143000"/>
          </a:xfrm>
          <a:prstGeom prst="rect">
            <a:avLst/>
          </a:prstGeom>
          <a:solidFill>
            <a:srgbClr val="B71C1C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0503" y="1432322"/>
            <a:ext cx="642938" cy="57150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141072" y="2073473"/>
            <a:ext cx="64293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FFFFFF">
                    <a:alpha val="60000"/>
                  </a:srgbClr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现场实拍示意</a:t>
            </a:r>
            <a:endParaRPr lang="en-US" sz="700" dirty="0"/>
          </a:p>
        </p:txBody>
      </p:sp>
      <p:sp>
        <p:nvSpPr>
          <p:cNvPr id="31" name="Text 23"/>
          <p:cNvSpPr/>
          <p:nvPr/>
        </p:nvSpPr>
        <p:spPr>
          <a:xfrm>
            <a:off x="3367078" y="2418159"/>
            <a:ext cx="2409816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02 声屏障屏体整体脱落</a:t>
            </a:r>
            <a:endParaRPr lang="en-US" sz="1200" dirty="0"/>
          </a:p>
        </p:txBody>
      </p:sp>
      <p:sp>
        <p:nvSpPr>
          <p:cNvPr id="32" name="Text 24"/>
          <p:cNvSpPr/>
          <p:nvPr/>
        </p:nvSpPr>
        <p:spPr>
          <a:xfrm>
            <a:off x="3367078" y="2752130"/>
            <a:ext cx="2409816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“小板装大尺寸”设计，在热胀冷缩和脉动力交替作用下，板材极易掉落，威胁行车安全。</a:t>
            </a:r>
            <a:endParaRPr lang="en-US" sz="950" dirty="0"/>
          </a:p>
        </p:txBody>
      </p:sp>
      <p:sp>
        <p:nvSpPr>
          <p:cNvPr id="33" name="Shape 25"/>
          <p:cNvSpPr/>
          <p:nvPr/>
        </p:nvSpPr>
        <p:spPr>
          <a:xfrm>
            <a:off x="3367078" y="3964781"/>
            <a:ext cx="2409816" cy="2786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26"/>
          <p:cNvSpPr/>
          <p:nvPr/>
        </p:nvSpPr>
        <p:spPr>
          <a:xfrm>
            <a:off x="3367078" y="3964781"/>
            <a:ext cx="21431" cy="278606"/>
          </a:xfrm>
          <a:prstGeom prst="rect">
            <a:avLst/>
          </a:prstGeom>
          <a:solidFill>
            <a:srgbClr val="D32F2F"/>
          </a:solidFill>
          <a:ln/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2803" y="4036219"/>
            <a:ext cx="114300" cy="11430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3638541" y="4021931"/>
            <a:ext cx="9144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侧部金属屏体脱落</a:t>
            </a:r>
            <a:endParaRPr lang="en-US" sz="850" dirty="0"/>
          </a:p>
        </p:txBody>
      </p:sp>
      <p:sp>
        <p:nvSpPr>
          <p:cNvPr id="37" name="Shape 28"/>
          <p:cNvSpPr/>
          <p:nvPr/>
        </p:nvSpPr>
        <p:spPr>
          <a:xfrm>
            <a:off x="3367078" y="4314825"/>
            <a:ext cx="2409816" cy="2786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Shape 29"/>
          <p:cNvSpPr/>
          <p:nvPr/>
        </p:nvSpPr>
        <p:spPr>
          <a:xfrm>
            <a:off x="3367078" y="4314825"/>
            <a:ext cx="21431" cy="278606"/>
          </a:xfrm>
          <a:prstGeom prst="rect">
            <a:avLst/>
          </a:prstGeom>
          <a:solidFill>
            <a:srgbClr val="D32F2F"/>
          </a:solidFill>
          <a:ln/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2803" y="4386263"/>
            <a:ext cx="114300" cy="114300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3638541" y="4371975"/>
            <a:ext cx="946547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顶部PC板整体脱落</a:t>
            </a:r>
            <a:endParaRPr lang="en-US" sz="850" dirty="0"/>
          </a:p>
        </p:txBody>
      </p:sp>
      <p:sp>
        <p:nvSpPr>
          <p:cNvPr id="41" name="Shape 31"/>
          <p:cNvSpPr/>
          <p:nvPr/>
        </p:nvSpPr>
        <p:spPr>
          <a:xfrm>
            <a:off x="3367078" y="4664869"/>
            <a:ext cx="2409816" cy="2786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32"/>
          <p:cNvSpPr/>
          <p:nvPr/>
        </p:nvSpPr>
        <p:spPr>
          <a:xfrm>
            <a:off x="3367078" y="4664869"/>
            <a:ext cx="21431" cy="278606"/>
          </a:xfrm>
          <a:prstGeom prst="rect">
            <a:avLst/>
          </a:prstGeom>
          <a:solidFill>
            <a:srgbClr val="D32F2F"/>
          </a:solidFill>
          <a:ln/>
        </p:spPr>
      </p:sp>
      <p:pic>
        <p:nvPicPr>
          <p:cNvPr id="4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2803" y="4736306"/>
            <a:ext cx="114300" cy="114300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3638541" y="4722019"/>
            <a:ext cx="10287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导致顶部大面积开口</a:t>
            </a:r>
            <a:endParaRPr lang="en-US" sz="850" dirty="0"/>
          </a:p>
        </p:txBody>
      </p:sp>
      <p:sp>
        <p:nvSpPr>
          <p:cNvPr id="45" name="Shape 34"/>
          <p:cNvSpPr/>
          <p:nvPr/>
        </p:nvSpPr>
        <p:spPr>
          <a:xfrm>
            <a:off x="6048356" y="1146572"/>
            <a:ext cx="2667019" cy="3925491"/>
          </a:xfrm>
          <a:prstGeom prst="rect">
            <a:avLst/>
          </a:prstGeom>
          <a:solidFill>
            <a:srgbClr val="FFEBEE"/>
          </a:solidFill>
          <a:ln w="9144">
            <a:solidFill>
              <a:srgbClr val="FFCDD2"/>
            </a:solidFill>
            <a:prstDash val="solid"/>
          </a:ln>
        </p:spPr>
      </p:sp>
      <p:sp>
        <p:nvSpPr>
          <p:cNvPr id="46" name="Shape 35"/>
          <p:cNvSpPr/>
          <p:nvPr/>
        </p:nvSpPr>
        <p:spPr>
          <a:xfrm>
            <a:off x="6048356" y="1146572"/>
            <a:ext cx="2652731" cy="42863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47" name="Shape 36"/>
          <p:cNvSpPr/>
          <p:nvPr/>
        </p:nvSpPr>
        <p:spPr>
          <a:xfrm>
            <a:off x="6048356" y="1146572"/>
            <a:ext cx="2667019" cy="1143000"/>
          </a:xfrm>
          <a:prstGeom prst="rect">
            <a:avLst/>
          </a:prstGeom>
          <a:solidFill>
            <a:srgbClr val="B71C1C"/>
          </a:solidFill>
          <a:ln/>
        </p:spPr>
      </p:sp>
      <p:pic>
        <p:nvPicPr>
          <p:cNvPr id="4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96116" y="1432322"/>
            <a:ext cx="571500" cy="571500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950994" y="2073473"/>
            <a:ext cx="64293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FFFFFF">
                    <a:alpha val="60000"/>
                  </a:srgbClr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现场实拍示意</a:t>
            </a:r>
            <a:endParaRPr lang="en-US" sz="700" dirty="0"/>
          </a:p>
        </p:txBody>
      </p:sp>
      <p:sp>
        <p:nvSpPr>
          <p:cNvPr id="50" name="Text 38"/>
          <p:cNvSpPr/>
          <p:nvPr/>
        </p:nvSpPr>
        <p:spPr>
          <a:xfrm>
            <a:off x="6176944" y="2418159"/>
            <a:ext cx="2409844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03 屏体板材破损及密封失效</a:t>
            </a:r>
            <a:endParaRPr lang="en-US" sz="1200" dirty="0"/>
          </a:p>
        </p:txBody>
      </p:sp>
      <p:sp>
        <p:nvSpPr>
          <p:cNvPr id="51" name="Text 39"/>
          <p:cNvSpPr/>
          <p:nvPr/>
        </p:nvSpPr>
        <p:spPr>
          <a:xfrm>
            <a:off x="6176944" y="2752130"/>
            <a:ext cx="2409844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材料老化及外力冲击导致密封结构破坏，直接引发漏声、漏水等功能性失效。</a:t>
            </a:r>
            <a:endParaRPr lang="en-US" sz="950" dirty="0"/>
          </a:p>
        </p:txBody>
      </p:sp>
      <p:sp>
        <p:nvSpPr>
          <p:cNvPr id="52" name="Shape 40"/>
          <p:cNvSpPr/>
          <p:nvPr/>
        </p:nvSpPr>
        <p:spPr>
          <a:xfrm>
            <a:off x="6176944" y="3964781"/>
            <a:ext cx="2409844" cy="2786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41"/>
          <p:cNvSpPr/>
          <p:nvPr/>
        </p:nvSpPr>
        <p:spPr>
          <a:xfrm>
            <a:off x="6176944" y="3964781"/>
            <a:ext cx="21431" cy="278606"/>
          </a:xfrm>
          <a:prstGeom prst="rect">
            <a:avLst/>
          </a:prstGeom>
          <a:solidFill>
            <a:srgbClr val="D32F2F"/>
          </a:solidFill>
          <a:ln/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62669" y="4036219"/>
            <a:ext cx="142875" cy="114300"/>
          </a:xfrm>
          <a:prstGeom prst="rect">
            <a:avLst/>
          </a:prstGeom>
        </p:spPr>
      </p:pic>
      <p:sp>
        <p:nvSpPr>
          <p:cNvPr id="55" name="Text 42"/>
          <p:cNvSpPr/>
          <p:nvPr/>
        </p:nvSpPr>
        <p:spPr>
          <a:xfrm>
            <a:off x="6476981" y="4021931"/>
            <a:ext cx="8001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橡胶垫老化脱出</a:t>
            </a:r>
            <a:endParaRPr lang="en-US" sz="850" dirty="0"/>
          </a:p>
        </p:txBody>
      </p:sp>
      <p:sp>
        <p:nvSpPr>
          <p:cNvPr id="56" name="Shape 43"/>
          <p:cNvSpPr/>
          <p:nvPr/>
        </p:nvSpPr>
        <p:spPr>
          <a:xfrm>
            <a:off x="6176944" y="4314825"/>
            <a:ext cx="2409844" cy="2786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hape 44"/>
          <p:cNvSpPr/>
          <p:nvPr/>
        </p:nvSpPr>
        <p:spPr>
          <a:xfrm>
            <a:off x="6176944" y="4314825"/>
            <a:ext cx="21431" cy="278606"/>
          </a:xfrm>
          <a:prstGeom prst="rect">
            <a:avLst/>
          </a:prstGeom>
          <a:solidFill>
            <a:srgbClr val="D32F2F"/>
          </a:solidFill>
          <a:ln/>
        </p:spPr>
      </p:sp>
      <p:pic>
        <p:nvPicPr>
          <p:cNvPr id="5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2669" y="4386263"/>
            <a:ext cx="142875" cy="114300"/>
          </a:xfrm>
          <a:prstGeom prst="rect">
            <a:avLst/>
          </a:prstGeom>
        </p:spPr>
      </p:pic>
      <p:sp>
        <p:nvSpPr>
          <p:cNvPr id="59" name="Text 45"/>
          <p:cNvSpPr/>
          <p:nvPr/>
        </p:nvSpPr>
        <p:spPr>
          <a:xfrm>
            <a:off x="6476981" y="4371975"/>
            <a:ext cx="946547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PC板热胀冷缩开裂</a:t>
            </a:r>
            <a:endParaRPr lang="en-US" sz="850" dirty="0"/>
          </a:p>
        </p:txBody>
      </p:sp>
      <p:sp>
        <p:nvSpPr>
          <p:cNvPr id="60" name="Shape 46"/>
          <p:cNvSpPr/>
          <p:nvPr/>
        </p:nvSpPr>
        <p:spPr>
          <a:xfrm>
            <a:off x="6176944" y="4664869"/>
            <a:ext cx="2409844" cy="2786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47"/>
          <p:cNvSpPr/>
          <p:nvPr/>
        </p:nvSpPr>
        <p:spPr>
          <a:xfrm>
            <a:off x="6176944" y="4664869"/>
            <a:ext cx="21431" cy="278606"/>
          </a:xfrm>
          <a:prstGeom prst="rect">
            <a:avLst/>
          </a:prstGeom>
          <a:solidFill>
            <a:srgbClr val="D32F2F"/>
          </a:solidFill>
          <a:ln/>
        </p:spPr>
      </p:sp>
      <p:pic>
        <p:nvPicPr>
          <p:cNvPr id="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62669" y="4736306"/>
            <a:ext cx="142875" cy="114300"/>
          </a:xfrm>
          <a:prstGeom prst="rect">
            <a:avLst/>
          </a:prstGeom>
        </p:spPr>
      </p:pic>
      <p:sp>
        <p:nvSpPr>
          <p:cNvPr id="63" name="Text 48"/>
          <p:cNvSpPr/>
          <p:nvPr/>
        </p:nvSpPr>
        <p:spPr>
          <a:xfrm>
            <a:off x="6476981" y="4722019"/>
            <a:ext cx="12573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夹胶玻璃被飞石冲击破损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72425" y="357188"/>
            <a:ext cx="7429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spc="2" kern="0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中驰股份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85813" y="357188"/>
            <a:ext cx="2555677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M2：行业痛点剖析 — 使用寿命短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28625" y="500063"/>
            <a:ext cx="8286750" cy="289322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复杂室外环境导致的严重耐久性危机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8625" y="932259"/>
            <a:ext cx="8286750" cy="757238"/>
          </a:xfrm>
          <a:prstGeom prst="rect">
            <a:avLst/>
          </a:prstGeom>
          <a:solidFill>
            <a:srgbClr val="FFF3E0"/>
          </a:solidFill>
          <a:ln w="9144">
            <a:solidFill>
              <a:srgbClr val="FFE0B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8" y="1178719"/>
            <a:ext cx="285750" cy="2857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71563" y="1075134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传统材料与防腐工艺难以应对复杂的室外环境（尤其是</a:t>
            </a:r>
            <a:r>
              <a:rPr lang="en-US" sz="1000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沿海及工业区</a:t>
            </a:r>
            <a:r>
              <a:rPr lang="en-US" sz="1050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的高盐雾、高腐蚀环境），</a:t>
            </a:r>
            <a:r>
              <a:rPr lang="en-US" sz="1050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
</a:t>
            </a:r>
            <a:r>
              <a:rPr lang="en-US" sz="1050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往往在投入使用短短几年后即出现严重锈蚀，</a:t>
            </a:r>
            <a:r>
              <a:rPr lang="en-US" sz="1000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根本无法保证15年的设计使用寿命</a:t>
            </a:r>
            <a:r>
              <a:rPr lang="en-US" sz="1050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。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42913" y="1903809"/>
            <a:ext cx="3971925" cy="42863"/>
          </a:xfrm>
          <a:prstGeom prst="rect">
            <a:avLst/>
          </a:prstGeom>
          <a:solidFill>
            <a:srgbClr val="E65100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2155627"/>
            <a:ext cx="225028" cy="25717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89409" y="2133302"/>
            <a:ext cx="1753791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01 金属屏体锈蚀穿孔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57225" y="2561034"/>
            <a:ext cx="3543300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金属吸声面板表面防腐层一旦被破坏（如飞石刮擦、安装磕碰），在雨水和盐雾侵蚀下，面板会迅速发生大面积锈蚀。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657225" y="3115345"/>
            <a:ext cx="3543300" cy="840507"/>
          </a:xfrm>
          <a:prstGeom prst="rect">
            <a:avLst/>
          </a:prstGeom>
          <a:solidFill>
            <a:srgbClr val="F5F5F5"/>
          </a:solidFill>
          <a:ln w="9144">
            <a:solidFill>
              <a:srgbClr val="BDBDBD"/>
            </a:solidFill>
            <a:prstDash val="dash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0275" y="3159658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00188" y="3724015"/>
            <a:ext cx="1857375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2" kern="0" dirty="0">
                <a:solidFill>
                  <a:srgbClr val="9E9E9E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现场实拍：屏体锈蚀穿孔示意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657225" y="4170164"/>
            <a:ext cx="3543300" cy="601861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18" name="Shape 12"/>
          <p:cNvSpPr/>
          <p:nvPr/>
        </p:nvSpPr>
        <p:spPr>
          <a:xfrm>
            <a:off x="657225" y="4170164"/>
            <a:ext cx="28575" cy="601861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9" name="Text 13"/>
          <p:cNvSpPr/>
          <p:nvPr/>
        </p:nvSpPr>
        <p:spPr>
          <a:xfrm>
            <a:off x="764381" y="4277320"/>
            <a:ext cx="3328988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直接后果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764381" y="4477345"/>
            <a:ext cx="3328988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71C1C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吸声材料外漏失效，屏体结构强度丧失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4729163" y="1903809"/>
            <a:ext cx="3971925" cy="42863"/>
          </a:xfrm>
          <a:prstGeom prst="rect">
            <a:avLst/>
          </a:prstGeom>
          <a:solidFill>
            <a:srgbClr val="E65100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3475" y="2155627"/>
            <a:ext cx="192881" cy="25717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243513" y="2133302"/>
            <a:ext cx="2125266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02 钢结构及立柱深层锈蚀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4943475" y="2561034"/>
            <a:ext cx="3543300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作为声屏障骨架的主受力构件（H型钢立柱、横梁等），若防腐工艺不达标，焊缝及节点处极易发生深层结构性锈蚀。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943475" y="3115345"/>
            <a:ext cx="3543300" cy="840507"/>
          </a:xfrm>
          <a:prstGeom prst="rect">
            <a:avLst/>
          </a:prstGeom>
          <a:solidFill>
            <a:srgbClr val="F5F5F5"/>
          </a:solidFill>
          <a:ln w="9144">
            <a:solidFill>
              <a:srgbClr val="BDBDBD"/>
            </a:solidFill>
            <a:prstDash val="dash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6525" y="3159658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715000" y="3724015"/>
            <a:ext cx="200025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2" kern="0" dirty="0">
                <a:solidFill>
                  <a:srgbClr val="9E9E9E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现场实拍：钢立柱根部锈蚀示意</a:t>
            </a:r>
            <a:endParaRPr lang="en-US" sz="900" dirty="0"/>
          </a:p>
        </p:txBody>
      </p:sp>
      <p:sp>
        <p:nvSpPr>
          <p:cNvPr id="28" name="Shape 20"/>
          <p:cNvSpPr/>
          <p:nvPr/>
        </p:nvSpPr>
        <p:spPr>
          <a:xfrm>
            <a:off x="4943475" y="4170164"/>
            <a:ext cx="3543300" cy="601861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29" name="Shape 21"/>
          <p:cNvSpPr/>
          <p:nvPr/>
        </p:nvSpPr>
        <p:spPr>
          <a:xfrm>
            <a:off x="4943475" y="4170164"/>
            <a:ext cx="28575" cy="601861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0" name="Text 22"/>
          <p:cNvSpPr/>
          <p:nvPr/>
        </p:nvSpPr>
        <p:spPr>
          <a:xfrm>
            <a:off x="5050631" y="4277320"/>
            <a:ext cx="3328988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致命隐患</a:t>
            </a:r>
            <a:endParaRPr lang="en-US" sz="800" dirty="0"/>
          </a:p>
        </p:txBody>
      </p:sp>
      <p:sp>
        <p:nvSpPr>
          <p:cNvPr id="31" name="Text 23"/>
          <p:cNvSpPr/>
          <p:nvPr/>
        </p:nvSpPr>
        <p:spPr>
          <a:xfrm>
            <a:off x="5050631" y="4477345"/>
            <a:ext cx="3328988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71C1C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大幅降低抗风与承载能力，带来倒塌风险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72425" y="357188"/>
            <a:ext cx="7429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spc="2" kern="0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中驰股份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85813" y="357188"/>
            <a:ext cx="2727127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M2：行业痛点剖析 — 维保成本高昂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85750" y="714375"/>
            <a:ext cx="8572500" cy="289322"/>
          </a:xfrm>
          <a:prstGeom prst="rect">
            <a:avLst/>
          </a:prstGeom>
          <a:noFill/>
          <a:ln/>
        </p:spPr>
        <p:txBody>
          <a:bodyPr wrap="square" lIns="102108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全生命周期痛点：维保作业困难与高昂的后期成本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85750" y="1110853"/>
            <a:ext cx="4214813" cy="62114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8" name="Shape 5"/>
          <p:cNvSpPr/>
          <p:nvPr/>
        </p:nvSpPr>
        <p:spPr>
          <a:xfrm>
            <a:off x="285750" y="1110853"/>
            <a:ext cx="28575" cy="621143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3" y="1269802"/>
            <a:ext cx="257175" cy="25717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42950" y="1196578"/>
            <a:ext cx="367188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螺栓众多，排查困难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742950" y="1466255"/>
            <a:ext cx="367188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传统结构节点繁琐，螺栓数量庞大，难以逐一排查，隐患多。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285750" y="1817722"/>
            <a:ext cx="4214813" cy="62114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3" name="Shape 9"/>
          <p:cNvSpPr/>
          <p:nvPr/>
        </p:nvSpPr>
        <p:spPr>
          <a:xfrm>
            <a:off x="285750" y="1817722"/>
            <a:ext cx="28575" cy="621143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" y="1976670"/>
            <a:ext cx="289322" cy="25717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42950" y="1903447"/>
            <a:ext cx="367188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缺乏安全设施，风险极高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742950" y="2173123"/>
            <a:ext cx="367188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未预留检修通道和防坠装置，高空作业风险高。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285750" y="2524590"/>
            <a:ext cx="4214813" cy="621143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8" name="Shape 13"/>
          <p:cNvSpPr/>
          <p:nvPr/>
        </p:nvSpPr>
        <p:spPr>
          <a:xfrm>
            <a:off x="285750" y="2524590"/>
            <a:ext cx="28575" cy="621143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" y="2683539"/>
            <a:ext cx="321469" cy="25717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42950" y="2610315"/>
            <a:ext cx="367188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外表脏污，清洁难题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42950" y="2879992"/>
            <a:ext cx="367188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顶部积水积灰严重，缺乏清洗通道，影响景观。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4643438" y="1110853"/>
            <a:ext cx="4214813" cy="1221218"/>
          </a:xfrm>
          <a:prstGeom prst="rect">
            <a:avLst/>
          </a:prstGeom>
          <a:solidFill>
            <a:srgbClr val="1A3A6B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8188" y="1617669"/>
            <a:ext cx="642938" cy="857250"/>
          </a:xfrm>
          <a:prstGeom prst="rect">
            <a:avLst/>
          </a:prstGeom>
        </p:spPr>
      </p:pic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7738" y="1257300"/>
            <a:ext cx="125016" cy="14287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954191" y="1225153"/>
            <a:ext cx="1512689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3F2FD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上海地铁5号线维保改造</a:t>
            </a:r>
            <a:endParaRPr lang="en-US" sz="1000" dirty="0"/>
          </a:p>
        </p:txBody>
      </p:sp>
      <p:sp>
        <p:nvSpPr>
          <p:cNvPr id="26" name="Text 18"/>
          <p:cNvSpPr/>
          <p:nvPr/>
        </p:nvSpPr>
        <p:spPr>
          <a:xfrm>
            <a:off x="4757738" y="1503759"/>
            <a:ext cx="1275159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3300" b="1" dirty="0">
                <a:solidFill>
                  <a:srgbClr val="CA8A04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3,600</a:t>
            </a:r>
            <a:endParaRPr lang="en-US" sz="3300" dirty="0"/>
          </a:p>
        </p:txBody>
      </p:sp>
      <p:sp>
        <p:nvSpPr>
          <p:cNvPr id="27" name="Text 19"/>
          <p:cNvSpPr/>
          <p:nvPr/>
        </p:nvSpPr>
        <p:spPr>
          <a:xfrm>
            <a:off x="6104334" y="1732359"/>
            <a:ext cx="476845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元/m²</a:t>
            </a:r>
            <a:endParaRPr lang="en-US" sz="1200" dirty="0"/>
          </a:p>
        </p:txBody>
      </p:sp>
      <p:sp>
        <p:nvSpPr>
          <p:cNvPr id="28" name="Text 20"/>
          <p:cNvSpPr/>
          <p:nvPr/>
        </p:nvSpPr>
        <p:spPr>
          <a:xfrm>
            <a:off x="4757738" y="2037755"/>
            <a:ext cx="3986213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E3F2F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造价高且工期长，严重影响运营。</a:t>
            </a:r>
            <a:endParaRPr lang="en-US" sz="950" dirty="0"/>
          </a:p>
        </p:txBody>
      </p:sp>
      <p:sp>
        <p:nvSpPr>
          <p:cNvPr id="29" name="Shape 21"/>
          <p:cNvSpPr/>
          <p:nvPr/>
        </p:nvSpPr>
        <p:spPr>
          <a:xfrm>
            <a:off x="4643438" y="2417797"/>
            <a:ext cx="4214813" cy="1221218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8188" y="2924612"/>
            <a:ext cx="642938" cy="857250"/>
          </a:xfrm>
          <a:prstGeom prst="rect">
            <a:avLst/>
          </a:prstGeom>
        </p:spPr>
      </p:pic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7738" y="2564243"/>
            <a:ext cx="125016" cy="142875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4954191" y="2532097"/>
            <a:ext cx="1425178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3F2FD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深圳地铁维保 (直立式)</a:t>
            </a:r>
            <a:endParaRPr lang="en-US" sz="1000" dirty="0"/>
          </a:p>
        </p:txBody>
      </p:sp>
      <p:sp>
        <p:nvSpPr>
          <p:cNvPr id="33" name="Text 23"/>
          <p:cNvSpPr/>
          <p:nvPr/>
        </p:nvSpPr>
        <p:spPr>
          <a:xfrm>
            <a:off x="4757738" y="2810703"/>
            <a:ext cx="1275159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3300" b="1" dirty="0">
                <a:solidFill>
                  <a:srgbClr val="CA8A04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1,000</a:t>
            </a:r>
            <a:endParaRPr lang="en-US" sz="3300" dirty="0"/>
          </a:p>
        </p:txBody>
      </p:sp>
      <p:sp>
        <p:nvSpPr>
          <p:cNvPr id="34" name="Text 24"/>
          <p:cNvSpPr/>
          <p:nvPr/>
        </p:nvSpPr>
        <p:spPr>
          <a:xfrm>
            <a:off x="6104334" y="3039303"/>
            <a:ext cx="476845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元/m²</a:t>
            </a:r>
            <a:endParaRPr lang="en-US" sz="1200" dirty="0"/>
          </a:p>
        </p:txBody>
      </p:sp>
      <p:sp>
        <p:nvSpPr>
          <p:cNvPr id="35" name="Text 25"/>
          <p:cNvSpPr/>
          <p:nvPr/>
        </p:nvSpPr>
        <p:spPr>
          <a:xfrm>
            <a:off x="4757738" y="3344698"/>
            <a:ext cx="3986213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E3F2F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更换立柱及安装造价高。</a:t>
            </a:r>
            <a:endParaRPr lang="en-US" sz="950" dirty="0"/>
          </a:p>
        </p:txBody>
      </p:sp>
      <p:sp>
        <p:nvSpPr>
          <p:cNvPr id="36" name="Shape 26"/>
          <p:cNvSpPr/>
          <p:nvPr/>
        </p:nvSpPr>
        <p:spPr>
          <a:xfrm>
            <a:off x="4643438" y="3781890"/>
            <a:ext cx="4214813" cy="520043"/>
          </a:xfrm>
          <a:prstGeom prst="rect">
            <a:avLst/>
          </a:prstGeom>
          <a:solidFill>
            <a:srgbClr val="FFF3E0"/>
          </a:solidFill>
          <a:ln w="18288">
            <a:solidFill>
              <a:srgbClr val="CA8A04"/>
            </a:solidFill>
            <a:prstDash val="dash"/>
          </a:ln>
        </p:spPr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7915" y="3989059"/>
            <a:ext cx="157163" cy="157163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4905077" y="3944410"/>
            <a:ext cx="29003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核心洞察：既有线施工费用通常是新建的</a:t>
            </a:r>
            <a:endParaRPr lang="en-US" sz="1100" dirty="0"/>
          </a:p>
        </p:txBody>
      </p:sp>
      <p:sp>
        <p:nvSpPr>
          <p:cNvPr id="39" name="Text 28"/>
          <p:cNvSpPr/>
          <p:nvPr/>
        </p:nvSpPr>
        <p:spPr>
          <a:xfrm>
            <a:off x="7834015" y="3862257"/>
            <a:ext cx="734020" cy="3303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5-10倍</a:t>
            </a:r>
            <a:endParaRPr lang="en-US" sz="1600" dirty="0"/>
          </a:p>
        </p:txBody>
      </p:sp>
      <p:sp>
        <p:nvSpPr>
          <p:cNvPr id="40" name="Text 29"/>
          <p:cNvSpPr/>
          <p:nvPr/>
        </p:nvSpPr>
        <p:spPr>
          <a:xfrm>
            <a:off x="8596610" y="3944410"/>
            <a:ext cx="1571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！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2026-05-05T12:06:16Z</dcterms:created>
  <dcterms:modified xsi:type="dcterms:W3CDTF">2026-05-05T12:06:16Z</dcterms:modified>
</cp:coreProperties>
</file>