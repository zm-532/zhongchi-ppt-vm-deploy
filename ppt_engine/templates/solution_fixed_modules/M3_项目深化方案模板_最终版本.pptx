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375" r:id="rId2"/>
    <p:sldId id="4376" r:id="rId3"/>
    <p:sldId id="5200" r:id="rId4"/>
    <p:sldId id="5201" r:id="rId5"/>
    <p:sldId id="5202" r:id="rId6"/>
    <p:sldId id="5203" r:id="rId7"/>
    <p:sldId id="5204" r:id="rId8"/>
    <p:sldId id="5205" r:id="rId9"/>
    <p:sldId id="5206" r:id="rId10"/>
    <p:sldId id="5207" r:id="rId11"/>
  </p:sldIdLst>
  <p:sldSz cx="11522075" cy="6480175"/>
  <p:notesSz cx="6797675" cy="9926638"/>
  <p:custDataLst>
    <p:tags r:id="rId14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521415D9-36F7-43E2-AB2F-B90AF26B5E84}">
      <p14:sectionLst xmlns:p14="http://schemas.microsoft.com/office/powerpoint/2010/main">
        <p14:section name="默认节" id="{ED0C4620-9916-480A-93A0-007A6205049B}">
          <p14:sldIdLst>
            <p14:sldId id="4375"/>
          </p14:sldIdLst>
        </p14:section>
        <p14:section name="默认节" id="{93327E70-49BC-45F7-B959-D8DD71B44DFC}">
          <p14:sldIdLst>
            <p14:sldId id="4376"/>
            <p14:sldId id="5200"/>
            <p14:sldId id="5201"/>
            <p14:sldId id="5202"/>
            <p14:sldId id="5203"/>
            <p14:sldId id="5204"/>
            <p14:sldId id="5205"/>
            <p14:sldId id="5206"/>
            <p14:sldId id="5207"/>
          </p14:sldIdLst>
        </p14:section>
        <p14:section name="无标题节" id="{A86C6A56-BBCB-47CF-982C-96A19FEFF8B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BAA403-AC97-4EF6-A78F-2AE45B316E2E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A894E5B-FB02-4862-83DE-3046D151FCFF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/>
    <p:restoredTop sz="88943" autoAdjust="0"/>
  </p:normalViewPr>
  <p:slideViewPr>
    <p:cSldViewPr snapToObjects="1" showGuides="1">
      <p:cViewPr varScale="1">
        <p:scale>
          <a:sx n="62" d="100"/>
          <a:sy n="62" d="100"/>
        </p:scale>
        <p:origin x="72" y="85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2026/5/26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C4CC4-C66A-6053-03D1-9429C935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AE7059-F8F9-A7DE-128B-83B5FD873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18A9CE-6068-9154-715B-C8AA934F5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77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B972-CBCD-AE5F-75A6-1F543DD5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085DA1-C479-5D32-C6F9-4D5C130A5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61784D-EC65-6AD1-AD39-737257640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835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68BA9-7BBD-2AAF-5EE0-CA33F5EA0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06E66B-349F-9E87-5BD2-2B259ACBB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54EF9-D42B-93B5-4285-8DF444EB8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349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FFE0-0670-2BDA-B9FF-E2896987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C17483-FBBE-FD3D-79AA-3BEB9CB5E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C4F89-2D46-4EC8-9ED6-5EFA407D1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397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446C-1D99-4CE5-0098-E1AAFAB4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0DE51B-A49D-35B2-DFFD-E88A239F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E46648-C6BB-757C-2114-085C41EB3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274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9509F-0901-0E91-9173-53F9FCF70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3864E6-F8B4-FA0E-5605-7684937B3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5A81C1-47AD-AC18-1132-2D27EE8F3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981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CB3EA-1F29-E484-4610-F04A0DB1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A704A6-A98D-E39A-B2AC-CD0E4A79C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EEDD07-B116-4DE9-0EA9-432FCAA96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130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F407-A9EB-6679-F72D-AE35E522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8AAC7D-88B2-FED9-82AD-A658BD5C5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DE765B-FFAB-479B-05BA-E08E08F57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施工线路长，声屏障高度高，结构型式多，工程体量大，占道施工。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137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/>
          <p:cNvSpPr txBox="1"/>
          <p:nvPr/>
        </p:nvSpPr>
        <p:spPr>
          <a:xfrm>
            <a:off x="4080736" y="2808075"/>
            <a:ext cx="3360605" cy="271262"/>
          </a:xfrm>
          <a:prstGeom prst="rect">
            <a:avLst/>
          </a:prstGeom>
          <a:ln w="12700">
            <a:miter lim="400000"/>
          </a:ln>
        </p:spPr>
        <p:txBody>
          <a:bodyPr lIns="43197" tIns="43197" rIns="43197" bIns="43197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sz="298" b="0" i="0">
                <a:latin typeface="Hei Regular" pitchFamily="2" charset="-122"/>
                <a:ea typeface="Hei Regular" pitchFamily="2" charset="-122"/>
              </a:rPr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sz="600" b="0" i="0" err="1">
                <a:latin typeface="Hei Regular" pitchFamily="2" charset="-122"/>
                <a:ea typeface="Hei Regular" pitchFamily="2" charset="-122"/>
              </a:rPr>
              <a:t>ibaotu.com</a:t>
            </a:r>
            <a:endParaRPr sz="600" b="0" i="0">
              <a:latin typeface="Hei Regular" pitchFamily="2" charset="-122"/>
              <a:ea typeface="Hei Regular" pitchFamily="2" charset="-122"/>
            </a:endParaRPr>
          </a:p>
        </p:txBody>
      </p:sp>
      <p:sp>
        <p:nvSpPr>
          <p:cNvPr id="2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972445" y="6133144"/>
            <a:ext cx="319039" cy="271913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9462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一、项目基本情况 </a:t>
            </a:r>
            <a:endParaRPr lang="zh-CN" altLang="en-US" sz="2268" b="1" spc="150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sz="1606" dirty="0"/>
              <a:t>{{m3_basic_summary}}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2" name="TextBox 9221"/>
          <p:cNvSpPr txBox="1"/>
          <p:nvPr/>
        </p:nvSpPr>
        <p:spPr>
          <a:xfrm>
            <a:off x="432893" y="432011"/>
            <a:ext cx="184731" cy="339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6"/>
          </a:p>
        </p:txBody>
      </p:sp>
      <p:sp>
        <p:nvSpPr>
          <p:cNvPr id="9223" name="TextBox 9222"/>
          <p:cNvSpPr txBox="1"/>
          <p:nvPr/>
        </p:nvSpPr>
        <p:spPr>
          <a:xfrm>
            <a:off x="432893" y="432011"/>
            <a:ext cx="184731" cy="339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6"/>
          </a:p>
        </p:txBody>
      </p:sp>
      <p:sp>
        <p:nvSpPr>
          <p:cNvPr id="9224" name="{{image:project_scope_map}}"/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{{image:m3_basic}}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一、项目基本情况 </a:t>
            </a:r>
            <a:endParaRPr lang="zh-CN" altLang="en-US" sz="2268" b="1" spc="150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sz="1606" dirty="0"/>
              <a:t>{{m3_basic_summary}}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2" name="TextBox 9221"/>
          <p:cNvSpPr txBox="1"/>
          <p:nvPr/>
        </p:nvSpPr>
        <p:spPr>
          <a:xfrm>
            <a:off x="432893" y="432011"/>
            <a:ext cx="184731" cy="339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6"/>
          </a:p>
        </p:txBody>
      </p:sp>
      <p:sp>
        <p:nvSpPr>
          <p:cNvPr id="9223" name="TextBox 9222"/>
          <p:cNvSpPr txBox="1"/>
          <p:nvPr/>
        </p:nvSpPr>
        <p:spPr>
          <a:xfrm>
            <a:off x="432893" y="432011"/>
            <a:ext cx="184731" cy="339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6"/>
          </a:p>
        </p:txBody>
      </p:sp>
      <p:sp>
        <p:nvSpPr>
          <p:cNvPr id="9224" name="{{image:project_scope_map}}"/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{{image:m3_basic}}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8C197-8E2C-CE6F-3579-7A9799D3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FE5A338-3D26-75D3-8B83-D0B85A244527}"/>
              </a:ext>
            </a:extLst>
          </p:cNvPr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二、项目线路图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DEA30D-2715-A771-D5BF-9FF497AD5AD0}"/>
              </a:ext>
            </a:extLst>
          </p:cNvPr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lang="en-US" altLang="zh-CN" sz="1606" dirty="0"/>
              <a:t>{{m3_line_summary}}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4" name="{{image:project_scope_map}}">
            <a:extLst>
              <a:ext uri="{FF2B5EF4-FFF2-40B4-BE49-F238E27FC236}">
                <a16:creationId xmlns:a16="http://schemas.microsoft.com/office/drawing/2014/main" id="{E9AE20FC-E4B5-E222-6D08-EA94AC88A428}"/>
              </a:ext>
            </a:extLst>
          </p:cNvPr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{{image:m3_line}}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44617848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EAC1C-506A-B799-1A83-2DB4BD99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BAC94D7-458B-D124-90E2-BF8D4EC98B9D}"/>
              </a:ext>
            </a:extLst>
          </p:cNvPr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三、敏感点路段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43A135-F51E-BC3B-5A27-0E0010673D14}"/>
              </a:ext>
            </a:extLst>
          </p:cNvPr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lang="en-US" altLang="zh-CN" sz="1606" dirty="0"/>
              <a:t>{{m3_sensitive_points_summary}}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4" name="{{image:project_scope_map}}">
            <a:extLst>
              <a:ext uri="{FF2B5EF4-FFF2-40B4-BE49-F238E27FC236}">
                <a16:creationId xmlns:a16="http://schemas.microsoft.com/office/drawing/2014/main" id="{E43EE191-63B8-2953-5512-1A155E244F0E}"/>
              </a:ext>
            </a:extLst>
          </p:cNvPr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{{image:m3_sensitive_points}}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2588044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1C75-B9E0-DDDA-A2D4-18352763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A58C364-6A62-1581-AACD-449A1325EAB0}"/>
              </a:ext>
            </a:extLst>
          </p:cNvPr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四、工程量统计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0D5D0B-ED1D-F3D6-8554-8EEAE050154C}"/>
              </a:ext>
            </a:extLst>
          </p:cNvPr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lang="en-US" altLang="zh-CN" sz="1606" dirty="0"/>
              <a:t>{{m3_quantity_summary}}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4" name="{{image:project_scope_map}}">
            <a:extLst>
              <a:ext uri="{FF2B5EF4-FFF2-40B4-BE49-F238E27FC236}">
                <a16:creationId xmlns:a16="http://schemas.microsoft.com/office/drawing/2014/main" id="{9BF77606-78A3-2527-DC35-4EC57CC34C1B}"/>
              </a:ext>
            </a:extLst>
          </p:cNvPr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{{image:m3_quantity}}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47821123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F02D-0038-1037-2D28-B0EF0216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07A1B16-9A71-F527-10AA-8ED438CC5548}"/>
              </a:ext>
            </a:extLst>
          </p:cNvPr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五、</a:t>
            </a:r>
            <a:r>
              <a:rPr lang="zh-CN" altLang="en-US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结构形式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A1E361-3757-9241-3B93-866757F8F135}"/>
              </a:ext>
            </a:extLst>
          </p:cNvPr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lang="en-US" altLang="zh-CN" sz="1606" dirty="0"/>
              <a:t>{{m3_structure_summary}}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4" name="{{image:project_scope_map}}">
            <a:extLst>
              <a:ext uri="{FF2B5EF4-FFF2-40B4-BE49-F238E27FC236}">
                <a16:creationId xmlns:a16="http://schemas.microsoft.com/office/drawing/2014/main" id="{0AF35DA6-D8CB-110F-D0E8-F70C34574588}"/>
              </a:ext>
            </a:extLst>
          </p:cNvPr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{{image:m3_structure}}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8839671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14FE-012C-CD00-6BE1-01D0EE27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E8FEFB9-8423-85F8-2C90-35DC923CD117}"/>
              </a:ext>
            </a:extLst>
          </p:cNvPr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六、现场踏勘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4B0EB9-A8C3-056A-0140-FDF9A64BDA2D}"/>
              </a:ext>
            </a:extLst>
          </p:cNvPr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lang="en-US" altLang="zh-CN" sz="1606"/>
              <a:t>{{m3_site_survey_summary}}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4" name="{{image:project_scope_map}}">
            <a:extLst>
              <a:ext uri="{FF2B5EF4-FFF2-40B4-BE49-F238E27FC236}">
                <a16:creationId xmlns:a16="http://schemas.microsoft.com/office/drawing/2014/main" id="{B5F72045-A9E2-B066-0F7E-9A7817A862D6}"/>
              </a:ext>
            </a:extLst>
          </p:cNvPr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{{image:m3_site_survey}}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2610644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D526-DCDD-D52F-5DCD-921CCE05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4E62D13-F43F-0949-5B2A-E7C59C078AC4}"/>
              </a:ext>
            </a:extLst>
          </p:cNvPr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七、现场勘察情况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8B8B05-EA63-2668-5867-BE5821CFD1EB}"/>
              </a:ext>
            </a:extLst>
          </p:cNvPr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lang="en-US" altLang="zh-CN" sz="1606" dirty="0"/>
              <a:t>{{m3_investigation_summary}}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4" name="{{image:project_scope_map}}">
            <a:extLst>
              <a:ext uri="{FF2B5EF4-FFF2-40B4-BE49-F238E27FC236}">
                <a16:creationId xmlns:a16="http://schemas.microsoft.com/office/drawing/2014/main" id="{E9E005CC-CC07-624B-C0DD-35F2EB9B31CC}"/>
              </a:ext>
            </a:extLst>
          </p:cNvPr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{{image:m3_investigation}}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32777904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A692-3E6A-98CC-B967-B01E0A26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09CF5E1-1CB1-4422-7C2A-C0E6501BAD47}"/>
              </a:ext>
            </a:extLst>
          </p:cNvPr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八、项目重难点分析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0BF0CC-60AE-7916-9C37-11080B5CCEDB}"/>
              </a:ext>
            </a:extLst>
          </p:cNvPr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lang="en-US" altLang="zh-CN" sz="1606" dirty="0"/>
              <a:t>{{m3_risk_summary}}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4" name="{{image:project_scope_map}}">
            <a:extLst>
              <a:ext uri="{FF2B5EF4-FFF2-40B4-BE49-F238E27FC236}">
                <a16:creationId xmlns:a16="http://schemas.microsoft.com/office/drawing/2014/main" id="{501B6E9F-195B-1452-CD5A-6686C039221D}"/>
              </a:ext>
            </a:extLst>
          </p:cNvPr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{{image:m3_risk}}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9845142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33D33-285C-212C-0ED5-75604954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9F486A6-F639-44E6-E1EE-FD3769E2A2B2}"/>
              </a:ext>
            </a:extLst>
          </p:cNvPr>
          <p:cNvSpPr/>
          <p:nvPr/>
        </p:nvSpPr>
        <p:spPr>
          <a:xfrm>
            <a:off x="725473" y="314613"/>
            <a:ext cx="4583283" cy="55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68" b="1" spc="150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九、重难点应对措施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F4A518-B4D0-CDFF-9100-85DDDCC97235}"/>
              </a:ext>
            </a:extLst>
          </p:cNvPr>
          <p:cNvSpPr txBox="1"/>
          <p:nvPr/>
        </p:nvSpPr>
        <p:spPr>
          <a:xfrm>
            <a:off x="521888" y="858329"/>
            <a:ext cx="10353880" cy="33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6006" defTabSz="252005"/>
            <a:r>
              <a:rPr lang="en-US" altLang="zh-CN" sz="1606" dirty="0"/>
              <a:t>{{m3_solution_summary}}</a:t>
            </a:r>
            <a:endParaRPr lang="zh-CN" altLang="en-US" sz="1323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4" name="{{image:project_scope_map}}">
            <a:extLst>
              <a:ext uri="{FF2B5EF4-FFF2-40B4-BE49-F238E27FC236}">
                <a16:creationId xmlns:a16="http://schemas.microsoft.com/office/drawing/2014/main" id="{5A354D15-F658-159F-D8E4-363B964DF3BF}"/>
              </a:ext>
            </a:extLst>
          </p:cNvPr>
          <p:cNvSpPr txBox="1"/>
          <p:nvPr/>
        </p:nvSpPr>
        <p:spPr>
          <a:xfrm>
            <a:off x="930134" y="1879269"/>
            <a:ext cx="9133446" cy="4414817"/>
          </a:xfrm>
          <a:prstGeom prst="rect">
            <a:avLst/>
          </a:prstGeom>
          <a:solidFill>
            <a:srgbClr val="F3F7FB"/>
          </a:solidFill>
          <a:ln w="15875">
            <a:solidFill>
              <a:srgbClr val="1565C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en-US" sz="1323" b="1" dirty="0">
                <a:solidFill>
                  <a:srgbClr val="1565C0"/>
                </a:solidFill>
                <a:latin typeface="Microsoft YaHei"/>
              </a:rPr>
              <a:t>{{image:m3_solution}}</a:t>
            </a:r>
            <a:endParaRPr sz="1323" b="1" dirty="0">
              <a:solidFill>
                <a:srgbClr val="1565C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94731086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407</Words>
  <Application>Microsoft Office PowerPoint</Application>
  <PresentationFormat>自定义</PresentationFormat>
  <Paragraphs>60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Hei Regular</vt:lpstr>
      <vt:lpstr>Heiti SC Medium</vt:lpstr>
      <vt:lpstr>黑体</vt:lpstr>
      <vt:lpstr>宋体</vt:lpstr>
      <vt:lpstr>微软雅黑</vt:lpstr>
      <vt:lpstr>微软雅黑</vt:lpstr>
      <vt:lpstr>微软雅黑 Light</vt:lpstr>
      <vt:lpstr>Arial</vt:lpstr>
      <vt:lpstr>Calibri</vt:lpstr>
      <vt:lpstr>Palatino Linotype</vt:lpstr>
      <vt:lpstr>元素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202</cp:revision>
  <cp:lastPrinted>2024-05-27T04:20:00Z</cp:lastPrinted>
  <dcterms:created xsi:type="dcterms:W3CDTF">2024-05-27T04:50:00Z</dcterms:created>
  <dcterms:modified xsi:type="dcterms:W3CDTF">2026-05-26T01:23:06Z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DE9C49FFB710414A91E48644DEB2DA1B_13</vt:lpwstr>
  </property>
</Properties>
</file>