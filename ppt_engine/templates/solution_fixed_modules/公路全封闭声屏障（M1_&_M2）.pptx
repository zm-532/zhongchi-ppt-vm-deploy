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285750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871663" y="1625203"/>
            <a:ext cx="5400675" cy="662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3300" b="1" spc="-1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公路全封闭声屏障解决方案</a:t>
            </a:r>
            <a:endParaRPr lang="en-US" sz="3300" dirty="0"/>
          </a:p>
        </p:txBody>
      </p:sp>
      <p:sp>
        <p:nvSpPr>
          <p:cNvPr id="5" name="Text 1"/>
          <p:cNvSpPr/>
          <p:nvPr/>
        </p:nvSpPr>
        <p:spPr>
          <a:xfrm>
            <a:off x="1871663" y="2430661"/>
            <a:ext cx="5400675" cy="330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行业背景 · 技术标准 · 痛点剖析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0" y="4143375"/>
            <a:ext cx="9144000" cy="1000125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7572375" y="4563461"/>
            <a:ext cx="11430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中驰股份解决方案中心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7572375" y="4746324"/>
            <a:ext cx="11430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2026年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60045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市场背景——民生宜居需求与交通噪声矛盾凸显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1000125"/>
            <a:ext cx="4714875" cy="1118667"/>
          </a:xfrm>
          <a:prstGeom prst="rect">
            <a:avLst/>
          </a:prstGeom>
          <a:solidFill>
            <a:srgbClr val="E3F0FB"/>
          </a:solidFill>
          <a:ln/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>
            <a:off x="428625" y="1000125"/>
            <a:ext cx="42863" cy="1118667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42938" y="1214438"/>
            <a:ext cx="42862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核心观点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42938" y="1493044"/>
            <a:ext cx="4286250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我国公铁路网里程持续扩张，交通噪声投诉量激增，全封闭声屏障成为解决民生宜居与交通发展矛盾的核心技术手段。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428625" y="2333104"/>
            <a:ext cx="4714875" cy="462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44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随着城市化进程的加速，高速公路、城市快速路与居民区的空间距离不断压缩。公路交通噪声已成为城市噪声污染的首要来源，严重影响沿线居民的生活质量。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428625" y="2938872"/>
            <a:ext cx="4714875" cy="462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44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与此同时，声屏障建设预算却面临不断缩减的压力，如何以更高性价比实现更优降噪效果，成为行业核心命题。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5572125" y="1000125"/>
            <a:ext cx="3143250" cy="1000125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572125" y="1000125"/>
            <a:ext cx="3143250" cy="2857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8708231" y="100012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572125" y="1993106"/>
            <a:ext cx="3143250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572125" y="100012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5715000" y="1094780"/>
            <a:ext cx="285750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全国公铁路网里程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715000" y="1353741"/>
            <a:ext cx="2857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564.8万公里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5715000" y="1760934"/>
            <a:ext cx="28575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且持续增加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5572125" y="2428875"/>
            <a:ext cx="3143250" cy="1000125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5572125" y="2428875"/>
            <a:ext cx="3143250" cy="2857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8708231" y="242887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5572125" y="3421856"/>
            <a:ext cx="3143250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5572125" y="242887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5715000" y="2523530"/>
            <a:ext cx="285750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交通噪声年投诉量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5715000" y="2782491"/>
            <a:ext cx="2857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30万次/年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5715000" y="3189684"/>
            <a:ext cx="28575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预计突破量</a:t>
            </a:r>
            <a:endParaRPr lang="en-US" sz="750" dirty="0"/>
          </a:p>
        </p:txBody>
      </p:sp>
      <p:sp>
        <p:nvSpPr>
          <p:cNvPr id="28" name="Shape 24"/>
          <p:cNvSpPr/>
          <p:nvPr/>
        </p:nvSpPr>
        <p:spPr>
          <a:xfrm>
            <a:off x="5572125" y="3857625"/>
            <a:ext cx="3143250" cy="1000125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5572125" y="3857625"/>
            <a:ext cx="3143250" cy="2857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30" name="Shape 26"/>
          <p:cNvSpPr/>
          <p:nvPr/>
        </p:nvSpPr>
        <p:spPr>
          <a:xfrm>
            <a:off x="8708231" y="385762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1" name="Shape 27"/>
          <p:cNvSpPr/>
          <p:nvPr/>
        </p:nvSpPr>
        <p:spPr>
          <a:xfrm>
            <a:off x="5572125" y="4850606"/>
            <a:ext cx="3143250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2" name="Shape 28"/>
          <p:cNvSpPr/>
          <p:nvPr/>
        </p:nvSpPr>
        <p:spPr>
          <a:xfrm>
            <a:off x="5572125" y="385762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3" name="Text 29"/>
          <p:cNvSpPr/>
          <p:nvPr/>
        </p:nvSpPr>
        <p:spPr>
          <a:xfrm>
            <a:off x="5715000" y="3952280"/>
            <a:ext cx="285750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噪声扰民信访占比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715000" y="4211241"/>
            <a:ext cx="2857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61.3%</a:t>
            </a:r>
            <a:endParaRPr lang="en-US" sz="1800" dirty="0"/>
          </a:p>
        </p:txBody>
      </p:sp>
      <p:sp>
        <p:nvSpPr>
          <p:cNvPr id="35" name="Text 31"/>
          <p:cNvSpPr/>
          <p:nvPr/>
        </p:nvSpPr>
        <p:spPr>
          <a:xfrm>
            <a:off x="5715000" y="4618434"/>
            <a:ext cx="28575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城市环境投诉首位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4290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政策标准——公路全封闭声屏障设计规范体系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1000125"/>
            <a:ext cx="8286750" cy="582885"/>
          </a:xfrm>
          <a:prstGeom prst="rect">
            <a:avLst/>
          </a:prstGeom>
          <a:solidFill>
            <a:srgbClr val="E3F0FB"/>
          </a:solidFill>
          <a:ln/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>
            <a:off x="428625" y="1000125"/>
            <a:ext cx="42863" cy="58288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585788" y="1085850"/>
            <a:ext cx="797242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国内公路声屏障标准体系正在加速完善，形成了以GB/T 51335为国家标准、JT/T 646系列为行业标准的双轨规范体系，为全封闭声屏障的设计与建造提供了日趋完善的依据。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1000125" y="1697310"/>
            <a:ext cx="1000125" cy="766167"/>
          </a:xfrm>
          <a:prstGeom prst="rect">
            <a:avLst/>
          </a:prstGeom>
          <a:solidFill>
            <a:srgbClr val="1565C0"/>
          </a:solidFill>
          <a:ln w="9144">
            <a:solidFill>
              <a:srgbClr val="1565C0"/>
            </a:solidFill>
            <a:prstDash val="solid"/>
          </a:ln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1000125" y="1697310"/>
            <a:ext cx="1000125" cy="7661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国家标准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2000250" y="1697310"/>
            <a:ext cx="6143625" cy="766167"/>
          </a:xfrm>
          <a:prstGeom prst="rect">
            <a:avLst/>
          </a:prstGeom>
          <a:solidFill>
            <a:srgbClr val="FAFAFA"/>
          </a:solidFill>
          <a:ln w="18288">
            <a:solidFill>
              <a:srgbClr val="1565C0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2114550" y="1768748"/>
            <a:ext cx="5915025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GB/T 51335-2018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2114550" y="1991990"/>
            <a:ext cx="59150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《声屏障结构技术标准》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2114550" y="2213446"/>
            <a:ext cx="591502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明确全封闭风压、屋面活载取值及结构计算方式，是结构设计最高依据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1000125" y="2492053"/>
            <a:ext cx="1000125" cy="751880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1000125" y="2492053"/>
            <a:ext cx="1000125" cy="751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行业标准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2000250" y="2492053"/>
            <a:ext cx="6143625" cy="751880"/>
          </a:xfrm>
          <a:prstGeom prst="rect">
            <a:avLst/>
          </a:prstGeom>
          <a:solidFill>
            <a:srgbClr val="FAFAFA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2114550" y="2563490"/>
            <a:ext cx="1814513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JT/T 646.1-2025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114550" y="2786732"/>
            <a:ext cx="18145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第1部分：总体技术要求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2114550" y="3008188"/>
            <a:ext cx="18145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规定公路声屏障的整体技术框架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4164806" y="2563490"/>
            <a:ext cx="1814513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JT/T 646.2-2025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4164806" y="2786732"/>
            <a:ext cx="18145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第2部分：材料技术要求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164806" y="3008188"/>
            <a:ext cx="18145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规定各类材料的性能指标与检测方法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6215063" y="2563490"/>
            <a:ext cx="1814513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JT/T 646.4-2025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6215063" y="2786732"/>
            <a:ext cx="18145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第4部分：全封闭技术要求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6215063" y="3008188"/>
            <a:ext cx="18145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专门针对全封闭声屏障，规定产品指标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000125" y="3286795"/>
            <a:ext cx="1000125" cy="751880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/>
          <p:nvPr/>
        </p:nvSpPr>
        <p:spPr>
          <a:xfrm>
            <a:off x="1000125" y="3286795"/>
            <a:ext cx="1000125" cy="751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图集标准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2000250" y="3286795"/>
            <a:ext cx="6143625" cy="751880"/>
          </a:xfrm>
          <a:prstGeom prst="rect">
            <a:avLst/>
          </a:prstGeom>
          <a:solidFill>
            <a:srgbClr val="FAFAFA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/>
          <p:nvPr/>
        </p:nvSpPr>
        <p:spPr>
          <a:xfrm>
            <a:off x="2114550" y="3358232"/>
            <a:ext cx="5915025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MR603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2114550" y="3581474"/>
            <a:ext cx="59150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《城市道路全封闭声屏障》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2114550" y="3802931"/>
            <a:ext cx="591502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城市道路全封闭声屏障设计图集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28625" y="4357688"/>
            <a:ext cx="8286750" cy="500063"/>
          </a:xfrm>
          <a:prstGeom prst="rect">
            <a:avLst/>
          </a:prstGeom>
          <a:solidFill>
            <a:srgbClr val="FFF9E6"/>
          </a:solidFill>
          <a:ln/>
        </p:spPr>
        <p:txBody>
          <a:bodyPr/>
          <a:p/>
        </p:txBody>
      </p:sp>
      <p:sp>
        <p:nvSpPr>
          <p:cNvPr id="34" name="Shape 30"/>
          <p:cNvSpPr/>
          <p:nvPr/>
        </p:nvSpPr>
        <p:spPr>
          <a:xfrm>
            <a:off x="428625" y="4357688"/>
            <a:ext cx="8286750" cy="7144"/>
          </a:xfrm>
          <a:prstGeom prst="rect">
            <a:avLst/>
          </a:prstGeom>
          <a:solidFill>
            <a:srgbClr val="FFD54F"/>
          </a:solidFill>
          <a:ln/>
        </p:spPr>
        <p:txBody>
          <a:bodyPr/>
          <a:p/>
        </p:txBody>
      </p:sp>
      <p:sp>
        <p:nvSpPr>
          <p:cNvPr id="35" name="Shape 31"/>
          <p:cNvSpPr/>
          <p:nvPr/>
        </p:nvSpPr>
        <p:spPr>
          <a:xfrm>
            <a:off x="8708231" y="4357688"/>
            <a:ext cx="7144" cy="500063"/>
          </a:xfrm>
          <a:prstGeom prst="rect">
            <a:avLst/>
          </a:prstGeom>
          <a:solidFill>
            <a:srgbClr val="FFD54F"/>
          </a:solidFill>
          <a:ln/>
        </p:spPr>
        <p:txBody>
          <a:bodyPr/>
          <a:p/>
        </p:txBody>
      </p:sp>
      <p:sp>
        <p:nvSpPr>
          <p:cNvPr id="36" name="Shape 32"/>
          <p:cNvSpPr/>
          <p:nvPr/>
        </p:nvSpPr>
        <p:spPr>
          <a:xfrm>
            <a:off x="428625" y="4850606"/>
            <a:ext cx="8286750" cy="7144"/>
          </a:xfrm>
          <a:prstGeom prst="rect">
            <a:avLst/>
          </a:prstGeom>
          <a:solidFill>
            <a:srgbClr val="FFD54F"/>
          </a:solidFill>
          <a:ln/>
        </p:spPr>
        <p:txBody>
          <a:bodyPr/>
          <a:p/>
        </p:txBody>
      </p:sp>
      <p:sp>
        <p:nvSpPr>
          <p:cNvPr id="37" name="Shape 33"/>
          <p:cNvSpPr/>
          <p:nvPr/>
        </p:nvSpPr>
        <p:spPr>
          <a:xfrm>
            <a:off x="428625" y="4357688"/>
            <a:ext cx="42863" cy="500063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8" name="Text 34"/>
          <p:cNvSpPr/>
          <p:nvPr/>
        </p:nvSpPr>
        <p:spPr>
          <a:xfrm>
            <a:off x="428625" y="4357688"/>
            <a:ext cx="8286750" cy="500063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重要说明：</a:t>
            </a: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JT/T 646.4-2025目前仅规定了产品指标要求，尚未纳入结构计算细则；因此，全封闭声屏障的结构设计须以 </a:t>
            </a: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GB/T 51335 国家标准</a:t>
            </a: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作为最高参照</a:t>
            </a: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依据。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40042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规范升级——GB/T 51335 核心条款深度解读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1000125"/>
            <a:ext cx="8286750" cy="491468"/>
          </a:xfrm>
          <a:prstGeom prst="rect">
            <a:avLst/>
          </a:prstGeom>
          <a:solidFill>
            <a:srgbClr val="E3F0FB"/>
          </a:solidFill>
          <a:ln/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>
            <a:off x="428625" y="1000125"/>
            <a:ext cx="42863" cy="49146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42938" y="1143000"/>
            <a:ext cx="7858125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最新版GB/T 51335在使用年限、防坠落结构与消防疏散三大维度全面提升了安全与耐久标准，为行业设立了更高的技术门槛。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28625" y="1705905"/>
            <a:ext cx="2619356" cy="3151845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>
            <a:off x="428625" y="1705905"/>
            <a:ext cx="2619356" cy="2857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3040838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428625" y="4850606"/>
            <a:ext cx="2619356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428625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607219" y="1927361"/>
            <a:ext cx="357188" cy="35718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19" y="2020230"/>
            <a:ext cx="128588" cy="17145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71563" y="1920218"/>
            <a:ext cx="103227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① 设计使用年限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
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全面提升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607219" y="2548868"/>
            <a:ext cx="2262169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新规对不同构件的耐久性提出了明确的量化要求，相比旧版规范（屏体15年、立柱30年），整体年限要求大幅提升。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07219" y="3276051"/>
            <a:ext cx="959048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支撑结构（钢/砼）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2619356" y="3276051"/>
            <a:ext cx="25003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50年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607219" y="3590376"/>
            <a:ext cx="844748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金属屏体/亚克力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2619356" y="3590376"/>
            <a:ext cx="25003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25年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607219" y="3904701"/>
            <a:ext cx="53399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玻璃/PC板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2619356" y="3904701"/>
            <a:ext cx="25003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15年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3262294" y="1705905"/>
            <a:ext cx="2619384" cy="3151845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3262294" y="1705905"/>
            <a:ext cx="2619384" cy="2857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5874534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3262294" y="4850606"/>
            <a:ext cx="2619384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28" name="Shape 23"/>
          <p:cNvSpPr/>
          <p:nvPr/>
        </p:nvSpPr>
        <p:spPr>
          <a:xfrm>
            <a:off x="3262294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29" name="Shape 24"/>
          <p:cNvSpPr/>
          <p:nvPr/>
        </p:nvSpPr>
        <p:spPr>
          <a:xfrm>
            <a:off x="3440888" y="1927361"/>
            <a:ext cx="357188" cy="35718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3756" y="2020230"/>
            <a:ext cx="171450" cy="17145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3905231" y="1920218"/>
            <a:ext cx="131802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② 卷边型防坠落结构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
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正式入规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3440888" y="2548868"/>
            <a:ext cx="2262197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新规充分认可卷边型屏体的防坠落性能，明确要求结构约束通过自身限位实现防坠落，设计须经理论分析或试验验证可靠性。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3440888" y="3204614"/>
            <a:ext cx="2262197" cy="814388"/>
          </a:xfrm>
          <a:prstGeom prst="rect">
            <a:avLst/>
          </a:prstGeom>
          <a:solidFill>
            <a:srgbClr val="FFF9E6"/>
          </a:solidFill>
          <a:ln/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3440888" y="3204614"/>
            <a:ext cx="28575" cy="814388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5" name="Text 29"/>
          <p:cNvSpPr/>
          <p:nvPr/>
        </p:nvSpPr>
        <p:spPr>
          <a:xfrm>
            <a:off x="3440888" y="3204614"/>
            <a:ext cx="2262197" cy="81438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55555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工作原理：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卷边型支撑结构通过立柱翼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缘、限位板卷边与屏体端部凸起配合，在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屏体冲击变形时形成限位约束，防坠落性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能优异。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6095991" y="1705905"/>
            <a:ext cx="2619356" cy="3151845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37" name="Shape 31"/>
          <p:cNvSpPr/>
          <p:nvPr/>
        </p:nvSpPr>
        <p:spPr>
          <a:xfrm>
            <a:off x="6095991" y="1705905"/>
            <a:ext cx="2619356" cy="2857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38" name="Shape 32"/>
          <p:cNvSpPr/>
          <p:nvPr/>
        </p:nvSpPr>
        <p:spPr>
          <a:xfrm>
            <a:off x="8708203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9" name="Shape 33"/>
          <p:cNvSpPr/>
          <p:nvPr/>
        </p:nvSpPr>
        <p:spPr>
          <a:xfrm>
            <a:off x="6095991" y="4850606"/>
            <a:ext cx="2619356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40" name="Shape 34"/>
          <p:cNvSpPr/>
          <p:nvPr/>
        </p:nvSpPr>
        <p:spPr>
          <a:xfrm>
            <a:off x="6095991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41" name="Shape 35"/>
          <p:cNvSpPr/>
          <p:nvPr/>
        </p:nvSpPr>
        <p:spPr>
          <a:xfrm>
            <a:off x="6274584" y="1927361"/>
            <a:ext cx="357188" cy="35718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6738" y="2020230"/>
            <a:ext cx="192881" cy="171450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6738928" y="1920218"/>
            <a:ext cx="88939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③ 紧急疏散门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
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量化要求</a:t>
            </a:r>
            <a:endParaRPr lang="en-US" sz="1000" dirty="0"/>
          </a:p>
        </p:txBody>
      </p:sp>
      <p:sp>
        <p:nvSpPr>
          <p:cNvPr id="44" name="Text 37"/>
          <p:cNvSpPr/>
          <p:nvPr/>
        </p:nvSpPr>
        <p:spPr>
          <a:xfrm>
            <a:off x="6274584" y="2548868"/>
            <a:ext cx="2262169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针对全封闭声屏障的消防安全，新规对紧急疏散门的设置间距、性能指标及开启方式做出了严格规定。</a:t>
            </a:r>
            <a:endParaRPr lang="en-US" sz="850" dirty="0"/>
          </a:p>
        </p:txBody>
      </p:sp>
      <p:sp>
        <p:nvSpPr>
          <p:cNvPr id="45" name="Text 38"/>
          <p:cNvSpPr/>
          <p:nvPr/>
        </p:nvSpPr>
        <p:spPr>
          <a:xfrm>
            <a:off x="6274584" y="3276051"/>
            <a:ext cx="4572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设置条件</a:t>
            </a:r>
            <a:endParaRPr lang="en-US" sz="850" dirty="0"/>
          </a:p>
        </p:txBody>
      </p:sp>
      <p:sp>
        <p:nvSpPr>
          <p:cNvPr id="46" name="Text 39"/>
          <p:cNvSpPr/>
          <p:nvPr/>
        </p:nvSpPr>
        <p:spPr>
          <a:xfrm>
            <a:off x="7758085" y="3276051"/>
            <a:ext cx="77866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总长度 &gt; 500m</a:t>
            </a:r>
            <a:endParaRPr lang="en-US" sz="800" dirty="0"/>
          </a:p>
        </p:txBody>
      </p:sp>
      <p:sp>
        <p:nvSpPr>
          <p:cNvPr id="47" name="Text 40"/>
          <p:cNvSpPr/>
          <p:nvPr/>
        </p:nvSpPr>
        <p:spPr>
          <a:xfrm>
            <a:off x="6274584" y="3590376"/>
            <a:ext cx="4572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性能要求</a:t>
            </a:r>
            <a:endParaRPr lang="en-US" sz="850" dirty="0"/>
          </a:p>
        </p:txBody>
      </p:sp>
      <p:sp>
        <p:nvSpPr>
          <p:cNvPr id="48" name="Text 41"/>
          <p:cNvSpPr/>
          <p:nvPr/>
        </p:nvSpPr>
        <p:spPr>
          <a:xfrm>
            <a:off x="7736653" y="3590376"/>
            <a:ext cx="8001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不低于附近屏体</a:t>
            </a:r>
            <a:endParaRPr lang="en-US" sz="800" dirty="0"/>
          </a:p>
        </p:txBody>
      </p:sp>
      <p:sp>
        <p:nvSpPr>
          <p:cNvPr id="49" name="Shape 42"/>
          <p:cNvSpPr/>
          <p:nvPr/>
        </p:nvSpPr>
        <p:spPr>
          <a:xfrm>
            <a:off x="6274584" y="3933276"/>
            <a:ext cx="2262169" cy="653653"/>
          </a:xfrm>
          <a:prstGeom prst="rect">
            <a:avLst/>
          </a:prstGeom>
          <a:solidFill>
            <a:srgbClr val="FFF9E6"/>
          </a:solidFill>
          <a:ln/>
        </p:spPr>
        <p:txBody>
          <a:bodyPr/>
          <a:p/>
        </p:txBody>
      </p:sp>
      <p:sp>
        <p:nvSpPr>
          <p:cNvPr id="50" name="Shape 43"/>
          <p:cNvSpPr/>
          <p:nvPr/>
        </p:nvSpPr>
        <p:spPr>
          <a:xfrm>
            <a:off x="6274584" y="3933276"/>
            <a:ext cx="28575" cy="653653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6274584" y="3933276"/>
            <a:ext cx="2262169" cy="65365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55555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对比旧规：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旧版规范要求长度&gt;1000m才需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设置，新规将标准缩紧至500m，大幅提升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了消防逃生能力。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4290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产品分类——公路全封闭声屏障主流结构形式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1000125"/>
            <a:ext cx="8286750" cy="420030"/>
          </a:xfrm>
          <a:prstGeom prst="rect">
            <a:avLst/>
          </a:prstGeom>
          <a:solidFill>
            <a:srgbClr val="E3F0FB"/>
          </a:solidFill>
          <a:ln/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>
            <a:off x="428625" y="1000125"/>
            <a:ext cx="42863" cy="42003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07219" y="1107281"/>
            <a:ext cx="792956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依据跨度、结构形式与应用场景，公路全封闭声屏障形成了完整的产品分类体系，不同工况对应不同的结构选型。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428625" y="1563030"/>
            <a:ext cx="44005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跨度规格体系（新版全封闭国标图集）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32197" y="1880927"/>
            <a:ext cx="2189141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432197" y="1880927"/>
            <a:ext cx="2189141" cy="314325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道路类型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2621338" y="1880927"/>
            <a:ext cx="955477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2621338" y="1880927"/>
            <a:ext cx="955477" cy="314325"/>
          </a:xfrm>
          <a:prstGeom prst="rect">
            <a:avLst/>
          </a:prstGeom>
          <a:noFill/>
          <a:ln/>
        </p:spPr>
        <p:txBody>
          <a:bodyPr wrap="none" lIns="127508" tIns="85090" rIns="1275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车道数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3575084" y="1880927"/>
            <a:ext cx="1250519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3575084" y="1880927"/>
            <a:ext cx="1250519" cy="314325"/>
          </a:xfrm>
          <a:prstGeom prst="rect">
            <a:avLst/>
          </a:prstGeom>
          <a:noFill/>
          <a:ln/>
        </p:spPr>
        <p:txBody>
          <a:bodyPr wrap="none" lIns="127508" tIns="85090" rIns="1275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标准跨度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432197" y="2195252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2627365" y="2195252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双车道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3573354" y="2195252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10.1m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432197" y="2472072"/>
            <a:ext cx="4393406" cy="27682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432197" y="2472072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2627365" y="2472072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四车道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3573354" y="2472072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17.6m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432197" y="2748893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2627365" y="2748893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六车道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3573354" y="2748893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27.6m</a:t>
            </a:r>
            <a:endParaRPr lang="en-US" sz="750" dirty="0"/>
          </a:p>
        </p:txBody>
      </p:sp>
      <p:sp>
        <p:nvSpPr>
          <p:cNvPr id="26" name="Shape 22"/>
          <p:cNvSpPr/>
          <p:nvPr/>
        </p:nvSpPr>
        <p:spPr>
          <a:xfrm>
            <a:off x="432197" y="3025713"/>
            <a:ext cx="4393406" cy="27682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432197" y="3025713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2627365" y="3025713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八车道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3573354" y="3025713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35.2m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432197" y="3302533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2627365" y="3302533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双车道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3573354" y="3302533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11m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32197" y="3579354"/>
            <a:ext cx="4393406" cy="27682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34" name="Text 30"/>
          <p:cNvSpPr/>
          <p:nvPr/>
        </p:nvSpPr>
        <p:spPr>
          <a:xfrm>
            <a:off x="432197" y="3579354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2627365" y="3579354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四车道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3573354" y="3579354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18.5m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432197" y="3856174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2627365" y="3856174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六车道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3573354" y="3856174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29.6m</a:t>
            </a:r>
            <a:endParaRPr lang="en-US" sz="750" dirty="0"/>
          </a:p>
        </p:txBody>
      </p:sp>
      <p:sp>
        <p:nvSpPr>
          <p:cNvPr id="40" name="Shape 36"/>
          <p:cNvSpPr/>
          <p:nvPr/>
        </p:nvSpPr>
        <p:spPr>
          <a:xfrm>
            <a:off x="432197" y="4132994"/>
            <a:ext cx="4393406" cy="27682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432197" y="4132994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2627365" y="4132994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八车道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3573354" y="4132994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37.2m</a:t>
            </a:r>
            <a:endParaRPr lang="en-US" sz="750" dirty="0"/>
          </a:p>
        </p:txBody>
      </p:sp>
      <p:sp>
        <p:nvSpPr>
          <p:cNvPr id="44" name="Text 40"/>
          <p:cNvSpPr/>
          <p:nvPr/>
        </p:nvSpPr>
        <p:spPr>
          <a:xfrm>
            <a:off x="432197" y="4409815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特殊（主线连接匝道）</a:t>
            </a:r>
            <a:endParaRPr lang="en-US" sz="800" dirty="0"/>
          </a:p>
        </p:txBody>
      </p:sp>
      <p:sp>
        <p:nvSpPr>
          <p:cNvPr id="45" name="Text 41"/>
          <p:cNvSpPr/>
          <p:nvPr/>
        </p:nvSpPr>
        <p:spPr>
          <a:xfrm>
            <a:off x="2627365" y="4409815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</a:t>
            </a:r>
            <a:endParaRPr lang="en-US" sz="800" dirty="0"/>
          </a:p>
        </p:txBody>
      </p:sp>
      <p:sp>
        <p:nvSpPr>
          <p:cNvPr id="46" name="Text 42"/>
          <p:cNvSpPr/>
          <p:nvPr/>
        </p:nvSpPr>
        <p:spPr>
          <a:xfrm>
            <a:off x="3573354" y="4409815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35m–60m</a:t>
            </a:r>
            <a:endParaRPr lang="en-US" sz="750" dirty="0"/>
          </a:p>
        </p:txBody>
      </p:sp>
      <p:sp>
        <p:nvSpPr>
          <p:cNvPr id="47" name="Text 43"/>
          <p:cNvSpPr/>
          <p:nvPr/>
        </p:nvSpPr>
        <p:spPr>
          <a:xfrm>
            <a:off x="5114925" y="1563030"/>
            <a:ext cx="36004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柱脚结构分类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114925" y="2020230"/>
            <a:ext cx="3600450" cy="1347322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49" name="Shape 45"/>
          <p:cNvSpPr/>
          <p:nvPr/>
        </p:nvSpPr>
        <p:spPr>
          <a:xfrm>
            <a:off x="5114925" y="2020230"/>
            <a:ext cx="3600450" cy="2857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50" name="Shape 46"/>
          <p:cNvSpPr/>
          <p:nvPr/>
        </p:nvSpPr>
        <p:spPr>
          <a:xfrm>
            <a:off x="8708231" y="2020230"/>
            <a:ext cx="7144" cy="1347322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51" name="Shape 47"/>
          <p:cNvSpPr/>
          <p:nvPr/>
        </p:nvSpPr>
        <p:spPr>
          <a:xfrm>
            <a:off x="5114925" y="3360409"/>
            <a:ext cx="3600450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52" name="Shape 48"/>
          <p:cNvSpPr/>
          <p:nvPr/>
        </p:nvSpPr>
        <p:spPr>
          <a:xfrm>
            <a:off x="5114925" y="2020230"/>
            <a:ext cx="7144" cy="1347322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53" name="Text 49"/>
          <p:cNvSpPr/>
          <p:nvPr/>
        </p:nvSpPr>
        <p:spPr>
          <a:xfrm>
            <a:off x="5257800" y="2244923"/>
            <a:ext cx="3314700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刚接柱脚</a:t>
            </a:r>
            <a:endParaRPr lang="en-US" sz="1100" dirty="0"/>
          </a:p>
        </p:txBody>
      </p:sp>
      <p:sp>
        <p:nvSpPr>
          <p:cNvPr id="54" name="Text 50"/>
          <p:cNvSpPr/>
          <p:nvPr/>
        </p:nvSpPr>
        <p:spPr>
          <a:xfrm>
            <a:off x="5257800" y="2543175"/>
            <a:ext cx="331470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适用于挡墙宽度充裕的常规场景，结构整体刚度高，能够提供更强的抗风和抗震能力。</a:t>
            </a:r>
            <a:endParaRPr lang="en-US" sz="850" dirty="0"/>
          </a:p>
        </p:txBody>
      </p:sp>
      <p:sp>
        <p:nvSpPr>
          <p:cNvPr id="55" name="Text 51"/>
          <p:cNvSpPr/>
          <p:nvPr/>
        </p:nvSpPr>
        <p:spPr>
          <a:xfrm>
            <a:off x="5257800" y="2980339"/>
            <a:ext cx="33147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常规路基段及宽挡墙桥梁段首选结构形式。</a:t>
            </a:r>
            <a:endParaRPr lang="en-US" sz="750" dirty="0"/>
          </a:p>
        </p:txBody>
      </p:sp>
      <p:sp>
        <p:nvSpPr>
          <p:cNvPr id="56" name="Shape 52"/>
          <p:cNvSpPr/>
          <p:nvPr/>
        </p:nvSpPr>
        <p:spPr>
          <a:xfrm>
            <a:off x="5114925" y="3492568"/>
            <a:ext cx="3600450" cy="1365182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57" name="Shape 53"/>
          <p:cNvSpPr/>
          <p:nvPr/>
        </p:nvSpPr>
        <p:spPr>
          <a:xfrm>
            <a:off x="5114925" y="3492568"/>
            <a:ext cx="3600450" cy="2857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58" name="Shape 54"/>
          <p:cNvSpPr/>
          <p:nvPr/>
        </p:nvSpPr>
        <p:spPr>
          <a:xfrm>
            <a:off x="8708231" y="3492568"/>
            <a:ext cx="7144" cy="1365182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59" name="Shape 55"/>
          <p:cNvSpPr/>
          <p:nvPr/>
        </p:nvSpPr>
        <p:spPr>
          <a:xfrm>
            <a:off x="5114925" y="4850606"/>
            <a:ext cx="3600450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60" name="Shape 56"/>
          <p:cNvSpPr/>
          <p:nvPr/>
        </p:nvSpPr>
        <p:spPr>
          <a:xfrm>
            <a:off x="5114925" y="3492568"/>
            <a:ext cx="7144" cy="1365182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61" name="Text 57"/>
          <p:cNvSpPr/>
          <p:nvPr/>
        </p:nvSpPr>
        <p:spPr>
          <a:xfrm>
            <a:off x="5257800" y="3744051"/>
            <a:ext cx="3314700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铰接柱脚</a:t>
            </a:r>
            <a:endParaRPr lang="en-US" sz="1100" dirty="0"/>
          </a:p>
        </p:txBody>
      </p:sp>
      <p:sp>
        <p:nvSpPr>
          <p:cNvPr id="62" name="Text 58"/>
          <p:cNvSpPr/>
          <p:nvPr/>
        </p:nvSpPr>
        <p:spPr>
          <a:xfrm>
            <a:off x="5257800" y="4042302"/>
            <a:ext cx="331470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对挡墙截面宽度要求更小，能够有效减小传递至基础的弯矩，适用于挡墙较窄的桥梁场景。</a:t>
            </a:r>
            <a:endParaRPr lang="en-US" sz="850" dirty="0"/>
          </a:p>
        </p:txBody>
      </p:sp>
      <p:sp>
        <p:nvSpPr>
          <p:cNvPr id="63" name="Text 59"/>
          <p:cNvSpPr/>
          <p:nvPr/>
        </p:nvSpPr>
        <p:spPr>
          <a:xfrm>
            <a:off x="5257800" y="4479466"/>
            <a:ext cx="33147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典型应用：上海S4入城段、长春南四环等项目。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7719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痛点一——屏体脱落事故频发，安全隐患触目惊心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1000125"/>
            <a:ext cx="8286750" cy="625748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>
            <a:off x="428625" y="1000125"/>
            <a:ext cx="42863" cy="625748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07219" y="1107281"/>
            <a:ext cx="79295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B71C1C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传统声屏障因工艺缺陷与设计不足，在强风或碰撞冲击下极易发生整体脱落，造成严重的人员伤亡与社会影响，安全问题已成行业最紧迫的痛点。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428625" y="1768748"/>
            <a:ext cx="52006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典型事故案例时间线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32197" y="2086645"/>
            <a:ext cx="779004" cy="342900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432197" y="2086645"/>
            <a:ext cx="779004" cy="342900"/>
          </a:xfrm>
          <a:prstGeom prst="rect">
            <a:avLst/>
          </a:prstGeom>
          <a:noFill/>
          <a:ln/>
        </p:spPr>
        <p:txBody>
          <a:bodyPr wrap="non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时间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1211200" y="2086645"/>
            <a:ext cx="1298377" cy="342900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1211200" y="2086645"/>
            <a:ext cx="1298377" cy="342900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地点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2509577" y="2086645"/>
            <a:ext cx="2077380" cy="342900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2509577" y="2086645"/>
            <a:ext cx="2077380" cy="342900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事故描述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586957" y="2086645"/>
            <a:ext cx="1038746" cy="342900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4586957" y="2086645"/>
            <a:ext cx="1038746" cy="342900"/>
          </a:xfrm>
          <a:prstGeom prst="rect">
            <a:avLst/>
          </a:prstGeom>
          <a:noFill/>
          <a:ln/>
        </p:spPr>
        <p:txBody>
          <a:bodyPr wrap="non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后果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432197" y="2429545"/>
            <a:ext cx="779004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2016年10月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1211200" y="2429545"/>
            <a:ext cx="1298377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某城市高架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2509577" y="2429545"/>
            <a:ext cx="2077380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突然掉落的声屏障砸中18岁大学生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4586957" y="2429545"/>
            <a:ext cx="1038746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人员昏迷</a:t>
            </a:r>
            <a:endParaRPr lang="en-US" sz="750" dirty="0"/>
          </a:p>
        </p:txBody>
      </p:sp>
      <p:sp>
        <p:nvSpPr>
          <p:cNvPr id="22" name="Shape 18"/>
          <p:cNvSpPr/>
          <p:nvPr/>
        </p:nvSpPr>
        <p:spPr>
          <a:xfrm>
            <a:off x="432197" y="2929607"/>
            <a:ext cx="5193506" cy="500063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432197" y="2929607"/>
            <a:ext cx="779004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2018年1月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1211200" y="2929607"/>
            <a:ext cx="1298377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上海南北高架永兴路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2509577" y="2929607"/>
            <a:ext cx="2077380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大货车碰撞声屏障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4586957" y="2929607"/>
            <a:ext cx="1038746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驾驶室严重变形，2人重伤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432197" y="3429670"/>
            <a:ext cx="779004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2020年8月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1211200" y="3429670"/>
            <a:ext cx="1298377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昆明高架桥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2509577" y="3429670"/>
            <a:ext cx="2077380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隔音板掉落砸到行驶车辆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586957" y="3429670"/>
            <a:ext cx="1038746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险些"砍头"</a:t>
            </a:r>
            <a:endParaRPr lang="en-US" sz="750" dirty="0"/>
          </a:p>
        </p:txBody>
      </p:sp>
      <p:sp>
        <p:nvSpPr>
          <p:cNvPr id="31" name="Shape 27"/>
          <p:cNvSpPr/>
          <p:nvPr/>
        </p:nvSpPr>
        <p:spPr>
          <a:xfrm>
            <a:off x="432197" y="3768998"/>
            <a:ext cx="5193506" cy="500063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32" name="Text 28"/>
          <p:cNvSpPr/>
          <p:nvPr/>
        </p:nvSpPr>
        <p:spPr>
          <a:xfrm>
            <a:off x="432197" y="3768998"/>
            <a:ext cx="779004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2023年1月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1211200" y="3768998"/>
            <a:ext cx="1298377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上海申嘉湖高速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2509577" y="3768998"/>
            <a:ext cx="2077380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集卡碰擦声屏障，从20余米高架掉落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4586957" y="3768998"/>
            <a:ext cx="1038746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声屏障与立柱悬在半空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432197" y="4269060"/>
            <a:ext cx="779004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2025年6月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1211200" y="4269060"/>
            <a:ext cx="1298377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深圳南坪快速路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2509577" y="4269060"/>
            <a:ext cx="2077380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货车碰撞导致全封闭声屏障坍塌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4586957" y="4269060"/>
            <a:ext cx="1038746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大面积坍塌</a:t>
            </a:r>
            <a:endParaRPr lang="en-US" sz="750" dirty="0"/>
          </a:p>
        </p:txBody>
      </p:sp>
      <p:sp>
        <p:nvSpPr>
          <p:cNvPr id="40" name="Shape 36"/>
          <p:cNvSpPr/>
          <p:nvPr/>
        </p:nvSpPr>
        <p:spPr>
          <a:xfrm>
            <a:off x="432197" y="4608388"/>
            <a:ext cx="5193506" cy="500063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432197" y="4608388"/>
            <a:ext cx="779004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2026年3月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1211200" y="4608388"/>
            <a:ext cx="1298377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上海某高架桥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2509577" y="4608388"/>
            <a:ext cx="2077380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隔音板从高空砸下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4586957" y="4608388"/>
            <a:ext cx="1038746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立柱悬空，交通中断</a:t>
            </a:r>
            <a:endParaRPr lang="en-US" sz="750" dirty="0"/>
          </a:p>
        </p:txBody>
      </p:sp>
      <p:sp>
        <p:nvSpPr>
          <p:cNvPr id="45" name="Shape 41"/>
          <p:cNvSpPr/>
          <p:nvPr/>
        </p:nvSpPr>
        <p:spPr>
          <a:xfrm>
            <a:off x="5915025" y="1768748"/>
            <a:ext cx="2800350" cy="2798564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46" name="Shape 42"/>
          <p:cNvSpPr/>
          <p:nvPr/>
        </p:nvSpPr>
        <p:spPr>
          <a:xfrm>
            <a:off x="5915025" y="1768748"/>
            <a:ext cx="2800350" cy="28575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47" name="Shape 43"/>
          <p:cNvSpPr/>
          <p:nvPr/>
        </p:nvSpPr>
        <p:spPr>
          <a:xfrm>
            <a:off x="8708231" y="1768748"/>
            <a:ext cx="7144" cy="279856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48" name="Shape 44"/>
          <p:cNvSpPr/>
          <p:nvPr/>
        </p:nvSpPr>
        <p:spPr>
          <a:xfrm>
            <a:off x="5915025" y="4560168"/>
            <a:ext cx="2800350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49" name="Shape 45"/>
          <p:cNvSpPr/>
          <p:nvPr/>
        </p:nvSpPr>
        <p:spPr>
          <a:xfrm>
            <a:off x="5915025" y="1768748"/>
            <a:ext cx="7144" cy="279856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50" name="Text 46"/>
          <p:cNvSpPr/>
          <p:nvPr/>
        </p:nvSpPr>
        <p:spPr>
          <a:xfrm>
            <a:off x="6057900" y="1911623"/>
            <a:ext cx="25146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事故根本原因剖析</a:t>
            </a:r>
            <a:endParaRPr lang="en-US" sz="900" dirty="0"/>
          </a:p>
        </p:txBody>
      </p:sp>
      <p:sp>
        <p:nvSpPr>
          <p:cNvPr id="51" name="Shape 47"/>
          <p:cNvSpPr/>
          <p:nvPr/>
        </p:nvSpPr>
        <p:spPr>
          <a:xfrm>
            <a:off x="6057900" y="2240235"/>
            <a:ext cx="171450" cy="171450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52" name="Text 48"/>
          <p:cNvSpPr/>
          <p:nvPr/>
        </p:nvSpPr>
        <p:spPr>
          <a:xfrm>
            <a:off x="6057900" y="2240235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</a:t>
            </a:r>
            <a:endParaRPr lang="en-US" sz="700" dirty="0"/>
          </a:p>
        </p:txBody>
      </p:sp>
      <p:sp>
        <p:nvSpPr>
          <p:cNvPr id="53" name="Text 49"/>
          <p:cNvSpPr/>
          <p:nvPr/>
        </p:nvSpPr>
        <p:spPr>
          <a:xfrm>
            <a:off x="6315075" y="2225948"/>
            <a:ext cx="2257425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工艺缺陷：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屏体加工工艺差，未充分考虑材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料在户外环境下的热胀冷缩效应。</a:t>
            </a:r>
            <a:endParaRPr lang="en-US" sz="800" dirty="0"/>
          </a:p>
        </p:txBody>
      </p:sp>
      <p:sp>
        <p:nvSpPr>
          <p:cNvPr id="54" name="Shape 50"/>
          <p:cNvSpPr/>
          <p:nvPr/>
        </p:nvSpPr>
        <p:spPr>
          <a:xfrm>
            <a:off x="6057900" y="2713118"/>
            <a:ext cx="171450" cy="171450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55" name="Text 51"/>
          <p:cNvSpPr/>
          <p:nvPr/>
        </p:nvSpPr>
        <p:spPr>
          <a:xfrm>
            <a:off x="6057900" y="2713118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6315075" y="2698831"/>
            <a:ext cx="2257425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设计不足：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缺乏防脱落限位结构设计，在强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风或车辆碰撞冲击下无法保持结构完整。</a:t>
            </a:r>
            <a:endParaRPr lang="en-US" sz="800" dirty="0"/>
          </a:p>
        </p:txBody>
      </p:sp>
      <p:sp>
        <p:nvSpPr>
          <p:cNvPr id="57" name="Shape 53"/>
          <p:cNvSpPr/>
          <p:nvPr/>
        </p:nvSpPr>
        <p:spPr>
          <a:xfrm>
            <a:off x="6057900" y="3186001"/>
            <a:ext cx="171450" cy="171450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58" name="Text 54"/>
          <p:cNvSpPr/>
          <p:nvPr/>
        </p:nvSpPr>
        <p:spPr>
          <a:xfrm>
            <a:off x="6057900" y="3186001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6315075" y="3171713"/>
            <a:ext cx="2257425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材料违规：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通透板材破碎坠落，不符合国标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GB/T29641-2013关于防坠落的安全要求。</a:t>
            </a:r>
            <a:endParaRPr lang="en-US" sz="800" dirty="0"/>
          </a:p>
        </p:txBody>
      </p:sp>
      <p:sp>
        <p:nvSpPr>
          <p:cNvPr id="60" name="Shape 56"/>
          <p:cNvSpPr/>
          <p:nvPr/>
        </p:nvSpPr>
        <p:spPr>
          <a:xfrm>
            <a:off x="5915025" y="4710187"/>
            <a:ext cx="2800350" cy="40183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61" name="Text 57"/>
          <p:cNvSpPr/>
          <p:nvPr/>
        </p:nvSpPr>
        <p:spPr>
          <a:xfrm>
            <a:off x="5915025" y="4710187"/>
            <a:ext cx="2800350" cy="401836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t">
            <a:spAutoFit/>
          </a:bodyPr>
          <a:lstStyle/>
          <a:p>
            <a:pPr algn="ctr" indent="0" marL="0">
              <a:buNone/>
            </a:pPr>
            <a:r>
              <a:rPr lang="en-US" sz="900" b="1" spc="1" kern="0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安全隐患触目惊心，亟需结构升级！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7719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痛点二——消防排烟困难，封闭空间火灾风险极高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950119"/>
            <a:ext cx="8286750" cy="420030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>
            <a:off x="428625" y="950119"/>
            <a:ext cx="42863" cy="420030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07219" y="1057275"/>
            <a:ext cx="792956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B71C1C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全封闭声屏障的封闭空间特性使其在火灾场景下面临极高风险，材料选择不当与防火设计缺失将导致火势迅速蔓延，严重威胁人员逃生。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28625" y="1513024"/>
            <a:ext cx="8286750" cy="1144395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>
            <a:off x="428625" y="1513024"/>
            <a:ext cx="8286750" cy="28575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8708231" y="1513024"/>
            <a:ext cx="7144" cy="114439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428625" y="2650275"/>
            <a:ext cx="8286750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428625" y="1513024"/>
            <a:ext cx="7144" cy="114439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88046"/>
            <a:ext cx="107156" cy="14287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0094" y="1655899"/>
            <a:ext cx="11430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典型火灾事故案例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571500" y="1970224"/>
            <a:ext cx="8001000" cy="18286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韩国京仁第二高速公路声屏障火灾：</a:t>
            </a:r>
            <a:r>
              <a:rPr lang="en-US" sz="85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顶部采用B2级亚克力板（可燃材料），火灾发生后迅速蔓延，造成巨大经济损失与人员伤亡。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571500" y="2224525"/>
            <a:ext cx="8001000" cy="18286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2025年5月，上海首例光伏声屏障着火：</a:t>
            </a:r>
            <a:r>
              <a:rPr lang="en-US" sz="85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冒出大量黑烟，残片与碎渣从顶部掉落，途经车辆纷纷紧急避让，引发社会广泛关注。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571500" y="1970224"/>
            <a:ext cx="1143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•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571500" y="2224525"/>
            <a:ext cx="1143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•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435769" y="2843157"/>
            <a:ext cx="1654476" cy="369689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435769" y="2843157"/>
            <a:ext cx="1654476" cy="369689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材料类型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2090245" y="2843157"/>
            <a:ext cx="1240864" cy="369689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p/>
        </p:txBody>
      </p:sp>
      <p:sp>
        <p:nvSpPr>
          <p:cNvPr id="23" name="Text 18"/>
          <p:cNvSpPr/>
          <p:nvPr/>
        </p:nvSpPr>
        <p:spPr>
          <a:xfrm>
            <a:off x="2090245" y="2843157"/>
            <a:ext cx="1240864" cy="369689"/>
          </a:xfrm>
          <a:prstGeom prst="rect">
            <a:avLst/>
          </a:prstGeom>
          <a:noFill/>
          <a:ln/>
        </p:spPr>
        <p:txBody>
          <a:bodyPr wrap="non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燃点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3331108" y="2843157"/>
            <a:ext cx="3722591" cy="369689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3331108" y="2843157"/>
            <a:ext cx="3722591" cy="369689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火灾特性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7053700" y="2843157"/>
            <a:ext cx="1654532" cy="369689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7053700" y="2843157"/>
            <a:ext cx="1654532" cy="369689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风险等级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550069" y="3305715"/>
            <a:ext cx="946547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亚克力板（B2级）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2090245" y="3212846"/>
            <a:ext cx="1240864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低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3331108" y="3212846"/>
            <a:ext cx="3722591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快速形成易熔带，但燃烧后迅速蔓延，产生滴落物</a:t>
            </a:r>
            <a:endParaRPr lang="en-US" sz="8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4428" y="3337861"/>
            <a:ext cx="114300" cy="11430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278728" y="3305715"/>
            <a:ext cx="36968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高风险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435769" y="3562890"/>
            <a:ext cx="8272463" cy="350044"/>
          </a:xfrm>
          <a:prstGeom prst="rect">
            <a:avLst/>
          </a:prstGeom>
          <a:solidFill>
            <a:srgbClr val="F5F8FA"/>
          </a:solidFill>
          <a:ln/>
        </p:spPr>
        <p:txBody>
          <a:bodyPr/>
          <a:p/>
        </p:txBody>
      </p:sp>
      <p:sp>
        <p:nvSpPr>
          <p:cNvPr id="34" name="Text 28"/>
          <p:cNvSpPr/>
          <p:nvPr/>
        </p:nvSpPr>
        <p:spPr>
          <a:xfrm>
            <a:off x="550069" y="3655758"/>
            <a:ext cx="26610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PC板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2090245" y="3562890"/>
            <a:ext cx="1240864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580℃</a:t>
            </a:r>
            <a:endParaRPr lang="en-US" sz="850" dirty="0"/>
          </a:p>
        </p:txBody>
      </p:sp>
      <p:sp>
        <p:nvSpPr>
          <p:cNvPr id="36" name="Text 30"/>
          <p:cNvSpPr/>
          <p:nvPr/>
        </p:nvSpPr>
        <p:spPr>
          <a:xfrm>
            <a:off x="3331108" y="3562890"/>
            <a:ext cx="3722591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自身不易燃，但火灾时烟雾无法排出，阻碍逃生</a:t>
            </a:r>
            <a:endParaRPr lang="en-US" sz="850" dirty="0"/>
          </a:p>
        </p:txBody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4428" y="3687905"/>
            <a:ext cx="114300" cy="114300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7278728" y="3655758"/>
            <a:ext cx="36968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高风险</a:t>
            </a:r>
            <a:endParaRPr lang="en-US" sz="800" dirty="0"/>
          </a:p>
        </p:txBody>
      </p:sp>
      <p:sp>
        <p:nvSpPr>
          <p:cNvPr id="39" name="Text 32"/>
          <p:cNvSpPr/>
          <p:nvPr/>
        </p:nvSpPr>
        <p:spPr>
          <a:xfrm>
            <a:off x="550069" y="4005802"/>
            <a:ext cx="1216223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防火隔离带材料（A级）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2090245" y="3912933"/>
            <a:ext cx="1240864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不燃</a:t>
            </a:r>
            <a:endParaRPr lang="en-US" sz="850" dirty="0"/>
          </a:p>
        </p:txBody>
      </p:sp>
      <p:sp>
        <p:nvSpPr>
          <p:cNvPr id="41" name="Text 34"/>
          <p:cNvSpPr/>
          <p:nvPr/>
        </p:nvSpPr>
        <p:spPr>
          <a:xfrm>
            <a:off x="3331108" y="3912933"/>
            <a:ext cx="3722591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有效阻隔火势蔓延，保障结构安全</a:t>
            </a:r>
            <a:endParaRPr lang="en-US" sz="85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4428" y="4037949"/>
            <a:ext cx="114300" cy="11430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7278728" y="4005802"/>
            <a:ext cx="25538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合规</a:t>
            </a:r>
            <a:endParaRPr lang="en-US" sz="800" dirty="0"/>
          </a:p>
        </p:txBody>
      </p:sp>
      <p:sp>
        <p:nvSpPr>
          <p:cNvPr id="44" name="Shape 36"/>
          <p:cNvSpPr/>
          <p:nvPr/>
        </p:nvSpPr>
        <p:spPr>
          <a:xfrm>
            <a:off x="428625" y="4488005"/>
            <a:ext cx="8286750" cy="623292"/>
          </a:xfrm>
          <a:prstGeom prst="rect">
            <a:avLst/>
          </a:prstGeom>
          <a:solidFill>
            <a:srgbClr val="E3F0FB"/>
          </a:solidFill>
          <a:ln w="9144">
            <a:solidFill>
              <a:srgbClr val="1565C0"/>
            </a:solidFill>
            <a:prstDash val="solid"/>
          </a:ln>
        </p:spPr>
        <p:txBody>
          <a:bodyPr/>
          <a:p/>
        </p:txBody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657669"/>
            <a:ext cx="150019" cy="171450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828675" y="4595161"/>
            <a:ext cx="7743825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规范要求 (GB/T 51335)</a:t>
            </a:r>
            <a:endParaRPr lang="en-US" sz="900" dirty="0"/>
          </a:p>
        </p:txBody>
      </p:sp>
      <p:sp>
        <p:nvSpPr>
          <p:cNvPr id="47" name="Text 38"/>
          <p:cNvSpPr/>
          <p:nvPr/>
        </p:nvSpPr>
        <p:spPr>
          <a:xfrm>
            <a:off x="828675" y="4818404"/>
            <a:ext cx="77438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明确要求封闭式声屏障支撑构件耐火极限不得低于 </a:t>
            </a: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1.0h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；每100米必须设置4米（2跨）防火隔离带，采用耐火极限达到 </a:t>
            </a: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3h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的专用隔离材料。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7719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痛点三——降噪失效与眩光污染，功能性严重缺失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928688"/>
            <a:ext cx="8286750" cy="625748"/>
          </a:xfrm>
          <a:prstGeom prst="rect">
            <a:avLst/>
          </a:prstGeom>
          <a:solidFill>
            <a:srgbClr val="E3F0FB"/>
          </a:solidFill>
          <a:ln/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>
            <a:off x="428625" y="928688"/>
            <a:ext cx="42863" cy="6257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07219" y="1035844"/>
            <a:ext cx="79295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设计缺陷导致全封闭声屏障未能发挥应有的降噪功能，反而引发高层住宅噪音加剧；同时，未经处理的透明板产生强烈眩光，严重威胁行车安全。</a:t>
            </a:r>
            <a:endParaRPr lang="en-US" sz="9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1729457"/>
            <a:ext cx="178594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78656" y="1697310"/>
            <a:ext cx="1857375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降噪不达标——三大漏声路径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28625" y="1975917"/>
            <a:ext cx="2666991" cy="123017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12" name="Shape 7"/>
          <p:cNvSpPr/>
          <p:nvPr/>
        </p:nvSpPr>
        <p:spPr>
          <a:xfrm>
            <a:off x="428625" y="1975917"/>
            <a:ext cx="2666991" cy="28575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3088472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28625" y="3198949"/>
            <a:ext cx="2666991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428625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148260"/>
            <a:ext cx="96441" cy="1285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25091" y="2118792"/>
            <a:ext cx="771525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顶部镂空逸散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571500" y="2377753"/>
            <a:ext cx="238124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传统全封闭顶部采用简单镂空设计，噪声从顶部大量逸散，导致高层住宅噪声反而比安装声屏障前更大。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3238491" y="1975917"/>
            <a:ext cx="2666991" cy="123017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3238491" y="1975917"/>
            <a:ext cx="2666991" cy="28575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5898338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22" name="Shape 16"/>
          <p:cNvSpPr/>
          <p:nvPr/>
        </p:nvSpPr>
        <p:spPr>
          <a:xfrm>
            <a:off x="3238491" y="3198949"/>
            <a:ext cx="2666991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23" name="Shape 17"/>
          <p:cNvSpPr/>
          <p:nvPr/>
        </p:nvSpPr>
        <p:spPr>
          <a:xfrm>
            <a:off x="3238491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1366" y="2148260"/>
            <a:ext cx="128588" cy="1285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567103" y="2118792"/>
            <a:ext cx="514350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两侧绕射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3381366" y="2377753"/>
            <a:ext cx="238124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声屏障两端绕射路径未经优化，噪声绕过屏体传播至敏感点，未能形成有效的声影区。</a:t>
            </a:r>
            <a:endParaRPr lang="en-US" sz="800" dirty="0"/>
          </a:p>
        </p:txBody>
      </p:sp>
      <p:sp>
        <p:nvSpPr>
          <p:cNvPr id="27" name="Shape 20"/>
          <p:cNvSpPr/>
          <p:nvPr/>
        </p:nvSpPr>
        <p:spPr>
          <a:xfrm>
            <a:off x="6048356" y="1975917"/>
            <a:ext cx="2667019" cy="123017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28" name="Shape 21"/>
          <p:cNvSpPr/>
          <p:nvPr/>
        </p:nvSpPr>
        <p:spPr>
          <a:xfrm>
            <a:off x="6048356" y="1975917"/>
            <a:ext cx="2667019" cy="28575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p/>
        </p:txBody>
      </p:sp>
      <p:sp>
        <p:nvSpPr>
          <p:cNvPr id="29" name="Shape 22"/>
          <p:cNvSpPr/>
          <p:nvPr/>
        </p:nvSpPr>
        <p:spPr>
          <a:xfrm>
            <a:off x="8708231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6048356" y="3198949"/>
            <a:ext cx="2667019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6048356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2" name="Text 25"/>
          <p:cNvSpPr/>
          <p:nvPr/>
        </p:nvSpPr>
        <p:spPr>
          <a:xfrm>
            <a:off x="6248381" y="2118792"/>
            <a:ext cx="771525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板间缝隙漏声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6191231" y="2377753"/>
            <a:ext cx="23812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屏体拼接缝隙处理不当，密封胶条老化或缺失，形成噪声泄漏通道，大幅降低整体隔声量。</a:t>
            </a:r>
            <a:endParaRPr lang="en-US" sz="800" dirty="0"/>
          </a:p>
        </p:txBody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" y="3381115"/>
            <a:ext cx="142875" cy="142875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42938" y="3348968"/>
            <a:ext cx="17145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透明眩光——驾驶安全隐患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428625" y="3627574"/>
            <a:ext cx="8286750" cy="1230176"/>
          </a:xfrm>
          <a:prstGeom prst="rect">
            <a:avLst/>
          </a:prstGeom>
          <a:solidFill>
            <a:srgbClr val="FFF5F5"/>
          </a:solidFill>
          <a:ln/>
        </p:spPr>
        <p:txBody>
          <a:bodyPr/>
          <a:p/>
        </p:txBody>
      </p:sp>
      <p:sp>
        <p:nvSpPr>
          <p:cNvPr id="37" name="Shape 29"/>
          <p:cNvSpPr/>
          <p:nvPr/>
        </p:nvSpPr>
        <p:spPr>
          <a:xfrm>
            <a:off x="428625" y="3627574"/>
            <a:ext cx="8286750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8" name="Shape 30"/>
          <p:cNvSpPr/>
          <p:nvPr/>
        </p:nvSpPr>
        <p:spPr>
          <a:xfrm>
            <a:off x="8708231" y="3627574"/>
            <a:ext cx="7144" cy="123017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9" name="Shape 31"/>
          <p:cNvSpPr/>
          <p:nvPr/>
        </p:nvSpPr>
        <p:spPr>
          <a:xfrm>
            <a:off x="428625" y="4850606"/>
            <a:ext cx="8286750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40" name="Shape 32"/>
          <p:cNvSpPr/>
          <p:nvPr/>
        </p:nvSpPr>
        <p:spPr>
          <a:xfrm>
            <a:off x="428625" y="3627574"/>
            <a:ext cx="28575" cy="123017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028349"/>
            <a:ext cx="428625" cy="428625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1357313" y="3992463"/>
            <a:ext cx="7215188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44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透明单元板未进行防眩光处理，在阳光直射或对向车灯照射下产生强烈的镜面反射和光斑效应。</a:t>
            </a:r>
            <a:endParaRPr lang="en-US" sz="850" dirty="0"/>
          </a:p>
        </p:txBody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7313" y="4334805"/>
            <a:ext cx="160734" cy="128588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1589484" y="4305337"/>
            <a:ext cx="4650581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驾驶员进入全封闭区域时瞬间"晃眼"，严重影响视线，极易引发追尾等安全事故！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41148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痛点四——防腐工艺落后，耐久性不足与维保成本失控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928688"/>
            <a:ext cx="8286750" cy="342900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>
            <a:off x="428625" y="928688"/>
            <a:ext cx="42863" cy="342900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571500" y="1014413"/>
            <a:ext cx="80010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71C1C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传统防腐工艺无法抵御恶劣户外环境的长期侵蚀，导致钢结构与屏体快速锈蚀老化，使用寿命大幅缩短，后期维保成本严重失控。</a:t>
            </a:r>
            <a:endParaRPr lang="en-US" sz="8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1408212"/>
            <a:ext cx="128588" cy="12858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4363" y="1378744"/>
            <a:ext cx="1028700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防腐工艺寿命对比</a:t>
            </a:r>
            <a:endParaRPr lang="en-US" sz="900" dirty="0"/>
          </a:p>
        </p:txBody>
      </p:sp>
      <p:sp>
        <p:nvSpPr>
          <p:cNvPr id="11" name="Shape 6"/>
          <p:cNvSpPr/>
          <p:nvPr/>
        </p:nvSpPr>
        <p:spPr>
          <a:xfrm>
            <a:off x="432197" y="1641277"/>
            <a:ext cx="1655899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7"/>
          <p:cNvSpPr/>
          <p:nvPr/>
        </p:nvSpPr>
        <p:spPr>
          <a:xfrm>
            <a:off x="432197" y="1641277"/>
            <a:ext cx="1655899" cy="314325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工艺类型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088096" y="1641277"/>
            <a:ext cx="2897851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2088096" y="1641277"/>
            <a:ext cx="2897851" cy="314325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具体描述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4985947" y="1641277"/>
            <a:ext cx="1241924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6" name="Text 11"/>
          <p:cNvSpPr/>
          <p:nvPr/>
        </p:nvSpPr>
        <p:spPr>
          <a:xfrm>
            <a:off x="4985947" y="1641277"/>
            <a:ext cx="1241924" cy="314325"/>
          </a:xfrm>
          <a:prstGeom prst="rect">
            <a:avLst/>
          </a:prstGeom>
          <a:noFill/>
          <a:ln/>
        </p:spPr>
        <p:txBody>
          <a:bodyPr wrap="none" lIns="127508" tIns="85090" rIns="1275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使用年限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6227871" y="1641277"/>
            <a:ext cx="2483932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6227871" y="1641277"/>
            <a:ext cx="2483932" cy="314325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主要缺陷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542925" y="2027039"/>
            <a:ext cx="42862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油漆工艺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2088096" y="1955602"/>
            <a:ext cx="2897851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底漆 + 中间漆 + 面漆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4985947" y="1955602"/>
            <a:ext cx="1241924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5~10年</a:t>
            </a:r>
            <a:endParaRPr lang="en-US" sz="750" dirty="0"/>
          </a:p>
        </p:txBody>
      </p:sp>
      <p:sp>
        <p:nvSpPr>
          <p:cNvPr id="22" name="Text 17"/>
          <p:cNvSpPr/>
          <p:nvPr/>
        </p:nvSpPr>
        <p:spPr>
          <a:xfrm>
            <a:off x="6227871" y="1955602"/>
            <a:ext cx="2483932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加工质量难以把控，户外环境下快速脱落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32197" y="2255639"/>
            <a:ext cx="8279606" cy="300038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542925" y="2327077"/>
            <a:ext cx="6429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热浸镀锌工艺</a:t>
            </a:r>
            <a:endParaRPr lang="en-US" sz="750" dirty="0"/>
          </a:p>
        </p:txBody>
      </p:sp>
      <p:sp>
        <p:nvSpPr>
          <p:cNvPr id="25" name="Text 20"/>
          <p:cNvSpPr/>
          <p:nvPr/>
        </p:nvSpPr>
        <p:spPr>
          <a:xfrm>
            <a:off x="2088096" y="2255639"/>
            <a:ext cx="2897851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酸洗 + 热镀锌 + 粉末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4985947" y="2255639"/>
            <a:ext cx="1241924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15~25年</a:t>
            </a:r>
            <a:endParaRPr lang="en-US" sz="750" dirty="0"/>
          </a:p>
        </p:txBody>
      </p:sp>
      <p:sp>
        <p:nvSpPr>
          <p:cNvPr id="27" name="Text 22"/>
          <p:cNvSpPr/>
          <p:nvPr/>
        </p:nvSpPr>
        <p:spPr>
          <a:xfrm>
            <a:off x="6227871" y="2255639"/>
            <a:ext cx="2483932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基材锈蚀后镀锌层无法保护，仅能通过油漆维保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542925" y="2627114"/>
            <a:ext cx="6429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复合防腐工艺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2088096" y="2555677"/>
            <a:ext cx="2897851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抛丸 + 热镀锌 + 喷砂 + 底漆 + 粉末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985947" y="2555677"/>
            <a:ext cx="1241924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50~80年</a:t>
            </a:r>
            <a:endParaRPr lang="en-US" sz="750" dirty="0"/>
          </a:p>
        </p:txBody>
      </p:sp>
      <p:sp>
        <p:nvSpPr>
          <p:cNvPr id="31" name="Text 26"/>
          <p:cNvSpPr/>
          <p:nvPr/>
        </p:nvSpPr>
        <p:spPr>
          <a:xfrm>
            <a:off x="6227871" y="2555677"/>
            <a:ext cx="2483932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</a:t>
            </a:r>
            <a:endParaRPr lang="en-US" sz="8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3067348"/>
            <a:ext cx="128588" cy="12858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14363" y="3037880"/>
            <a:ext cx="771525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材料老化现状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428625" y="3403997"/>
            <a:ext cx="2666991" cy="1055489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35" name="Shape 29"/>
          <p:cNvSpPr/>
          <p:nvPr/>
        </p:nvSpPr>
        <p:spPr>
          <a:xfrm>
            <a:off x="428625" y="3403997"/>
            <a:ext cx="2666991" cy="28575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36" name="Shape 30"/>
          <p:cNvSpPr/>
          <p:nvPr/>
        </p:nvSpPr>
        <p:spPr>
          <a:xfrm>
            <a:off x="3088472" y="3403997"/>
            <a:ext cx="7144" cy="1055489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7" name="Shape 31"/>
          <p:cNvSpPr/>
          <p:nvPr/>
        </p:nvSpPr>
        <p:spPr>
          <a:xfrm>
            <a:off x="428625" y="4452342"/>
            <a:ext cx="2666991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8" name="Shape 32"/>
          <p:cNvSpPr/>
          <p:nvPr/>
        </p:nvSpPr>
        <p:spPr>
          <a:xfrm>
            <a:off x="428625" y="3403997"/>
            <a:ext cx="7144" cy="1055489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39" name="Text 33"/>
          <p:cNvSpPr/>
          <p:nvPr/>
        </p:nvSpPr>
        <p:spPr>
          <a:xfrm>
            <a:off x="535781" y="3511153"/>
            <a:ext cx="2452678" cy="251817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PC板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535781" y="3834408"/>
            <a:ext cx="2452678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在紫外线长期照射下迅速黄化、雾化，透光率从初始90%以上急剧下降，严重影响城市景观与行车视线。</a:t>
            </a:r>
            <a:endParaRPr lang="en-US" sz="800" dirty="0"/>
          </a:p>
        </p:txBody>
      </p:sp>
      <p:sp>
        <p:nvSpPr>
          <p:cNvPr id="41" name="Shape 35"/>
          <p:cNvSpPr/>
          <p:nvPr/>
        </p:nvSpPr>
        <p:spPr>
          <a:xfrm>
            <a:off x="3238491" y="3403997"/>
            <a:ext cx="2666991" cy="101977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42" name="Shape 36"/>
          <p:cNvSpPr/>
          <p:nvPr/>
        </p:nvSpPr>
        <p:spPr>
          <a:xfrm>
            <a:off x="3238491" y="3403997"/>
            <a:ext cx="2666991" cy="28575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43" name="Shape 37"/>
          <p:cNvSpPr/>
          <p:nvPr/>
        </p:nvSpPr>
        <p:spPr>
          <a:xfrm>
            <a:off x="5898338" y="3403997"/>
            <a:ext cx="7144" cy="101977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44" name="Shape 38"/>
          <p:cNvSpPr/>
          <p:nvPr/>
        </p:nvSpPr>
        <p:spPr>
          <a:xfrm>
            <a:off x="3238491" y="4416623"/>
            <a:ext cx="2666991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45" name="Shape 39"/>
          <p:cNvSpPr/>
          <p:nvPr/>
        </p:nvSpPr>
        <p:spPr>
          <a:xfrm>
            <a:off x="3238491" y="3403997"/>
            <a:ext cx="7144" cy="101977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46" name="Text 40"/>
          <p:cNvSpPr/>
          <p:nvPr/>
        </p:nvSpPr>
        <p:spPr>
          <a:xfrm>
            <a:off x="3345647" y="3511153"/>
            <a:ext cx="2452678" cy="251817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夹胶玻璃</a:t>
            </a:r>
            <a:endParaRPr lang="en-US" sz="900" dirty="0"/>
          </a:p>
        </p:txBody>
      </p:sp>
      <p:sp>
        <p:nvSpPr>
          <p:cNvPr id="47" name="Text 41"/>
          <p:cNvSpPr/>
          <p:nvPr/>
        </p:nvSpPr>
        <p:spPr>
          <a:xfrm>
            <a:off x="3345647" y="3834408"/>
            <a:ext cx="2452678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易沾灰、易雾化、易破裂，使用10年后透光性大幅衰减，且碎裂后存在严重的安全隐患。</a:t>
            </a:r>
            <a:endParaRPr lang="en-US" sz="800" dirty="0"/>
          </a:p>
        </p:txBody>
      </p:sp>
      <p:sp>
        <p:nvSpPr>
          <p:cNvPr id="48" name="Shape 42"/>
          <p:cNvSpPr/>
          <p:nvPr/>
        </p:nvSpPr>
        <p:spPr>
          <a:xfrm>
            <a:off x="6048356" y="3403997"/>
            <a:ext cx="2667019" cy="101977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p/>
        </p:txBody>
      </p:sp>
      <p:sp>
        <p:nvSpPr>
          <p:cNvPr id="49" name="Shape 43"/>
          <p:cNvSpPr/>
          <p:nvPr/>
        </p:nvSpPr>
        <p:spPr>
          <a:xfrm>
            <a:off x="6048356" y="3403997"/>
            <a:ext cx="2667019" cy="28575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50" name="Shape 44"/>
          <p:cNvSpPr/>
          <p:nvPr/>
        </p:nvSpPr>
        <p:spPr>
          <a:xfrm>
            <a:off x="8708231" y="3403997"/>
            <a:ext cx="7144" cy="101977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51" name="Shape 45"/>
          <p:cNvSpPr/>
          <p:nvPr/>
        </p:nvSpPr>
        <p:spPr>
          <a:xfrm>
            <a:off x="6048356" y="4416623"/>
            <a:ext cx="2667019" cy="714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52" name="Shape 46"/>
          <p:cNvSpPr/>
          <p:nvPr/>
        </p:nvSpPr>
        <p:spPr>
          <a:xfrm>
            <a:off x="6048356" y="3403997"/>
            <a:ext cx="7144" cy="101977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  <p:sp>
        <p:nvSpPr>
          <p:cNvPr id="53" name="Text 47"/>
          <p:cNvSpPr/>
          <p:nvPr/>
        </p:nvSpPr>
        <p:spPr>
          <a:xfrm>
            <a:off x="6155513" y="3511153"/>
            <a:ext cx="2452706" cy="251817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镀锌钢板</a:t>
            </a:r>
            <a:endParaRPr lang="en-US" sz="900" dirty="0"/>
          </a:p>
        </p:txBody>
      </p:sp>
      <p:sp>
        <p:nvSpPr>
          <p:cNvPr id="54" name="Text 48"/>
          <p:cNvSpPr/>
          <p:nvPr/>
        </p:nvSpPr>
        <p:spPr>
          <a:xfrm>
            <a:off x="6155513" y="3834408"/>
            <a:ext cx="2452706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在沿海或高腐蚀环境下，钢立柱与屏体面板锈蚀严重，涂层大面积脱落，直接影响结构承载安全。</a:t>
            </a:r>
            <a:endParaRPr lang="en-US" sz="800" dirty="0"/>
          </a:p>
        </p:txBody>
      </p:sp>
      <p:sp>
        <p:nvSpPr>
          <p:cNvPr id="55" name="Shape 49"/>
          <p:cNvSpPr/>
          <p:nvPr/>
        </p:nvSpPr>
        <p:spPr>
          <a:xfrm>
            <a:off x="428625" y="4602361"/>
            <a:ext cx="8286750" cy="335756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p/>
        </p:txBody>
      </p:sp>
      <p:sp>
        <p:nvSpPr>
          <p:cNvPr id="56" name="Text 50"/>
          <p:cNvSpPr/>
          <p:nvPr/>
        </p:nvSpPr>
        <p:spPr>
          <a:xfrm>
            <a:off x="428625" y="4602361"/>
            <a:ext cx="8286750" cy="335756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t">
            <a:spAutoFit/>
          </a:bodyPr>
          <a:lstStyle/>
          <a:p>
            <a:pPr algn="ctr" indent="0" marL="0">
              <a:buNone/>
            </a:pPr>
            <a:r>
              <a:rPr lang="en-US" sz="850" spc="1" kern="0" dirty="0">
                <a:solidFill>
                  <a:srgbClr val="FFFFFF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行业现状总结：声屏障质量参差不齐导致后续维保费用大幅增加，</a:t>
            </a:r>
            <a:r>
              <a:rPr lang="en-US" sz="800" b="1" spc="1" kern="0" dirty="0">
                <a:solidFill>
                  <a:srgbClr val="FFC107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全生命周期综合成本远超优质产品！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285750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75047" y="1728788"/>
            <a:ext cx="8393906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2450" b="1" spc="-1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直面行业痛点，以技术创新守护每一条公路的安全与宁静</a:t>
            </a:r>
            <a:endParaRPr lang="en-US" sz="2450" dirty="0"/>
          </a:p>
        </p:txBody>
      </p:sp>
      <p:sp>
        <p:nvSpPr>
          <p:cNvPr id="5" name="Text 1"/>
          <p:cNvSpPr/>
          <p:nvPr/>
        </p:nvSpPr>
        <p:spPr>
          <a:xfrm>
            <a:off x="375047" y="2368153"/>
            <a:ext cx="8393906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中驰股份 · 全链条声屏障解决方案提供商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0" y="4143375"/>
            <a:ext cx="9144000" cy="1000125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7492008" y="4563461"/>
            <a:ext cx="1223367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解决方案中心 | 联系我们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7492008" y="4746324"/>
            <a:ext cx="1223367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2026年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A3A6B"/>
                </a:solidFill>
                <a:latin typeface="Microsoft YaHei"/>
              </a:rPr>
              <a:t>中驰智能PPT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32004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A8A04"/>
                </a:solidFill>
                <a:latin typeface="Microsoft YaHei"/>
              </a:rPr>
              <a:t>M1/M2 | 项目生成信息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3A6B"/>
                </a:solidFill>
                <a:latin typeface="Microsoft YaHei"/>
              </a:rPr>
              <a:t>项目生成信息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828800" cy="5486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项目名称：{{project_name}}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项目所在地：{{project_location}}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建设/业主单位：{{owner_unit}}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产品线：{{product_line}}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线路名称：{{line_name}}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6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现场痛点：{{site_pain_points}}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2628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施工场景：{{construction_scenario}}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2026-05-05T12:17:28Z</dcterms:created>
  <dcterms:modified xsi:type="dcterms:W3CDTF">2026-05-05T12:17:28Z</dcterms:modified>
</cp:coreProperties>
</file>