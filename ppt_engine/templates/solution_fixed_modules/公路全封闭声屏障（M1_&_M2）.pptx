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1522075" cy="6480175"/>
  <p:notesSz cx="6797675" cy="9926638"/>
  <p:custDataLst>
    <p:tags r:id="rId15"/>
  </p:custDataLst>
  <p:defaultTextStyle>
    <a:defPPr>
      <a:defRPr lang="zh-CN"/>
    </a:defPPr>
    <a:lvl1pPr marL="0" lvl="0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1pPr>
    <a:lvl2pPr marL="457200" lvl="1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2pPr>
    <a:lvl3pPr marL="914400" lvl="2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3pPr>
    <a:lvl4pPr marL="1371600" lvl="3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4pPr>
    <a:lvl5pPr marL="1828800" lvl="4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5pPr>
    <a:lvl6pPr marL="2286000" lvl="5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6pPr>
    <a:lvl7pPr marL="2743200" lvl="6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7pPr>
    <a:lvl8pPr marL="3200400" lvl="7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8pPr>
    <a:lvl9pPr marL="3657600" lvl="8" indent="0" algn="l" defTabSz="4318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700" b="0" i="0" u="none" kern="1200" baseline="0">
        <a:solidFill>
          <a:srgbClr val="000000"/>
        </a:solidFill>
        <a:latin typeface="Palatino Linotype" panose="02040502050505030304" pitchFamily="18" charset="0"/>
        <a:ea typeface="宋体" panose="02010600030101010101" pitchFamily="2" charset="-122"/>
        <a:cs typeface="+mn-cs"/>
        <a:sym typeface="等线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98" userDrawn="1">
          <p15:clr>
            <a:srgbClr val="A4A3A4"/>
          </p15:clr>
        </p15:guide>
        <p15:guide id="2" pos="383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曹萍萍" initials="cpp" lastIdx="1" clrIdx="0"/>
  <p:cmAuthor id="29" name="wefe" initials="w" lastIdx="0" clrIdx="28"/>
  <p:cmAuthor id="1" name="幸全" initials="幸全" lastIdx="1" clrIdx="0"/>
  <p:cmAuthor id="30" name="ushop" initials="u" lastIdx="0" clrIdx="29"/>
  <p:cmAuthor id="2" name="作者" initials="A" lastIdx="0" clrIdx="1"/>
  <p:cmAuthor id="31" name="admin" initials="a" lastIdx="0" clrIdx="30"/>
  <p:cmAuthor id="3" name="u3265" initials="u" lastIdx="2" clrIdx="2"/>
  <p:cmAuthor id="4" name="fuziyi" initials="f" lastIdx="1" clrIdx="3"/>
  <p:cmAuthor id="5" name="肖卫杰" initials="肖" lastIdx="10" clrIdx="0"/>
  <p:cmAuthor id="6" name="alj2016" initials="a" lastIdx="1" clrIdx="5"/>
  <p:cmAuthor id="8" name="fangyonghua" initials="f" lastIdx="1" clrIdx="7"/>
  <p:cmAuthor id="9" name="张娜_J7jynmI3" initials="authorId_2328097559" lastIdx="0" clrIdx="8"/>
  <p:cmAuthor id="10" name="zhanghongtao" initials="z" lastIdx="0" clrIdx="9"/>
  <p:cmAuthor id="11" name="840456548" initials="8" lastIdx="0" clrIdx="10"/>
  <p:cmAuthor id="12" name="裔蕾" initials="裔蕾" lastIdx="0" clrIdx="11"/>
  <p:cmAuthor id="13" name="龚挺" initials="龚挺" lastIdx="0" clrIdx="12"/>
  <p:cmAuthor id="14" name="soonersxb" initials="s" lastIdx="0" clrIdx="13"/>
  <p:cmAuthor id="15" name="wangdan" initials="王丹" lastIdx="0" clrIdx="14"/>
  <p:cmAuthor id="16" name="1206988966@qq.com" initials="1" lastIdx="0" clrIdx="15"/>
  <p:cmAuthor id="17" name="姜伟光" initials="姜" lastIdx="0" clrIdx="16"/>
  <p:cmAuthor id="18" name="lenovo" initials="l" lastIdx="0" clrIdx="17"/>
  <p:cmAuthor id="19" name="Administrator" initials="A" lastIdx="0" clrIdx="18"/>
  <p:cmAuthor id="20" name="宋洁然" initials="宋" lastIdx="0" clrIdx="19"/>
  <p:cmAuthor id="21" name="ming qiu" initials="m" lastIdx="0" clrIdx="20"/>
  <p:cmAuthor id="22" name="胡潇文" initials="胡" lastIdx="0" clrIdx="21"/>
  <p:cmAuthor id="23" name="hu Selene" initials="hS" lastIdx="0" clrIdx="22"/>
  <p:cmAuthor id="24" name="Wang Rui" initials="WR" lastIdx="0" clrIdx="23"/>
  <p:cmAuthor id="25" name="DrYan" initials="D" lastIdx="0" clrIdx="24"/>
  <p:cmAuthor id="26" name="Lenovo" initials="L" lastIdx="0" clrIdx="25"/>
  <p:cmAuthor id="27" name="李 金峰" initials="李" lastIdx="0" clrIdx="26"/>
  <p:cmAuthor id="28" name="秦方方" initials="秦方方" lastIdx="0" clrIdx="2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hiddenSlides="1" scaleToFitPaper="1"/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58C4"/>
    <a:srgbClr val="BFBFBF"/>
    <a:srgbClr val="297ED5"/>
    <a:srgbClr val="0062B1"/>
    <a:srgbClr val="22C50C"/>
    <a:srgbClr val="C2BFD0"/>
    <a:srgbClr val="E4E5EA"/>
    <a:srgbClr val="C4BCC6"/>
    <a:srgbClr val="C4C3D5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1BAA403-AC97-4EF6-A78F-2AE45B316E2E}" styleName="表样式 1">
    <a:wholeTbl>
      <a:tcTxStyle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5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5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A894E5B-FB02-4862-83DE-3046D151FCFF}" styleName="表样式 1">
    <a:wholeTbl>
      <a:tcTxStyle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2H>
    <a:band1V>
      <a:tcStyle>
        <a:tcBdr/>
        <a:fill>
          <a:solidFill>
            <a:schemeClr val="accent1">
              <a:lumMod val="40000"/>
              <a:lumOff val="60000"/>
              <a:alpha val="25000"/>
            </a:schemeClr>
          </a:solidFill>
        </a:fill>
      </a:tcStyle>
    </a:band1V>
    <a:band2V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5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lumMod val="40000"/>
              <a:lumOff val="60000"/>
              <a:alpha val="50000"/>
            </a:scheme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 w="12700" cmpd="sng">
              <a:solidFill>
                <a:schemeClr val="accent1"/>
              </a:solidFill>
              <a:prstDash val="solid"/>
            </a:ln>
          </a:left>
          <a:right>
            <a:ln w="12700" cmpd="sng">
              <a:solidFill>
                <a:schemeClr val="accent1"/>
              </a:solidFill>
              <a:prstDash val="solid"/>
            </a:ln>
          </a:right>
          <a:top>
            <a:ln w="12700" cmpd="sng">
              <a:solidFill>
                <a:schemeClr val="accent1"/>
              </a:solidFill>
              <a:prstDash val="solid"/>
            </a:ln>
          </a:top>
          <a:bottom>
            <a:ln w="12700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175"/>
    <p:restoredTop sz="88943" autoAdjust="0"/>
  </p:normalViewPr>
  <p:slideViewPr>
    <p:cSldViewPr snapToObjects="1" showGuides="1">
      <p:cViewPr varScale="1">
        <p:scale>
          <a:sx n="79" d="100"/>
          <a:sy n="79" d="100"/>
        </p:scale>
        <p:origin x="76" y="516"/>
      </p:cViewPr>
      <p:guideLst>
        <p:guide orient="horz" pos="2198"/>
        <p:guide pos="383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0" d="100"/>
        <a:sy n="70" d="100"/>
      </p:scale>
      <p:origin x="0" y="-228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4F3ECC0-6A79-47F3-B72E-62BC6FA2937C}" type="datetimeFigureOut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  <a:t>2026/5/26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defRPr sz="1200" noProof="1"/>
            </a:lvl1pPr>
          </a:lstStyle>
          <a:p>
            <a:pPr marL="0" marR="0" lvl="0" indent="0" algn="l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宋体" panose="02010600030101010101" pitchFamily="2" charset="-122"/>
              <a:cs typeface="+mn-cs"/>
              <a:sym typeface="等线" panose="02010600030101010101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8163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defRPr sz="1200" noProof="1" smtClean="0">
                <a:latin typeface="+mn-lt"/>
                <a:ea typeface="+mn-ea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0578AEC-777F-4531-87CC-AB874364F7C4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等线" panose="02010600030101010101" pitchFamily="2" charset="-122"/>
              </a:rPr>
              <a:t>‹#›</a:t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alatino Linotype" panose="02040502050505030304" pitchFamily="18" charset="0"/>
              <a:ea typeface="+mn-ea"/>
              <a:cs typeface="+mn-cs"/>
              <a:sym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hape 141"/>
          <p:cNvSpPr>
            <a:spLocks noGrp="1" noRot="1" noChangeAspect="1"/>
          </p:cNvSpPr>
          <p:nvPr>
            <p:ph type="sldImg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9525">
            <a:noFill/>
          </a:ln>
        </p:spPr>
      </p:sp>
      <p:sp>
        <p:nvSpPr>
          <p:cNvPr id="6147" name="Shape 142"/>
          <p:cNvSpPr>
            <a:spLocks noGrp="1"/>
          </p:cNvSpPr>
          <p:nvPr>
            <p:ph type="body" sz="quarter"/>
          </p:nvPr>
        </p:nvSpPr>
        <p:spPr>
          <a:xfrm>
            <a:off x="906463" y="4714875"/>
            <a:ext cx="4984750" cy="4467225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Hei Regular" pitchFamily="2" charset="-122"/>
        <a:ea typeface="Hei Regular" pitchFamily="2" charset="-122"/>
        <a:cs typeface="+mn-cs"/>
        <a:sym typeface="等线" panose="02010600030101010101" pitchFamily="2" charset="-122"/>
      </a:defRPr>
    </a:lvl1pPr>
    <a:lvl2pPr marL="742950" indent="-28575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2pPr>
    <a:lvl3pPr marL="11430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3pPr>
    <a:lvl4pPr marL="16002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4pPr>
    <a:lvl5pPr marL="2057400" indent="-228600" algn="l" rtl="0" eaLnBrk="0" fontAlgn="base" hangingPunct="0">
      <a:spcBef>
        <a:spcPct val="0"/>
      </a:spcBef>
      <a:spcAft>
        <a:spcPct val="0"/>
      </a:spcAft>
      <a:defRPr sz="1100">
        <a:solidFill>
          <a:schemeClr val="tx1"/>
        </a:solidFill>
        <a:latin typeface="+mn-lt"/>
        <a:ea typeface="+mn-ea"/>
        <a:cs typeface="+mn-cs"/>
        <a:sym typeface="等线" panose="02010600030101010101" pitchFamily="2" charset="-122"/>
      </a:defRPr>
    </a:lvl5pPr>
    <a:lvl6pPr indent="1080135" latinLnBrk="0">
      <a:defRPr sz="1100">
        <a:latin typeface="+mn-lt"/>
        <a:ea typeface="+mn-ea"/>
        <a:cs typeface="+mn-cs"/>
        <a:sym typeface="等线" panose="02010600030101010101" pitchFamily="2" charset="-122"/>
      </a:defRPr>
    </a:lvl6pPr>
    <a:lvl7pPr indent="1296035" latinLnBrk="0">
      <a:defRPr sz="1100">
        <a:latin typeface="+mn-lt"/>
        <a:ea typeface="+mn-ea"/>
        <a:cs typeface="+mn-cs"/>
        <a:sym typeface="等线" panose="02010600030101010101" pitchFamily="2" charset="-122"/>
      </a:defRPr>
    </a:lvl7pPr>
    <a:lvl8pPr indent="1511935" latinLnBrk="0">
      <a:defRPr sz="1100">
        <a:latin typeface="+mn-lt"/>
        <a:ea typeface="+mn-ea"/>
        <a:cs typeface="+mn-cs"/>
        <a:sym typeface="等线" panose="02010600030101010101" pitchFamily="2" charset="-122"/>
      </a:defRPr>
    </a:lvl8pPr>
    <a:lvl9pPr indent="1728470" latinLnBrk="0">
      <a:defRPr sz="1100">
        <a:latin typeface="+mn-lt"/>
        <a:ea typeface="+mn-ea"/>
        <a:cs typeface="+mn-cs"/>
        <a:sym typeface="等线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  <a:t>‹#›</a:t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0" y="69122"/>
            <a:ext cx="11522075" cy="721494"/>
          </a:xfrm>
          <a:prstGeom prst="rect">
            <a:avLst/>
          </a:prstGeom>
        </p:spPr>
      </p:pic>
      <p:sp>
        <p:nvSpPr>
          <p:cNvPr id="6" name="文本框 5"/>
          <p:cNvSpPr txBox="1"/>
          <p:nvPr userDrawn="1"/>
        </p:nvSpPr>
        <p:spPr>
          <a:xfrm>
            <a:off x="10932937" y="6131190"/>
            <a:ext cx="589138" cy="323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26CBEC8B-D4F5-4765-BA16-D6C967C3AE9B}" type="slidenum">
              <a:rPr lang="zh-CN" altLang="en-US" sz="1510" smtClean="0">
                <a:solidFill>
                  <a:schemeClr val="bg1">
                    <a:lumMod val="50000"/>
                  </a:schemeClr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‹#›</a:t>
            </a:fld>
            <a:endParaRPr lang="zh-CN" altLang="en-US" sz="1510" dirty="0">
              <a:solidFill>
                <a:schemeClr val="bg1">
                  <a:lumMod val="50000"/>
                </a:schemeClr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pic>
        <p:nvPicPr>
          <p:cNvPr id="7" name="图形 6"/>
          <p:cNvPicPr>
            <a:picLocks noChangeAspect="1"/>
          </p:cNvPicPr>
          <p:nvPr userDrawn="1"/>
        </p:nvPicPr>
        <p:blipFill rotWithShape="1">
          <a:blip r:embed="rId3" cstate="print"/>
          <a:srcRect l="2064" t="2" r="2064" b="-1"/>
          <a:stretch>
            <a:fillRect/>
          </a:stretch>
        </p:blipFill>
        <p:spPr>
          <a:xfrm>
            <a:off x="0" y="859694"/>
            <a:ext cx="11522075" cy="19307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 rotWithShape="1">
          <a:blip r:embed="rId4" cstate="print"/>
          <a:srcRect/>
          <a:stretch>
            <a:fillRect/>
          </a:stretch>
        </p:blipFill>
        <p:spPr>
          <a:xfrm>
            <a:off x="0" y="5813063"/>
            <a:ext cx="8483090" cy="597990"/>
          </a:xfrm>
          <a:prstGeom prst="rect">
            <a:avLst/>
          </a:prstGeom>
        </p:spPr>
      </p:pic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>
            <a:lvl1pPr algn="ctr">
              <a:defRPr sz="3020">
                <a:solidFill>
                  <a:srgbClr val="333333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581705" y="5965188"/>
            <a:ext cx="2550000" cy="299200"/>
          </a:xfrm>
        </p:spPr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760FBDFE-C587-4B4C-A407-44438C67B59E}" type="datetimeFigureOut">
              <a:rPr lang="zh-CN" altLang="en-US" smtClean="0"/>
              <a:t>2026/5/26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891038" y="5965188"/>
            <a:ext cx="3740000" cy="2992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文本"/>
          <p:cNvSpPr txBox="1">
            <a:spLocks noGrp="1"/>
          </p:cNvSpPr>
          <p:nvPr>
            <p:ph type="title"/>
          </p:nvPr>
        </p:nvSpPr>
        <p:spPr>
          <a:xfrm>
            <a:off x="792163" y="344488"/>
            <a:ext cx="9937750" cy="1252537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 anchor="ctr" anchorCtr="0"/>
          <a:lstStyle/>
          <a:p>
            <a:pPr lvl="0"/>
            <a:r>
              <a:rPr lang="zh-CN" altLang="zh-CN" dirty="0"/>
              <a:t>标题文本</a:t>
            </a:r>
          </a:p>
        </p:txBody>
      </p:sp>
      <p:sp>
        <p:nvSpPr>
          <p:cNvPr id="1027" name="正文级别 1…"/>
          <p:cNvSpPr txBox="1">
            <a:spLocks noGrp="1"/>
          </p:cNvSpPr>
          <p:nvPr>
            <p:ph type="body"/>
          </p:nvPr>
        </p:nvSpPr>
        <p:spPr>
          <a:xfrm>
            <a:off x="792163" y="1725613"/>
            <a:ext cx="9937750" cy="4111625"/>
          </a:xfrm>
          <a:prstGeom prst="rect">
            <a:avLst/>
          </a:prstGeom>
          <a:noFill/>
          <a:ln w="12700">
            <a:noFill/>
          </a:ln>
        </p:spPr>
        <p:txBody>
          <a:bodyPr lIns="43204" tIns="43204" rIns="43204" bIns="43204"/>
          <a:lstStyle/>
          <a:p>
            <a:pPr lvl="0"/>
            <a:r>
              <a:rPr lang="zh-CN" altLang="zh-CN" dirty="0"/>
              <a:t>正文级别 1</a:t>
            </a:r>
          </a:p>
          <a:p>
            <a:pPr lvl="1"/>
            <a:r>
              <a:rPr lang="zh-CN" altLang="zh-CN" dirty="0"/>
              <a:t>正文级别 2</a:t>
            </a:r>
          </a:p>
          <a:p>
            <a:pPr lvl="2"/>
            <a:r>
              <a:rPr lang="zh-CN" altLang="zh-CN" dirty="0"/>
              <a:t>正文级别 3</a:t>
            </a:r>
          </a:p>
          <a:p>
            <a:pPr lvl="3"/>
            <a:r>
              <a:rPr lang="zh-CN" altLang="zh-CN" dirty="0"/>
              <a:t>正文级别 4</a:t>
            </a:r>
          </a:p>
          <a:p>
            <a:pPr lvl="4"/>
            <a:r>
              <a:rPr lang="zh-CN" altLang="zh-CN" dirty="0"/>
              <a:t>正文级别 5</a:t>
            </a:r>
          </a:p>
        </p:txBody>
      </p:sp>
      <p:sp>
        <p:nvSpPr>
          <p:cNvPr id="4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0845800" y="6049963"/>
            <a:ext cx="254000" cy="257175"/>
          </a:xfrm>
          <a:prstGeom prst="rect">
            <a:avLst/>
          </a:prstGeom>
          <a:ln w="12700">
            <a:miter lim="400000"/>
          </a:ln>
        </p:spPr>
        <p:txBody>
          <a:bodyPr wrap="none" lIns="43204" tIns="43204" rIns="43204" bIns="43204" anchor="ctr">
            <a:spAutoFit/>
          </a:bodyPr>
          <a:lstStyle>
            <a:lvl1pPr algn="r" eaLnBrk="1" fontAlgn="auto" hangingPunct="1">
              <a:defRPr sz="1100" b="0" i="0" noProof="1" smtClean="0">
                <a:solidFill>
                  <a:schemeClr val="tx1">
                    <a:lumMod val="75000"/>
                    <a:lumOff val="25000"/>
                  </a:schemeClr>
                </a:solidFill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defRPr>
            </a:lvl1pPr>
          </a:lstStyle>
          <a:p>
            <a:pPr marL="0" marR="0" lvl="0" indent="0" algn="r" defTabSz="4318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D65B7D-B529-4D68-BC16-03759A9C2313}" type="slidenum">
              <a:rPr kumimoji="0" lang="en-US" altLang="zh-CN" sz="1100" b="0" i="0" u="none" strike="noStrike" kern="1200" cap="none" spc="0" normalizeH="0" baseline="0" noProof="1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  <a:cs typeface="黑体" panose="02010609060101010101" pitchFamily="49" charset="-122"/>
                <a:sym typeface="Calibri" panose="020F0502020204030204"/>
              </a:rPr>
              <a:t>‹#›</a:t>
            </a:fld>
            <a:endParaRPr kumimoji="0" lang="en-US" altLang="zh-CN" sz="1100" b="0" i="0" u="none" strike="noStrike" kern="1200" cap="none" spc="0" normalizeH="0" baseline="0" noProof="1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黑体" panose="02010609060101010101" pitchFamily="49" charset="-122"/>
              <a:ea typeface="黑体" panose="02010609060101010101" pitchFamily="49" charset="-122"/>
              <a:cs typeface="黑体" panose="02010609060101010101" pitchFamily="49" charset="-122"/>
              <a:sym typeface="Calibri" panose="020F0502020204030204"/>
            </a:endParaRPr>
          </a:p>
        </p:txBody>
      </p:sp>
      <p:pic>
        <p:nvPicPr>
          <p:cNvPr id="1029" name="图片 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577388" y="215900"/>
            <a:ext cx="1697037" cy="70485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  <p:sldLayoutId id="2147483660" r:id="rId8"/>
    <p:sldLayoutId id="2147483661" r:id="rId9"/>
    <p:sldLayoutId id="2147483662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68" r:id="rId16"/>
  </p:sldLayoutIdLst>
  <p:transition spd="med"/>
  <p:hf sldNum="0" hdr="0" ftr="0" dt="0"/>
  <p:txStyles>
    <p:titleStyle>
      <a:lvl1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 Regular" pitchFamily="2" charset="-122"/>
          <a:sym typeface="Heiti SC Medium"/>
        </a:defRPr>
      </a:lvl1pPr>
      <a:lvl2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2pPr>
      <a:lvl3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3pPr>
      <a:lvl4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4pPr>
      <a:lvl5pPr algn="l" defTabSz="8636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200">
          <a:solidFill>
            <a:srgbClr val="000000"/>
          </a:solidFill>
          <a:latin typeface="Hei Regular" pitchFamily="2" charset="-122"/>
          <a:ea typeface="Hei Regular" pitchFamily="2" charset="-122"/>
          <a:cs typeface="Heiti SC Medium"/>
          <a:sym typeface="Heiti SC Medium"/>
        </a:defRPr>
      </a:lvl5pPr>
      <a:lvl6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6pPr>
      <a:lvl7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7pPr>
      <a:lvl8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8pPr>
      <a:lvl9pPr marL="0" marR="0" indent="0" algn="l" defTabSz="8636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200" b="0" i="0" u="none" strike="noStrike" cap="none" spc="0" baseline="0">
          <a:ln>
            <a:noFill/>
          </a:ln>
          <a:solidFill>
            <a:srgbClr val="000000"/>
          </a:solidFill>
          <a:uFillTx/>
          <a:latin typeface="Heiti SC Medium"/>
          <a:ea typeface="Heiti SC Medium"/>
          <a:cs typeface="Heiti SC Medium"/>
          <a:sym typeface="Heiti SC Medium"/>
        </a:defRPr>
      </a:lvl9pPr>
    </p:titleStyle>
    <p:bodyStyle>
      <a:lvl1pPr marL="215900" indent="-21590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1pPr>
      <a:lvl2pPr marL="684530" indent="-2527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2pPr>
      <a:lvl3pPr marL="1167130" indent="-30353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3pPr>
      <a:lvl4pPr marL="1631950" indent="-33655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4pPr>
      <a:lvl5pPr marL="2063750" indent="-335280" algn="l" defTabSz="863600" rtl="0" eaLnBrk="0" fontAlgn="base" hangingPunct="0">
        <a:lnSpc>
          <a:spcPct val="90000"/>
        </a:lnSpc>
        <a:spcBef>
          <a:spcPts val="950"/>
        </a:spcBef>
        <a:spcAft>
          <a:spcPct val="0"/>
        </a:spcAft>
        <a:buSzPct val="100000"/>
        <a:buFont typeface="Arial" panose="020B0604020202020204" pitchFamily="34" charset="0"/>
        <a:buChar char="•"/>
        <a:defRPr sz="2600">
          <a:solidFill>
            <a:srgbClr val="000000"/>
          </a:solidFill>
          <a:latin typeface="Hei Regular" pitchFamily="2" charset="-122"/>
          <a:ea typeface="Hei Regular" pitchFamily="2" charset="-122"/>
          <a:cs typeface="Calibri" panose="020F0502020204030204"/>
          <a:sym typeface="Calibri" panose="020F0502020204030204" pitchFamily="34" charset="0"/>
        </a:defRPr>
      </a:lvl5pPr>
      <a:lvl6pPr marL="2496185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6pPr>
      <a:lvl7pPr marL="29286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7pPr>
      <a:lvl8pPr marL="33604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8pPr>
      <a:lvl9pPr marL="3792220" marR="0" indent="-335915" algn="l" defTabSz="863600" rtl="0" latinLnBrk="0">
        <a:lnSpc>
          <a:spcPct val="90000"/>
        </a:lnSpc>
        <a:spcBef>
          <a:spcPts val="945"/>
        </a:spcBef>
        <a:spcAft>
          <a:spcPts val="0"/>
        </a:spcAft>
        <a:buClrTx/>
        <a:buSzPct val="100000"/>
        <a:buFont typeface="Arial" panose="020B0604020202020204"/>
        <a:buChar char="•"/>
        <a:defRPr sz="26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" panose="020F0502020204030204"/>
          <a:ea typeface="Calibri" panose="020F0502020204030204"/>
          <a:cs typeface="Calibri" panose="020F0502020204030204"/>
          <a:sym typeface="Calibri" panose="020F0502020204030204"/>
        </a:defRPr>
      </a:lvl9pPr>
    </p:bodyStyle>
    <p:otherStyle>
      <a:lvl1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0" algn="r" defTabSz="4318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1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7.jpe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preencoded.png">
            <a:extLst>
              <a:ext uri="{FF2B5EF4-FFF2-40B4-BE49-F238E27FC236}">
                <a16:creationId xmlns:a16="http://schemas.microsoft.com/office/drawing/2014/main" id="{B2BEE527-EB45-3067-FE06-18D4619BFE9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2" y="-1"/>
            <a:ext cx="11520311" cy="6480175"/>
          </a:xfrm>
          <a:custGeom>
            <a:avLst/>
            <a:gdLst>
              <a:gd name="csX0" fmla="*/ 9601713 w 11520311"/>
              <a:gd name="csY0" fmla="*/ 215878 h 6480175"/>
              <a:gd name="csX1" fmla="*/ 9601713 w 11520311"/>
              <a:gd name="csY1" fmla="*/ 1007933 h 6480175"/>
              <a:gd name="csX2" fmla="*/ 11304540 w 11520311"/>
              <a:gd name="csY2" fmla="*/ 1007933 h 6480175"/>
              <a:gd name="csX3" fmla="*/ 11304540 w 11520311"/>
              <a:gd name="csY3" fmla="*/ 215878 h 6480175"/>
              <a:gd name="csX4" fmla="*/ 0 w 11520311"/>
              <a:gd name="csY4" fmla="*/ 0 h 6480175"/>
              <a:gd name="csX5" fmla="*/ 11520311 w 11520311"/>
              <a:gd name="csY5" fmla="*/ 0 h 6480175"/>
              <a:gd name="csX6" fmla="*/ 11520311 w 11520311"/>
              <a:gd name="csY6" fmla="*/ 6480175 h 6480175"/>
              <a:gd name="csX7" fmla="*/ 0 w 11520311"/>
              <a:gd name="csY7" fmla="*/ 6480175 h 64801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520311" h="6480175">
                <a:moveTo>
                  <a:pt x="9601713" y="215878"/>
                </a:moveTo>
                <a:lnTo>
                  <a:pt x="9601713" y="1007933"/>
                </a:lnTo>
                <a:lnTo>
                  <a:pt x="11304540" y="1007933"/>
                </a:lnTo>
                <a:lnTo>
                  <a:pt x="11304540" y="215878"/>
                </a:lnTo>
                <a:close/>
                <a:moveTo>
                  <a:pt x="0" y="0"/>
                </a:moveTo>
                <a:lnTo>
                  <a:pt x="11520311" y="0"/>
                </a:lnTo>
                <a:lnTo>
                  <a:pt x="11520311" y="6480175"/>
                </a:lnTo>
                <a:lnTo>
                  <a:pt x="0" y="6480175"/>
                </a:lnTo>
                <a:close/>
              </a:path>
            </a:pathLst>
          </a:custGeom>
        </p:spPr>
      </p:pic>
      <p:sp>
        <p:nvSpPr>
          <p:cNvPr id="4" name="Text 0"/>
          <p:cNvSpPr/>
          <p:nvPr/>
        </p:nvSpPr>
        <p:spPr>
          <a:xfrm>
            <a:off x="2358946" y="2047555"/>
            <a:ext cx="6804184" cy="6398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4158" b="1" kern="0" spc="-1" dirty="0">
                <a:solidFill>
                  <a:srgbClr val="1565C0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公路全封闭声屏障解决方案</a:t>
            </a:r>
            <a:endParaRPr lang="en-US" sz="4158" dirty="0"/>
          </a:p>
        </p:txBody>
      </p:sp>
      <p:sp>
        <p:nvSpPr>
          <p:cNvPr id="5" name="Text 1"/>
          <p:cNvSpPr/>
          <p:nvPr/>
        </p:nvSpPr>
        <p:spPr>
          <a:xfrm>
            <a:off x="2358946" y="3062332"/>
            <a:ext cx="6804184" cy="3296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142" dirty="0">
                <a:solidFill>
                  <a:srgbClr val="1A3A6B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行业背景 · 技术标准 · 痛点剖析</a:t>
            </a:r>
            <a:endParaRPr lang="en-US" sz="2142" dirty="0"/>
          </a:p>
        </p:txBody>
      </p:sp>
      <p:sp>
        <p:nvSpPr>
          <p:cNvPr id="6" name="Shape 2"/>
          <p:cNvSpPr/>
          <p:nvPr/>
        </p:nvSpPr>
        <p:spPr>
          <a:xfrm>
            <a:off x="882" y="5220141"/>
            <a:ext cx="11520311" cy="1260034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7" name="Text 3"/>
          <p:cNvSpPr/>
          <p:nvPr/>
        </p:nvSpPr>
        <p:spPr>
          <a:xfrm>
            <a:off x="9602595" y="5749397"/>
            <a:ext cx="1378583" cy="193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lang="en-US" sz="107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中驰股份解决方案中心</a:t>
            </a:r>
            <a:endParaRPr lang="en-US" sz="1071" dirty="0"/>
          </a:p>
        </p:txBody>
      </p:sp>
      <p:sp>
        <p:nvSpPr>
          <p:cNvPr id="8" name="Text 4"/>
          <p:cNvSpPr/>
          <p:nvPr/>
        </p:nvSpPr>
        <p:spPr>
          <a:xfrm>
            <a:off x="10535544" y="5979782"/>
            <a:ext cx="445635" cy="193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lang="en-US" sz="107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2026年</a:t>
            </a:r>
            <a:endParaRPr lang="en-US" sz="1071"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图片 37" descr="preencoded.png">
            <a:extLst>
              <a:ext uri="{FF2B5EF4-FFF2-40B4-BE49-F238E27FC236}">
                <a16:creationId xmlns:a16="http://schemas.microsoft.com/office/drawing/2014/main" id="{46E3DB83-D53B-EDC4-D29C-7F143913729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2" y="-1"/>
            <a:ext cx="11520311" cy="6480175"/>
          </a:xfrm>
          <a:custGeom>
            <a:avLst/>
            <a:gdLst>
              <a:gd name="csX0" fmla="*/ 9601713 w 11520311"/>
              <a:gd name="csY0" fmla="*/ 215878 h 6480175"/>
              <a:gd name="csX1" fmla="*/ 9601713 w 11520311"/>
              <a:gd name="csY1" fmla="*/ 1007933 h 6480175"/>
              <a:gd name="csX2" fmla="*/ 11304540 w 11520311"/>
              <a:gd name="csY2" fmla="*/ 1007933 h 6480175"/>
              <a:gd name="csX3" fmla="*/ 11304540 w 11520311"/>
              <a:gd name="csY3" fmla="*/ 215878 h 6480175"/>
              <a:gd name="csX4" fmla="*/ 0 w 11520311"/>
              <a:gd name="csY4" fmla="*/ 0 h 6480175"/>
              <a:gd name="csX5" fmla="*/ 11520311 w 11520311"/>
              <a:gd name="csY5" fmla="*/ 0 h 6480175"/>
              <a:gd name="csX6" fmla="*/ 11520311 w 11520311"/>
              <a:gd name="csY6" fmla="*/ 6480175 h 6480175"/>
              <a:gd name="csX7" fmla="*/ 0 w 11520311"/>
              <a:gd name="csY7" fmla="*/ 6480175 h 64801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520311" h="6480175">
                <a:moveTo>
                  <a:pt x="9601713" y="215878"/>
                </a:moveTo>
                <a:lnTo>
                  <a:pt x="9601713" y="1007933"/>
                </a:lnTo>
                <a:lnTo>
                  <a:pt x="11304540" y="1007933"/>
                </a:lnTo>
                <a:lnTo>
                  <a:pt x="11304540" y="215878"/>
                </a:lnTo>
                <a:close/>
                <a:moveTo>
                  <a:pt x="0" y="0"/>
                </a:moveTo>
                <a:lnTo>
                  <a:pt x="11520311" y="0"/>
                </a:lnTo>
                <a:lnTo>
                  <a:pt x="11520311" y="6480175"/>
                </a:lnTo>
                <a:lnTo>
                  <a:pt x="0" y="6480175"/>
                </a:lnTo>
                <a:close/>
              </a:path>
            </a:pathLst>
          </a:custGeom>
        </p:spPr>
      </p:pic>
      <p:sp>
        <p:nvSpPr>
          <p:cNvPr id="4" name="Text 0"/>
          <p:cNvSpPr/>
          <p:nvPr/>
        </p:nvSpPr>
        <p:spPr>
          <a:xfrm>
            <a:off x="540896" y="450012"/>
            <a:ext cx="227626" cy="2326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512" b="1" dirty="0">
                <a:solidFill>
                  <a:srgbClr val="1565C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01</a:t>
            </a:r>
            <a:endParaRPr lang="en-US" sz="1512" dirty="0"/>
          </a:p>
        </p:txBody>
      </p:sp>
      <p:sp>
        <p:nvSpPr>
          <p:cNvPr id="5" name="Text 1"/>
          <p:cNvSpPr/>
          <p:nvPr/>
        </p:nvSpPr>
        <p:spPr>
          <a:xfrm>
            <a:off x="990909" y="450012"/>
            <a:ext cx="4536123" cy="23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512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市场背景——民生宜居需求与交通噪声矛盾凸显</a:t>
            </a:r>
            <a:endParaRPr lang="en-US" sz="1512" dirty="0"/>
          </a:p>
        </p:txBody>
      </p:sp>
      <p:sp>
        <p:nvSpPr>
          <p:cNvPr id="6" name="Shape 2"/>
          <p:cNvSpPr/>
          <p:nvPr/>
        </p:nvSpPr>
        <p:spPr>
          <a:xfrm>
            <a:off x="540897" y="1260034"/>
            <a:ext cx="5940160" cy="1409382"/>
          </a:xfrm>
          <a:prstGeom prst="rect">
            <a:avLst/>
          </a:prstGeom>
          <a:solidFill>
            <a:srgbClr val="E3F0FB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7" name="Shape 3"/>
          <p:cNvSpPr/>
          <p:nvPr/>
        </p:nvSpPr>
        <p:spPr>
          <a:xfrm>
            <a:off x="540897" y="1260034"/>
            <a:ext cx="54002" cy="1409382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8" name="Text 4"/>
          <p:cNvSpPr/>
          <p:nvPr/>
        </p:nvSpPr>
        <p:spPr>
          <a:xfrm>
            <a:off x="810904" y="1530042"/>
            <a:ext cx="5400146" cy="193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60" b="1" dirty="0">
                <a:solidFill>
                  <a:srgbClr val="1A3A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核心观点</a:t>
            </a:r>
            <a:endParaRPr lang="en-US" sz="1260" dirty="0"/>
          </a:p>
        </p:txBody>
      </p:sp>
      <p:sp>
        <p:nvSpPr>
          <p:cNvPr id="9" name="Text 5"/>
          <p:cNvSpPr/>
          <p:nvPr/>
        </p:nvSpPr>
        <p:spPr>
          <a:xfrm>
            <a:off x="810904" y="1881050"/>
            <a:ext cx="5400146" cy="45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197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我国公铁路网里程持续扩张，交通噪声投诉量激增，全封闭声屏障成为解决民生宜居与交通发展矛盾的核心技术手段。</a:t>
            </a:r>
            <a:endParaRPr lang="en-US" sz="1197" dirty="0"/>
          </a:p>
        </p:txBody>
      </p:sp>
      <p:sp>
        <p:nvSpPr>
          <p:cNvPr id="10" name="Text 6"/>
          <p:cNvSpPr/>
          <p:nvPr/>
        </p:nvSpPr>
        <p:spPr>
          <a:xfrm>
            <a:off x="540897" y="2939423"/>
            <a:ext cx="5940160" cy="504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44000"/>
              </a:lnSpc>
            </a:pPr>
            <a:r>
              <a:rPr lang="en-US" sz="1197" dirty="0">
                <a:solidFill>
                  <a:srgbClr val="5555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随着城市化进程的加速，高速公路、城市快速路与居民区的空间距离不断压缩。公路交通噪声已成为城市噪声污染的首要来源，严重影响沿线居民的生活质量。</a:t>
            </a:r>
            <a:endParaRPr lang="en-US" sz="1197" dirty="0"/>
          </a:p>
        </p:txBody>
      </p:sp>
      <p:sp>
        <p:nvSpPr>
          <p:cNvPr id="11" name="Text 7"/>
          <p:cNvSpPr/>
          <p:nvPr/>
        </p:nvSpPr>
        <p:spPr>
          <a:xfrm>
            <a:off x="540897" y="3702616"/>
            <a:ext cx="5940160" cy="504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44000"/>
              </a:lnSpc>
            </a:pPr>
            <a:r>
              <a:rPr lang="en-US" sz="1197" dirty="0">
                <a:solidFill>
                  <a:srgbClr val="5555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与此同时，声屏障建设预算却面临不断缩减的压力，如何以更高性价比实现更优降噪效果，成为行业核心命题。</a:t>
            </a:r>
            <a:endParaRPr lang="en-US" sz="1197" dirty="0"/>
          </a:p>
        </p:txBody>
      </p:sp>
      <p:sp>
        <p:nvSpPr>
          <p:cNvPr id="12" name="Shape 8"/>
          <p:cNvSpPr/>
          <p:nvPr/>
        </p:nvSpPr>
        <p:spPr>
          <a:xfrm>
            <a:off x="7021071" y="1260034"/>
            <a:ext cx="3960107" cy="1260034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13" name="Shape 9"/>
          <p:cNvSpPr/>
          <p:nvPr/>
        </p:nvSpPr>
        <p:spPr>
          <a:xfrm>
            <a:off x="7021071" y="1260034"/>
            <a:ext cx="3960107" cy="36001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14" name="Shape 10"/>
          <p:cNvSpPr/>
          <p:nvPr/>
        </p:nvSpPr>
        <p:spPr>
          <a:xfrm>
            <a:off x="10972177" y="1260034"/>
            <a:ext cx="9001" cy="126003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15" name="Shape 11"/>
          <p:cNvSpPr/>
          <p:nvPr/>
        </p:nvSpPr>
        <p:spPr>
          <a:xfrm>
            <a:off x="7021071" y="2511067"/>
            <a:ext cx="3960107" cy="900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16" name="Shape 12"/>
          <p:cNvSpPr/>
          <p:nvPr/>
        </p:nvSpPr>
        <p:spPr>
          <a:xfrm>
            <a:off x="7021071" y="1260034"/>
            <a:ext cx="9001" cy="126003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17" name="Text 13"/>
          <p:cNvSpPr/>
          <p:nvPr/>
        </p:nvSpPr>
        <p:spPr>
          <a:xfrm>
            <a:off x="7201076" y="1379288"/>
            <a:ext cx="3600097" cy="184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197" dirty="0">
                <a:solidFill>
                  <a:srgbClr val="555555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全国公铁路网里程</a:t>
            </a:r>
            <a:endParaRPr lang="en-US" sz="1197" dirty="0"/>
          </a:p>
        </p:txBody>
      </p:sp>
      <p:sp>
        <p:nvSpPr>
          <p:cNvPr id="18" name="Text 14"/>
          <p:cNvSpPr/>
          <p:nvPr/>
        </p:nvSpPr>
        <p:spPr>
          <a:xfrm>
            <a:off x="7201076" y="1705546"/>
            <a:ext cx="3600097" cy="349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268" b="1" dirty="0">
                <a:solidFill>
                  <a:srgbClr val="1565C0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564.8万公里</a:t>
            </a:r>
            <a:endParaRPr lang="en-US" sz="2268" dirty="0"/>
          </a:p>
        </p:txBody>
      </p:sp>
      <p:sp>
        <p:nvSpPr>
          <p:cNvPr id="19" name="Text 15"/>
          <p:cNvSpPr/>
          <p:nvPr/>
        </p:nvSpPr>
        <p:spPr>
          <a:xfrm>
            <a:off x="7201076" y="2218560"/>
            <a:ext cx="3600097" cy="145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945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且持续增加</a:t>
            </a:r>
            <a:endParaRPr lang="en-US" sz="945" dirty="0"/>
          </a:p>
        </p:txBody>
      </p:sp>
      <p:sp>
        <p:nvSpPr>
          <p:cNvPr id="20" name="Shape 16"/>
          <p:cNvSpPr/>
          <p:nvPr/>
        </p:nvSpPr>
        <p:spPr>
          <a:xfrm>
            <a:off x="7021071" y="3060083"/>
            <a:ext cx="3960107" cy="1260034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21" name="Shape 17"/>
          <p:cNvSpPr/>
          <p:nvPr/>
        </p:nvSpPr>
        <p:spPr>
          <a:xfrm>
            <a:off x="7021071" y="3060083"/>
            <a:ext cx="3960107" cy="36001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22" name="Shape 18"/>
          <p:cNvSpPr/>
          <p:nvPr/>
        </p:nvSpPr>
        <p:spPr>
          <a:xfrm>
            <a:off x="10972177" y="3060083"/>
            <a:ext cx="9001" cy="126003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23" name="Shape 19"/>
          <p:cNvSpPr/>
          <p:nvPr/>
        </p:nvSpPr>
        <p:spPr>
          <a:xfrm>
            <a:off x="7021071" y="4311115"/>
            <a:ext cx="3960107" cy="900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24" name="Shape 20"/>
          <p:cNvSpPr/>
          <p:nvPr/>
        </p:nvSpPr>
        <p:spPr>
          <a:xfrm>
            <a:off x="7021071" y="3060083"/>
            <a:ext cx="9001" cy="126003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25" name="Text 21"/>
          <p:cNvSpPr/>
          <p:nvPr/>
        </p:nvSpPr>
        <p:spPr>
          <a:xfrm>
            <a:off x="7201076" y="3179336"/>
            <a:ext cx="3600097" cy="184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197" dirty="0">
                <a:solidFill>
                  <a:srgbClr val="555555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交通噪声年投诉量</a:t>
            </a:r>
            <a:endParaRPr lang="en-US" sz="1197" dirty="0"/>
          </a:p>
        </p:txBody>
      </p:sp>
      <p:sp>
        <p:nvSpPr>
          <p:cNvPr id="26" name="Text 22"/>
          <p:cNvSpPr/>
          <p:nvPr/>
        </p:nvSpPr>
        <p:spPr>
          <a:xfrm>
            <a:off x="7201076" y="3505595"/>
            <a:ext cx="3600097" cy="349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268" b="1" dirty="0">
                <a:solidFill>
                  <a:srgbClr val="1565C0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30万次/年</a:t>
            </a:r>
            <a:endParaRPr lang="en-US" sz="2268" dirty="0"/>
          </a:p>
        </p:txBody>
      </p:sp>
      <p:sp>
        <p:nvSpPr>
          <p:cNvPr id="27" name="Text 23"/>
          <p:cNvSpPr/>
          <p:nvPr/>
        </p:nvSpPr>
        <p:spPr>
          <a:xfrm>
            <a:off x="7201076" y="4018608"/>
            <a:ext cx="3600097" cy="145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945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预计突破量</a:t>
            </a:r>
            <a:endParaRPr lang="en-US" sz="945" dirty="0"/>
          </a:p>
        </p:txBody>
      </p:sp>
      <p:sp>
        <p:nvSpPr>
          <p:cNvPr id="28" name="Shape 24"/>
          <p:cNvSpPr/>
          <p:nvPr/>
        </p:nvSpPr>
        <p:spPr>
          <a:xfrm>
            <a:off x="7021071" y="4860131"/>
            <a:ext cx="3960107" cy="1260034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29" name="Shape 25"/>
          <p:cNvSpPr/>
          <p:nvPr/>
        </p:nvSpPr>
        <p:spPr>
          <a:xfrm>
            <a:off x="7021071" y="4860131"/>
            <a:ext cx="3960107" cy="36001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0" name="Shape 26"/>
          <p:cNvSpPr/>
          <p:nvPr/>
        </p:nvSpPr>
        <p:spPr>
          <a:xfrm>
            <a:off x="10972177" y="4860131"/>
            <a:ext cx="9001" cy="126003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1" name="Shape 27"/>
          <p:cNvSpPr/>
          <p:nvPr/>
        </p:nvSpPr>
        <p:spPr>
          <a:xfrm>
            <a:off x="7021071" y="6111164"/>
            <a:ext cx="3960107" cy="900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2" name="Shape 28"/>
          <p:cNvSpPr/>
          <p:nvPr/>
        </p:nvSpPr>
        <p:spPr>
          <a:xfrm>
            <a:off x="7021071" y="4860131"/>
            <a:ext cx="9001" cy="126003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3" name="Text 29"/>
          <p:cNvSpPr/>
          <p:nvPr/>
        </p:nvSpPr>
        <p:spPr>
          <a:xfrm>
            <a:off x="7201076" y="4979385"/>
            <a:ext cx="3600097" cy="184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197" dirty="0">
                <a:solidFill>
                  <a:srgbClr val="555555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噪声扰民信访占比</a:t>
            </a:r>
            <a:endParaRPr lang="en-US" sz="1197" dirty="0"/>
          </a:p>
        </p:txBody>
      </p:sp>
      <p:sp>
        <p:nvSpPr>
          <p:cNvPr id="34" name="Text 30"/>
          <p:cNvSpPr/>
          <p:nvPr/>
        </p:nvSpPr>
        <p:spPr>
          <a:xfrm>
            <a:off x="7201076" y="5305643"/>
            <a:ext cx="3600097" cy="3490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2268" b="1" dirty="0">
                <a:solidFill>
                  <a:srgbClr val="1565C0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61.3%</a:t>
            </a:r>
            <a:endParaRPr lang="en-US" sz="2268" dirty="0"/>
          </a:p>
        </p:txBody>
      </p:sp>
      <p:sp>
        <p:nvSpPr>
          <p:cNvPr id="35" name="Text 31"/>
          <p:cNvSpPr/>
          <p:nvPr/>
        </p:nvSpPr>
        <p:spPr>
          <a:xfrm>
            <a:off x="7201076" y="5818657"/>
            <a:ext cx="3600097" cy="145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945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城市环境投诉首位</a:t>
            </a:r>
            <a:endParaRPr lang="en-US" sz="945" dirty="0"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图片 42" descr="preencoded.png">
            <a:extLst>
              <a:ext uri="{FF2B5EF4-FFF2-40B4-BE49-F238E27FC236}">
                <a16:creationId xmlns:a16="http://schemas.microsoft.com/office/drawing/2014/main" id="{5C93D17B-6158-9B65-330D-9FD5DB6D19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2" y="-1"/>
            <a:ext cx="11520311" cy="6480175"/>
          </a:xfrm>
          <a:custGeom>
            <a:avLst/>
            <a:gdLst>
              <a:gd name="csX0" fmla="*/ 9601713 w 11520311"/>
              <a:gd name="csY0" fmla="*/ 215878 h 6480175"/>
              <a:gd name="csX1" fmla="*/ 9601713 w 11520311"/>
              <a:gd name="csY1" fmla="*/ 1007933 h 6480175"/>
              <a:gd name="csX2" fmla="*/ 11304540 w 11520311"/>
              <a:gd name="csY2" fmla="*/ 1007933 h 6480175"/>
              <a:gd name="csX3" fmla="*/ 11304540 w 11520311"/>
              <a:gd name="csY3" fmla="*/ 215878 h 6480175"/>
              <a:gd name="csX4" fmla="*/ 0 w 11520311"/>
              <a:gd name="csY4" fmla="*/ 0 h 6480175"/>
              <a:gd name="csX5" fmla="*/ 11520311 w 11520311"/>
              <a:gd name="csY5" fmla="*/ 0 h 6480175"/>
              <a:gd name="csX6" fmla="*/ 11520311 w 11520311"/>
              <a:gd name="csY6" fmla="*/ 6480175 h 6480175"/>
              <a:gd name="csX7" fmla="*/ 0 w 11520311"/>
              <a:gd name="csY7" fmla="*/ 6480175 h 64801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520311" h="6480175">
                <a:moveTo>
                  <a:pt x="9601713" y="215878"/>
                </a:moveTo>
                <a:lnTo>
                  <a:pt x="9601713" y="1007933"/>
                </a:lnTo>
                <a:lnTo>
                  <a:pt x="11304540" y="1007933"/>
                </a:lnTo>
                <a:lnTo>
                  <a:pt x="11304540" y="215878"/>
                </a:lnTo>
                <a:close/>
                <a:moveTo>
                  <a:pt x="0" y="0"/>
                </a:moveTo>
                <a:lnTo>
                  <a:pt x="11520311" y="0"/>
                </a:lnTo>
                <a:lnTo>
                  <a:pt x="11520311" y="6480175"/>
                </a:lnTo>
                <a:lnTo>
                  <a:pt x="0" y="6480175"/>
                </a:lnTo>
                <a:close/>
              </a:path>
            </a:pathLst>
          </a:custGeom>
        </p:spPr>
      </p:pic>
      <p:sp>
        <p:nvSpPr>
          <p:cNvPr id="4" name="Text 0"/>
          <p:cNvSpPr/>
          <p:nvPr/>
        </p:nvSpPr>
        <p:spPr>
          <a:xfrm>
            <a:off x="540896" y="450012"/>
            <a:ext cx="227626" cy="2326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512" b="1" dirty="0">
                <a:solidFill>
                  <a:srgbClr val="1565C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02</a:t>
            </a:r>
            <a:endParaRPr lang="en-US" sz="1512" dirty="0"/>
          </a:p>
        </p:txBody>
      </p:sp>
      <p:sp>
        <p:nvSpPr>
          <p:cNvPr id="5" name="Text 1"/>
          <p:cNvSpPr/>
          <p:nvPr/>
        </p:nvSpPr>
        <p:spPr>
          <a:xfrm>
            <a:off x="990909" y="450012"/>
            <a:ext cx="4320117" cy="23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512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政策标准——公路全封闭声屏障设计规范体系</a:t>
            </a:r>
            <a:endParaRPr lang="en-US" sz="1512" dirty="0"/>
          </a:p>
        </p:txBody>
      </p:sp>
      <p:sp>
        <p:nvSpPr>
          <p:cNvPr id="6" name="Shape 2"/>
          <p:cNvSpPr/>
          <p:nvPr/>
        </p:nvSpPr>
        <p:spPr>
          <a:xfrm>
            <a:off x="540896" y="1260034"/>
            <a:ext cx="10440282" cy="734363"/>
          </a:xfrm>
          <a:prstGeom prst="rect">
            <a:avLst/>
          </a:prstGeom>
          <a:solidFill>
            <a:srgbClr val="E3F0FB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7" name="Shape 3"/>
          <p:cNvSpPr/>
          <p:nvPr/>
        </p:nvSpPr>
        <p:spPr>
          <a:xfrm>
            <a:off x="540897" y="1260034"/>
            <a:ext cx="54002" cy="734363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8" name="Text 4"/>
          <p:cNvSpPr/>
          <p:nvPr/>
        </p:nvSpPr>
        <p:spPr>
          <a:xfrm>
            <a:off x="738903" y="1368036"/>
            <a:ext cx="10044271" cy="452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197" dirty="0">
                <a:solidFill>
                  <a:srgbClr val="1A3A6B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国内公路声屏障标准体系正在加速完善，形成了以GB/T 51335为国家标准、JT/T 646系列为行业标准的双轨规范体系，为全封闭声屏障的设计与建造提供了日趋完善的依据。</a:t>
            </a:r>
            <a:endParaRPr lang="en-US" sz="1197" dirty="0"/>
          </a:p>
        </p:txBody>
      </p:sp>
      <p:sp>
        <p:nvSpPr>
          <p:cNvPr id="9" name="Shape 5"/>
          <p:cNvSpPr/>
          <p:nvPr/>
        </p:nvSpPr>
        <p:spPr>
          <a:xfrm>
            <a:off x="1260916" y="2138401"/>
            <a:ext cx="1260034" cy="965276"/>
          </a:xfrm>
          <a:prstGeom prst="rect">
            <a:avLst/>
          </a:prstGeom>
          <a:solidFill>
            <a:srgbClr val="1565C0"/>
          </a:solidFill>
          <a:ln w="9144">
            <a:solidFill>
              <a:srgbClr val="1565C0"/>
            </a:solidFill>
            <a:prstDash val="solid"/>
          </a:ln>
        </p:spPr>
        <p:txBody>
          <a:bodyPr/>
          <a:lstStyle/>
          <a:p>
            <a:endParaRPr sz="2142"/>
          </a:p>
        </p:txBody>
      </p:sp>
      <p:sp>
        <p:nvSpPr>
          <p:cNvPr id="10" name="Text 6"/>
          <p:cNvSpPr/>
          <p:nvPr/>
        </p:nvSpPr>
        <p:spPr>
          <a:xfrm>
            <a:off x="1599187" y="2533772"/>
            <a:ext cx="583493" cy="1745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34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国家标准</a:t>
            </a:r>
            <a:endParaRPr lang="en-US" sz="1134" dirty="0"/>
          </a:p>
        </p:txBody>
      </p:sp>
      <p:sp>
        <p:nvSpPr>
          <p:cNvPr id="11" name="Shape 7"/>
          <p:cNvSpPr/>
          <p:nvPr/>
        </p:nvSpPr>
        <p:spPr>
          <a:xfrm>
            <a:off x="2520950" y="2138401"/>
            <a:ext cx="7740209" cy="965276"/>
          </a:xfrm>
          <a:prstGeom prst="rect">
            <a:avLst/>
          </a:prstGeom>
          <a:solidFill>
            <a:srgbClr val="FAFAFA"/>
          </a:solidFill>
          <a:ln w="18288">
            <a:solidFill>
              <a:srgbClr val="1565C0"/>
            </a:solidFill>
            <a:prstDash val="solid"/>
          </a:ln>
        </p:spPr>
        <p:txBody>
          <a:bodyPr/>
          <a:lstStyle/>
          <a:p>
            <a:endParaRPr sz="2142"/>
          </a:p>
        </p:txBody>
      </p:sp>
      <p:sp>
        <p:nvSpPr>
          <p:cNvPr id="12" name="Text 8"/>
          <p:cNvSpPr/>
          <p:nvPr/>
        </p:nvSpPr>
        <p:spPr>
          <a:xfrm>
            <a:off x="2664954" y="2228404"/>
            <a:ext cx="7452201" cy="174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134" b="1" dirty="0">
                <a:solidFill>
                  <a:srgbClr val="1565C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GB/T 51335-2018</a:t>
            </a:r>
            <a:endParaRPr lang="en-US" sz="1134" dirty="0"/>
          </a:p>
        </p:txBody>
      </p:sp>
      <p:sp>
        <p:nvSpPr>
          <p:cNvPr id="13" name="Text 9"/>
          <p:cNvSpPr/>
          <p:nvPr/>
        </p:nvSpPr>
        <p:spPr>
          <a:xfrm>
            <a:off x="2664954" y="2509661"/>
            <a:ext cx="7452201" cy="155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08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《声屏障结构技术标准》</a:t>
            </a:r>
            <a:endParaRPr lang="en-US" sz="1008" dirty="0"/>
          </a:p>
        </p:txBody>
      </p:sp>
      <p:sp>
        <p:nvSpPr>
          <p:cNvPr id="14" name="Text 10"/>
          <p:cNvSpPr/>
          <p:nvPr/>
        </p:nvSpPr>
        <p:spPr>
          <a:xfrm>
            <a:off x="2664954" y="2788668"/>
            <a:ext cx="3776675" cy="162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666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明确全封闭风压、屋面活载取值及结构计算方式，是结构设计最高依据</a:t>
            </a:r>
            <a:endParaRPr lang="en-US" sz="945" dirty="0"/>
          </a:p>
        </p:txBody>
      </p:sp>
      <p:sp>
        <p:nvSpPr>
          <p:cNvPr id="15" name="Shape 11"/>
          <p:cNvSpPr/>
          <p:nvPr/>
        </p:nvSpPr>
        <p:spPr>
          <a:xfrm>
            <a:off x="1260916" y="3139679"/>
            <a:ext cx="1260034" cy="947276"/>
          </a:xfrm>
          <a:prstGeom prst="rect">
            <a:avLst/>
          </a:prstGeom>
          <a:solidFill>
            <a:srgbClr val="1A3A6B"/>
          </a:solidFill>
          <a:ln w="9144">
            <a:solidFill>
              <a:srgbClr val="1A3A6B"/>
            </a:solidFill>
            <a:prstDash val="solid"/>
          </a:ln>
        </p:spPr>
        <p:txBody>
          <a:bodyPr/>
          <a:lstStyle/>
          <a:p>
            <a:endParaRPr sz="2142"/>
          </a:p>
        </p:txBody>
      </p:sp>
      <p:sp>
        <p:nvSpPr>
          <p:cNvPr id="16" name="Text 12"/>
          <p:cNvSpPr/>
          <p:nvPr/>
        </p:nvSpPr>
        <p:spPr>
          <a:xfrm>
            <a:off x="1599187" y="3526049"/>
            <a:ext cx="583493" cy="1745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34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行业标准</a:t>
            </a:r>
            <a:endParaRPr lang="en-US" sz="1134" dirty="0"/>
          </a:p>
        </p:txBody>
      </p:sp>
      <p:sp>
        <p:nvSpPr>
          <p:cNvPr id="17" name="Shape 13"/>
          <p:cNvSpPr/>
          <p:nvPr/>
        </p:nvSpPr>
        <p:spPr>
          <a:xfrm>
            <a:off x="2520950" y="3139679"/>
            <a:ext cx="7740209" cy="947276"/>
          </a:xfrm>
          <a:prstGeom prst="rect">
            <a:avLst/>
          </a:prstGeom>
          <a:solidFill>
            <a:srgbClr val="FAFAFA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sz="2142"/>
          </a:p>
        </p:txBody>
      </p:sp>
      <p:sp>
        <p:nvSpPr>
          <p:cNvPr id="18" name="Text 14"/>
          <p:cNvSpPr/>
          <p:nvPr/>
        </p:nvSpPr>
        <p:spPr>
          <a:xfrm>
            <a:off x="2664954" y="3229681"/>
            <a:ext cx="2286062" cy="174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134" b="1" dirty="0">
                <a:solidFill>
                  <a:srgbClr val="1565C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JT/T 646.1-2025</a:t>
            </a:r>
            <a:endParaRPr lang="en-US" sz="1134" dirty="0"/>
          </a:p>
        </p:txBody>
      </p:sp>
      <p:sp>
        <p:nvSpPr>
          <p:cNvPr id="19" name="Text 15"/>
          <p:cNvSpPr/>
          <p:nvPr/>
        </p:nvSpPr>
        <p:spPr>
          <a:xfrm>
            <a:off x="2664954" y="3510938"/>
            <a:ext cx="2286062" cy="155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08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第1部分：总体技术要求</a:t>
            </a:r>
            <a:endParaRPr lang="en-US" sz="1008" dirty="0"/>
          </a:p>
        </p:txBody>
      </p:sp>
      <p:sp>
        <p:nvSpPr>
          <p:cNvPr id="20" name="Text 16"/>
          <p:cNvSpPr/>
          <p:nvPr/>
        </p:nvSpPr>
        <p:spPr>
          <a:xfrm>
            <a:off x="2664954" y="3789945"/>
            <a:ext cx="1705595" cy="162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666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规定公路声屏障的整体技术框架</a:t>
            </a:r>
            <a:endParaRPr lang="en-US" sz="945" dirty="0"/>
          </a:p>
        </p:txBody>
      </p:sp>
      <p:sp>
        <p:nvSpPr>
          <p:cNvPr id="21" name="Text 17"/>
          <p:cNvSpPr/>
          <p:nvPr/>
        </p:nvSpPr>
        <p:spPr>
          <a:xfrm>
            <a:off x="5248024" y="3229681"/>
            <a:ext cx="2286062" cy="174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134" b="1" dirty="0">
                <a:solidFill>
                  <a:srgbClr val="1565C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JT/T 646.2-2025</a:t>
            </a:r>
            <a:endParaRPr lang="en-US" sz="1134" dirty="0"/>
          </a:p>
        </p:txBody>
      </p:sp>
      <p:sp>
        <p:nvSpPr>
          <p:cNvPr id="22" name="Text 18"/>
          <p:cNvSpPr/>
          <p:nvPr/>
        </p:nvSpPr>
        <p:spPr>
          <a:xfrm>
            <a:off x="5248024" y="3510938"/>
            <a:ext cx="2286062" cy="155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08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第2部分：材料技术要求</a:t>
            </a:r>
            <a:endParaRPr lang="en-US" sz="1008" dirty="0"/>
          </a:p>
        </p:txBody>
      </p:sp>
      <p:sp>
        <p:nvSpPr>
          <p:cNvPr id="23" name="Text 19"/>
          <p:cNvSpPr/>
          <p:nvPr/>
        </p:nvSpPr>
        <p:spPr>
          <a:xfrm>
            <a:off x="5248023" y="3789945"/>
            <a:ext cx="1949252" cy="162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666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规定各类材料的性能指标与检测方法</a:t>
            </a:r>
            <a:endParaRPr lang="en-US" sz="945" dirty="0"/>
          </a:p>
        </p:txBody>
      </p:sp>
      <p:sp>
        <p:nvSpPr>
          <p:cNvPr id="24" name="Text 20"/>
          <p:cNvSpPr/>
          <p:nvPr/>
        </p:nvSpPr>
        <p:spPr>
          <a:xfrm>
            <a:off x="7831094" y="3229681"/>
            <a:ext cx="2286062" cy="174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134" b="1" dirty="0">
                <a:solidFill>
                  <a:srgbClr val="1565C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JT/T 646.4-2025</a:t>
            </a:r>
            <a:endParaRPr lang="en-US" sz="1134" dirty="0"/>
          </a:p>
        </p:txBody>
      </p:sp>
      <p:sp>
        <p:nvSpPr>
          <p:cNvPr id="25" name="Text 21"/>
          <p:cNvSpPr/>
          <p:nvPr/>
        </p:nvSpPr>
        <p:spPr>
          <a:xfrm>
            <a:off x="7831094" y="3510938"/>
            <a:ext cx="2286062" cy="155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08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第4部分：全封闭技术要求</a:t>
            </a:r>
            <a:endParaRPr lang="en-US" sz="1008" dirty="0"/>
          </a:p>
        </p:txBody>
      </p:sp>
      <p:sp>
        <p:nvSpPr>
          <p:cNvPr id="26" name="Text 22"/>
          <p:cNvSpPr/>
          <p:nvPr/>
        </p:nvSpPr>
        <p:spPr>
          <a:xfrm>
            <a:off x="7831094" y="3789945"/>
            <a:ext cx="2071080" cy="162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666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专门针对全封闭声屏障，规定产品指标</a:t>
            </a:r>
            <a:endParaRPr lang="en-US" sz="945" dirty="0"/>
          </a:p>
        </p:txBody>
      </p:sp>
      <p:sp>
        <p:nvSpPr>
          <p:cNvPr id="27" name="Shape 23"/>
          <p:cNvSpPr/>
          <p:nvPr/>
        </p:nvSpPr>
        <p:spPr>
          <a:xfrm>
            <a:off x="1260916" y="4140955"/>
            <a:ext cx="1260034" cy="947276"/>
          </a:xfrm>
          <a:prstGeom prst="rect">
            <a:avLst/>
          </a:prstGeom>
          <a:solidFill>
            <a:srgbClr val="1A3A6B"/>
          </a:solidFill>
          <a:ln w="9144">
            <a:solidFill>
              <a:srgbClr val="1A3A6B"/>
            </a:solidFill>
            <a:prstDash val="solid"/>
          </a:ln>
        </p:spPr>
        <p:txBody>
          <a:bodyPr/>
          <a:lstStyle/>
          <a:p>
            <a:endParaRPr sz="2142"/>
          </a:p>
        </p:txBody>
      </p:sp>
      <p:sp>
        <p:nvSpPr>
          <p:cNvPr id="28" name="Text 24"/>
          <p:cNvSpPr/>
          <p:nvPr/>
        </p:nvSpPr>
        <p:spPr>
          <a:xfrm>
            <a:off x="1599187" y="4527326"/>
            <a:ext cx="583493" cy="17453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1134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图集标准</a:t>
            </a:r>
            <a:endParaRPr lang="en-US" sz="1134" dirty="0"/>
          </a:p>
        </p:txBody>
      </p:sp>
      <p:sp>
        <p:nvSpPr>
          <p:cNvPr id="29" name="Shape 25"/>
          <p:cNvSpPr/>
          <p:nvPr/>
        </p:nvSpPr>
        <p:spPr>
          <a:xfrm>
            <a:off x="2520950" y="4140955"/>
            <a:ext cx="7740209" cy="947276"/>
          </a:xfrm>
          <a:prstGeom prst="rect">
            <a:avLst/>
          </a:prstGeom>
          <a:solidFill>
            <a:srgbClr val="FAFAFA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sz="2142"/>
          </a:p>
        </p:txBody>
      </p:sp>
      <p:sp>
        <p:nvSpPr>
          <p:cNvPr id="30" name="Text 26"/>
          <p:cNvSpPr/>
          <p:nvPr/>
        </p:nvSpPr>
        <p:spPr>
          <a:xfrm>
            <a:off x="2664954" y="4230958"/>
            <a:ext cx="7452201" cy="174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134" b="1" dirty="0">
                <a:solidFill>
                  <a:srgbClr val="1565C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MR603</a:t>
            </a:r>
            <a:endParaRPr lang="en-US" sz="1134" dirty="0"/>
          </a:p>
        </p:txBody>
      </p:sp>
      <p:sp>
        <p:nvSpPr>
          <p:cNvPr id="31" name="Text 27"/>
          <p:cNvSpPr/>
          <p:nvPr/>
        </p:nvSpPr>
        <p:spPr>
          <a:xfrm>
            <a:off x="2664954" y="4512215"/>
            <a:ext cx="7452201" cy="1551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008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《城市道路全封闭声屏障》</a:t>
            </a:r>
            <a:endParaRPr lang="en-US" sz="1008" dirty="0"/>
          </a:p>
        </p:txBody>
      </p:sp>
      <p:sp>
        <p:nvSpPr>
          <p:cNvPr id="32" name="Text 28"/>
          <p:cNvSpPr/>
          <p:nvPr/>
        </p:nvSpPr>
        <p:spPr>
          <a:xfrm>
            <a:off x="2664954" y="4791223"/>
            <a:ext cx="1705595" cy="16248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45" dirty="0">
                <a:solidFill>
                  <a:srgbClr val="6666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城市道路全封闭声屏障设计图集</a:t>
            </a:r>
            <a:endParaRPr lang="en-US" sz="945" dirty="0"/>
          </a:p>
        </p:txBody>
      </p:sp>
      <p:sp>
        <p:nvSpPr>
          <p:cNvPr id="33" name="Shape 29"/>
          <p:cNvSpPr/>
          <p:nvPr/>
        </p:nvSpPr>
        <p:spPr>
          <a:xfrm>
            <a:off x="540896" y="5490149"/>
            <a:ext cx="10440282" cy="630018"/>
          </a:xfrm>
          <a:prstGeom prst="rect">
            <a:avLst/>
          </a:prstGeom>
          <a:solidFill>
            <a:srgbClr val="FFF9E6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4" name="Shape 30"/>
          <p:cNvSpPr/>
          <p:nvPr/>
        </p:nvSpPr>
        <p:spPr>
          <a:xfrm>
            <a:off x="540896" y="5490148"/>
            <a:ext cx="10440282" cy="9001"/>
          </a:xfrm>
          <a:prstGeom prst="rect">
            <a:avLst/>
          </a:prstGeom>
          <a:solidFill>
            <a:srgbClr val="FFD54F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5" name="Shape 31"/>
          <p:cNvSpPr/>
          <p:nvPr/>
        </p:nvSpPr>
        <p:spPr>
          <a:xfrm>
            <a:off x="10972177" y="5490149"/>
            <a:ext cx="9001" cy="630018"/>
          </a:xfrm>
          <a:prstGeom prst="rect">
            <a:avLst/>
          </a:prstGeom>
          <a:solidFill>
            <a:srgbClr val="FFD54F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6" name="Shape 32"/>
          <p:cNvSpPr/>
          <p:nvPr/>
        </p:nvSpPr>
        <p:spPr>
          <a:xfrm>
            <a:off x="540896" y="6111164"/>
            <a:ext cx="10440282" cy="9001"/>
          </a:xfrm>
          <a:prstGeom prst="rect">
            <a:avLst/>
          </a:prstGeom>
          <a:solidFill>
            <a:srgbClr val="FFD54F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7" name="Shape 33"/>
          <p:cNvSpPr/>
          <p:nvPr/>
        </p:nvSpPr>
        <p:spPr>
          <a:xfrm>
            <a:off x="540897" y="5490149"/>
            <a:ext cx="54002" cy="630018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8" name="Text 34"/>
          <p:cNvSpPr/>
          <p:nvPr/>
        </p:nvSpPr>
        <p:spPr>
          <a:xfrm>
            <a:off x="540896" y="5490149"/>
            <a:ext cx="10440282" cy="400525"/>
          </a:xfrm>
          <a:prstGeom prst="rect">
            <a:avLst/>
          </a:prstGeom>
          <a:noFill/>
          <a:ln/>
        </p:spPr>
        <p:txBody>
          <a:bodyPr wrap="square" lIns="171365" tIns="107203" rIns="171365" bIns="107203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8" b="1" dirty="0">
                <a:solidFill>
                  <a:srgbClr val="E6510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重要说明：</a:t>
            </a:r>
            <a:r>
              <a:rPr lang="en-US" sz="1071" dirty="0">
                <a:solidFill>
                  <a:srgbClr val="5555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JT/T 646.4-2025目前仅规定了产品指标要求，尚未纳入结构计算细则；因此，全封闭声屏障的结构设计须以 </a:t>
            </a:r>
            <a:r>
              <a:rPr lang="en-US" sz="1008" b="1" dirty="0">
                <a:solidFill>
                  <a:srgbClr val="1565C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GB/T 51335 国家标准</a:t>
            </a:r>
            <a:r>
              <a:rPr lang="en-US" sz="1071" dirty="0">
                <a:solidFill>
                  <a:srgbClr val="5555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作为最高参照依据。</a:t>
            </a:r>
            <a:endParaRPr lang="en-US" sz="1071"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图片 52" descr="preencoded.png">
            <a:extLst>
              <a:ext uri="{FF2B5EF4-FFF2-40B4-BE49-F238E27FC236}">
                <a16:creationId xmlns:a16="http://schemas.microsoft.com/office/drawing/2014/main" id="{7033979D-0139-11C0-FC45-5B8933AF8B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2" y="-1"/>
            <a:ext cx="11520311" cy="6480175"/>
          </a:xfrm>
          <a:custGeom>
            <a:avLst/>
            <a:gdLst>
              <a:gd name="csX0" fmla="*/ 9601713 w 11520311"/>
              <a:gd name="csY0" fmla="*/ 215878 h 6480175"/>
              <a:gd name="csX1" fmla="*/ 9601713 w 11520311"/>
              <a:gd name="csY1" fmla="*/ 1007933 h 6480175"/>
              <a:gd name="csX2" fmla="*/ 11304540 w 11520311"/>
              <a:gd name="csY2" fmla="*/ 1007933 h 6480175"/>
              <a:gd name="csX3" fmla="*/ 11304540 w 11520311"/>
              <a:gd name="csY3" fmla="*/ 215878 h 6480175"/>
              <a:gd name="csX4" fmla="*/ 0 w 11520311"/>
              <a:gd name="csY4" fmla="*/ 0 h 6480175"/>
              <a:gd name="csX5" fmla="*/ 11520311 w 11520311"/>
              <a:gd name="csY5" fmla="*/ 0 h 6480175"/>
              <a:gd name="csX6" fmla="*/ 11520311 w 11520311"/>
              <a:gd name="csY6" fmla="*/ 6480175 h 6480175"/>
              <a:gd name="csX7" fmla="*/ 0 w 11520311"/>
              <a:gd name="csY7" fmla="*/ 6480175 h 64801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520311" h="6480175">
                <a:moveTo>
                  <a:pt x="9601713" y="215878"/>
                </a:moveTo>
                <a:lnTo>
                  <a:pt x="9601713" y="1007933"/>
                </a:lnTo>
                <a:lnTo>
                  <a:pt x="11304540" y="1007933"/>
                </a:lnTo>
                <a:lnTo>
                  <a:pt x="11304540" y="215878"/>
                </a:lnTo>
                <a:close/>
                <a:moveTo>
                  <a:pt x="0" y="0"/>
                </a:moveTo>
                <a:lnTo>
                  <a:pt x="11520311" y="0"/>
                </a:lnTo>
                <a:lnTo>
                  <a:pt x="11520311" y="6480175"/>
                </a:lnTo>
                <a:lnTo>
                  <a:pt x="0" y="6480175"/>
                </a:lnTo>
                <a:close/>
              </a:path>
            </a:pathLst>
          </a:custGeom>
        </p:spPr>
      </p:pic>
      <p:sp>
        <p:nvSpPr>
          <p:cNvPr id="4" name="Text 0"/>
          <p:cNvSpPr/>
          <p:nvPr/>
        </p:nvSpPr>
        <p:spPr>
          <a:xfrm>
            <a:off x="540896" y="450012"/>
            <a:ext cx="227626" cy="2326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512" b="1" dirty="0">
                <a:solidFill>
                  <a:srgbClr val="1565C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03</a:t>
            </a:r>
            <a:endParaRPr lang="en-US" sz="1512" dirty="0"/>
          </a:p>
        </p:txBody>
      </p:sp>
      <p:sp>
        <p:nvSpPr>
          <p:cNvPr id="5" name="Text 1"/>
          <p:cNvSpPr/>
          <p:nvPr/>
        </p:nvSpPr>
        <p:spPr>
          <a:xfrm>
            <a:off x="990909" y="450012"/>
            <a:ext cx="4284116" cy="23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512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规范升级——GB/T 51335 核心条款深度解读</a:t>
            </a:r>
            <a:endParaRPr lang="en-US" sz="1512" dirty="0"/>
          </a:p>
        </p:txBody>
      </p:sp>
      <p:sp>
        <p:nvSpPr>
          <p:cNvPr id="6" name="Shape 2"/>
          <p:cNvSpPr/>
          <p:nvPr/>
        </p:nvSpPr>
        <p:spPr>
          <a:xfrm>
            <a:off x="540896" y="1260034"/>
            <a:ext cx="10440282" cy="619189"/>
          </a:xfrm>
          <a:prstGeom prst="rect">
            <a:avLst/>
          </a:prstGeom>
          <a:solidFill>
            <a:srgbClr val="E3F0FB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7" name="Shape 3"/>
          <p:cNvSpPr/>
          <p:nvPr/>
        </p:nvSpPr>
        <p:spPr>
          <a:xfrm>
            <a:off x="540897" y="1260034"/>
            <a:ext cx="54002" cy="619189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8" name="Text 4"/>
          <p:cNvSpPr/>
          <p:nvPr/>
        </p:nvSpPr>
        <p:spPr>
          <a:xfrm>
            <a:off x="810904" y="1440039"/>
            <a:ext cx="8532785" cy="2167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197" dirty="0">
                <a:solidFill>
                  <a:srgbClr val="1A3A6B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最新版GB/T 51335在使用年限、防坠落结构与消防疏散三大维度全面提升了安全与耐久标准，为行业设立了更高的技术门槛。</a:t>
            </a:r>
            <a:endParaRPr lang="en-US" sz="1197" dirty="0"/>
          </a:p>
        </p:txBody>
      </p:sp>
      <p:sp>
        <p:nvSpPr>
          <p:cNvPr id="9" name="Shape 5"/>
          <p:cNvSpPr/>
          <p:nvPr/>
        </p:nvSpPr>
        <p:spPr>
          <a:xfrm>
            <a:off x="540896" y="2149230"/>
            <a:ext cx="3300065" cy="3970936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10" name="Shape 6"/>
          <p:cNvSpPr/>
          <p:nvPr/>
        </p:nvSpPr>
        <p:spPr>
          <a:xfrm>
            <a:off x="540896" y="2149230"/>
            <a:ext cx="3300065" cy="36001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11" name="Shape 7"/>
          <p:cNvSpPr/>
          <p:nvPr/>
        </p:nvSpPr>
        <p:spPr>
          <a:xfrm>
            <a:off x="3831962" y="2149230"/>
            <a:ext cx="9001" cy="397093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12" name="Shape 8"/>
          <p:cNvSpPr/>
          <p:nvPr/>
        </p:nvSpPr>
        <p:spPr>
          <a:xfrm>
            <a:off x="540896" y="6111164"/>
            <a:ext cx="3300065" cy="900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13" name="Shape 9"/>
          <p:cNvSpPr/>
          <p:nvPr/>
        </p:nvSpPr>
        <p:spPr>
          <a:xfrm>
            <a:off x="540896" y="2149230"/>
            <a:ext cx="9001" cy="397093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14" name="Shape 10"/>
          <p:cNvSpPr/>
          <p:nvPr/>
        </p:nvSpPr>
        <p:spPr>
          <a:xfrm>
            <a:off x="765902" y="2428236"/>
            <a:ext cx="450013" cy="450013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sz="2142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9906" y="2545240"/>
            <a:ext cx="162005" cy="21600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50919" y="2419237"/>
            <a:ext cx="1300535" cy="394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4000"/>
              </a:lnSpc>
            </a:pPr>
            <a:r>
              <a:rPr lang="en-US" sz="1260" b="1" dirty="0">
                <a:solidFill>
                  <a:srgbClr val="1A3A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① 设计使用年限
全面提升</a:t>
            </a:r>
            <a:endParaRPr lang="en-US" sz="1260" dirty="0"/>
          </a:p>
        </p:txBody>
      </p:sp>
      <p:sp>
        <p:nvSpPr>
          <p:cNvPr id="17" name="Text 12"/>
          <p:cNvSpPr/>
          <p:nvPr/>
        </p:nvSpPr>
        <p:spPr>
          <a:xfrm>
            <a:off x="765903" y="3211259"/>
            <a:ext cx="2850054" cy="615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28000"/>
              </a:lnSpc>
            </a:pPr>
            <a:r>
              <a:rPr lang="en-US" sz="1071" dirty="0">
                <a:solidFill>
                  <a:srgbClr val="5555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新规对不同构件的耐久性提出了明确的量化要求，相比旧版规范（屏体15年、立柱30年），整体年限要求大幅提升。</a:t>
            </a:r>
            <a:endParaRPr lang="en-US" sz="1071" dirty="0"/>
          </a:p>
        </p:txBody>
      </p:sp>
      <p:sp>
        <p:nvSpPr>
          <p:cNvPr id="18" name="Text 13"/>
          <p:cNvSpPr/>
          <p:nvPr/>
        </p:nvSpPr>
        <p:spPr>
          <a:xfrm>
            <a:off x="765902" y="4127420"/>
            <a:ext cx="1157368" cy="1647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071" dirty="0">
                <a:solidFill>
                  <a:srgbClr val="6666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支撑结构（钢/砼）</a:t>
            </a:r>
            <a:endParaRPr lang="en-US" sz="1071" dirty="0"/>
          </a:p>
        </p:txBody>
      </p:sp>
      <p:sp>
        <p:nvSpPr>
          <p:cNvPr id="19" name="Text 14"/>
          <p:cNvSpPr/>
          <p:nvPr/>
        </p:nvSpPr>
        <p:spPr>
          <a:xfrm>
            <a:off x="3300947" y="4127420"/>
            <a:ext cx="283732" cy="1551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008" b="1" dirty="0">
                <a:solidFill>
                  <a:srgbClr val="1565C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50年</a:t>
            </a:r>
            <a:endParaRPr lang="en-US" sz="1008" dirty="0"/>
          </a:p>
        </p:txBody>
      </p:sp>
      <p:sp>
        <p:nvSpPr>
          <p:cNvPr id="20" name="Text 15"/>
          <p:cNvSpPr/>
          <p:nvPr/>
        </p:nvSpPr>
        <p:spPr>
          <a:xfrm>
            <a:off x="765902" y="4523431"/>
            <a:ext cx="1019510" cy="1647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071" dirty="0">
                <a:solidFill>
                  <a:srgbClr val="6666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金属屏体/亚克力</a:t>
            </a:r>
            <a:endParaRPr lang="en-US" sz="1071" dirty="0"/>
          </a:p>
        </p:txBody>
      </p:sp>
      <p:sp>
        <p:nvSpPr>
          <p:cNvPr id="21" name="Text 16"/>
          <p:cNvSpPr/>
          <p:nvPr/>
        </p:nvSpPr>
        <p:spPr>
          <a:xfrm>
            <a:off x="3300947" y="4523430"/>
            <a:ext cx="283732" cy="1551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008" b="1" dirty="0">
                <a:solidFill>
                  <a:srgbClr val="1565C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25年</a:t>
            </a:r>
            <a:endParaRPr lang="en-US" sz="1008" dirty="0"/>
          </a:p>
        </p:txBody>
      </p:sp>
      <p:sp>
        <p:nvSpPr>
          <p:cNvPr id="22" name="Text 17"/>
          <p:cNvSpPr/>
          <p:nvPr/>
        </p:nvSpPr>
        <p:spPr>
          <a:xfrm>
            <a:off x="765903" y="4919441"/>
            <a:ext cx="642805" cy="1647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071" dirty="0">
                <a:solidFill>
                  <a:srgbClr val="6666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玻璃/PC板</a:t>
            </a:r>
            <a:endParaRPr lang="en-US" sz="1071" dirty="0"/>
          </a:p>
        </p:txBody>
      </p:sp>
      <p:sp>
        <p:nvSpPr>
          <p:cNvPr id="23" name="Text 18"/>
          <p:cNvSpPr/>
          <p:nvPr/>
        </p:nvSpPr>
        <p:spPr>
          <a:xfrm>
            <a:off x="3300947" y="4919441"/>
            <a:ext cx="283732" cy="1551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008" b="1" dirty="0">
                <a:solidFill>
                  <a:srgbClr val="1565C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15年</a:t>
            </a:r>
            <a:endParaRPr lang="en-US" sz="1008" dirty="0"/>
          </a:p>
        </p:txBody>
      </p:sp>
      <p:sp>
        <p:nvSpPr>
          <p:cNvPr id="24" name="Shape 19"/>
          <p:cNvSpPr/>
          <p:nvPr/>
        </p:nvSpPr>
        <p:spPr>
          <a:xfrm>
            <a:off x="4110969" y="2149230"/>
            <a:ext cx="3300100" cy="3970936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25" name="Shape 20"/>
          <p:cNvSpPr/>
          <p:nvPr/>
        </p:nvSpPr>
        <p:spPr>
          <a:xfrm>
            <a:off x="4110969" y="2149230"/>
            <a:ext cx="3300100" cy="36001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26" name="Shape 21"/>
          <p:cNvSpPr/>
          <p:nvPr/>
        </p:nvSpPr>
        <p:spPr>
          <a:xfrm>
            <a:off x="7402069" y="2149230"/>
            <a:ext cx="9001" cy="397093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27" name="Shape 22"/>
          <p:cNvSpPr/>
          <p:nvPr/>
        </p:nvSpPr>
        <p:spPr>
          <a:xfrm>
            <a:off x="4110969" y="6111164"/>
            <a:ext cx="3300100" cy="900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28" name="Shape 23"/>
          <p:cNvSpPr/>
          <p:nvPr/>
        </p:nvSpPr>
        <p:spPr>
          <a:xfrm>
            <a:off x="4110969" y="2149230"/>
            <a:ext cx="9001" cy="397093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29" name="Shape 24"/>
          <p:cNvSpPr/>
          <p:nvPr/>
        </p:nvSpPr>
        <p:spPr>
          <a:xfrm>
            <a:off x="4335975" y="2428236"/>
            <a:ext cx="450013" cy="450013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sz="2142"/>
          </a:p>
        </p:txBody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52978" y="2545240"/>
            <a:ext cx="216006" cy="21600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4920990" y="2419237"/>
            <a:ext cx="1660545" cy="394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4000"/>
              </a:lnSpc>
            </a:pPr>
            <a:r>
              <a:rPr lang="en-US" sz="1260" b="1" dirty="0">
                <a:solidFill>
                  <a:srgbClr val="1A3A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② 卷边型防坠落结构
正式入规</a:t>
            </a:r>
            <a:endParaRPr lang="en-US" sz="1260" dirty="0"/>
          </a:p>
        </p:txBody>
      </p:sp>
      <p:sp>
        <p:nvSpPr>
          <p:cNvPr id="32" name="Text 26"/>
          <p:cNvSpPr/>
          <p:nvPr/>
        </p:nvSpPr>
        <p:spPr>
          <a:xfrm>
            <a:off x="4335976" y="3211259"/>
            <a:ext cx="2850089" cy="615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28000"/>
              </a:lnSpc>
            </a:pPr>
            <a:r>
              <a:rPr lang="en-US" sz="1071" dirty="0">
                <a:solidFill>
                  <a:srgbClr val="5555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新规充分认可卷边型屏体的防坠落性能，明确要求结构约束通过自身限位实现防坠落，设计须经理论分析或试验验证可靠性。</a:t>
            </a:r>
            <a:endParaRPr lang="en-US" sz="1071" dirty="0"/>
          </a:p>
        </p:txBody>
      </p:sp>
      <p:sp>
        <p:nvSpPr>
          <p:cNvPr id="33" name="Shape 27"/>
          <p:cNvSpPr/>
          <p:nvPr/>
        </p:nvSpPr>
        <p:spPr>
          <a:xfrm>
            <a:off x="4335976" y="4037418"/>
            <a:ext cx="2850089" cy="1026028"/>
          </a:xfrm>
          <a:prstGeom prst="rect">
            <a:avLst/>
          </a:prstGeom>
          <a:solidFill>
            <a:srgbClr val="FFF9E6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4" name="Shape 28"/>
          <p:cNvSpPr/>
          <p:nvPr/>
        </p:nvSpPr>
        <p:spPr>
          <a:xfrm>
            <a:off x="4335976" y="4037418"/>
            <a:ext cx="36001" cy="1026028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5" name="Text 29"/>
          <p:cNvSpPr/>
          <p:nvPr/>
        </p:nvSpPr>
        <p:spPr>
          <a:xfrm>
            <a:off x="4335976" y="4037418"/>
            <a:ext cx="2850089" cy="805333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555555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工作原理：</a:t>
            </a:r>
            <a:r>
              <a:rPr lang="en-US" sz="1008" dirty="0">
                <a:solidFill>
                  <a:srgbClr val="5555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卷边型支撑结构通过立柱翼缘、限位板卷边与屏体端部凸起配合，在屏体冲击变形时形成限位约束，防坠落性能优异。</a:t>
            </a:r>
            <a:endParaRPr lang="en-US" sz="1008" dirty="0"/>
          </a:p>
        </p:txBody>
      </p:sp>
      <p:sp>
        <p:nvSpPr>
          <p:cNvPr id="36" name="Shape 30"/>
          <p:cNvSpPr/>
          <p:nvPr/>
        </p:nvSpPr>
        <p:spPr>
          <a:xfrm>
            <a:off x="7681078" y="2149230"/>
            <a:ext cx="3300065" cy="3970936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7" name="Shape 31"/>
          <p:cNvSpPr/>
          <p:nvPr/>
        </p:nvSpPr>
        <p:spPr>
          <a:xfrm>
            <a:off x="7681078" y="2149230"/>
            <a:ext cx="3300065" cy="36001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8" name="Shape 32"/>
          <p:cNvSpPr/>
          <p:nvPr/>
        </p:nvSpPr>
        <p:spPr>
          <a:xfrm>
            <a:off x="10972142" y="2149230"/>
            <a:ext cx="9001" cy="397093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9" name="Shape 33"/>
          <p:cNvSpPr/>
          <p:nvPr/>
        </p:nvSpPr>
        <p:spPr>
          <a:xfrm>
            <a:off x="7681078" y="6111164"/>
            <a:ext cx="3300065" cy="900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40" name="Shape 34"/>
          <p:cNvSpPr/>
          <p:nvPr/>
        </p:nvSpPr>
        <p:spPr>
          <a:xfrm>
            <a:off x="7681077" y="2149230"/>
            <a:ext cx="9001" cy="397093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41" name="Shape 35"/>
          <p:cNvSpPr/>
          <p:nvPr/>
        </p:nvSpPr>
        <p:spPr>
          <a:xfrm>
            <a:off x="7906083" y="2428236"/>
            <a:ext cx="450013" cy="450013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sz="2142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09587" y="2545240"/>
            <a:ext cx="243006" cy="216006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8491100" y="2419237"/>
            <a:ext cx="1120530" cy="394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04000"/>
              </a:lnSpc>
            </a:pPr>
            <a:r>
              <a:rPr lang="en-US" sz="1260" b="1" dirty="0">
                <a:solidFill>
                  <a:srgbClr val="1A3A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③ 紧急疏散门
量化要求</a:t>
            </a:r>
            <a:endParaRPr lang="en-US" sz="1260" dirty="0"/>
          </a:p>
        </p:txBody>
      </p:sp>
      <p:sp>
        <p:nvSpPr>
          <p:cNvPr id="44" name="Text 37"/>
          <p:cNvSpPr/>
          <p:nvPr/>
        </p:nvSpPr>
        <p:spPr>
          <a:xfrm>
            <a:off x="7906083" y="3211259"/>
            <a:ext cx="2850054" cy="6158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28000"/>
              </a:lnSpc>
            </a:pPr>
            <a:r>
              <a:rPr lang="en-US" sz="1071" dirty="0">
                <a:solidFill>
                  <a:srgbClr val="5555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针对全封闭声屏障的消防安全，新规对紧急疏散门的设置间距、性能指标及开启方式做出了严格规定。</a:t>
            </a:r>
            <a:endParaRPr lang="en-US" sz="1071" dirty="0"/>
          </a:p>
        </p:txBody>
      </p:sp>
      <p:sp>
        <p:nvSpPr>
          <p:cNvPr id="45" name="Text 38"/>
          <p:cNvSpPr/>
          <p:nvPr/>
        </p:nvSpPr>
        <p:spPr>
          <a:xfrm>
            <a:off x="7906083" y="4127420"/>
            <a:ext cx="551433" cy="1647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071" dirty="0">
                <a:solidFill>
                  <a:srgbClr val="6666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设置条件</a:t>
            </a:r>
            <a:endParaRPr lang="en-US" sz="1071" dirty="0"/>
          </a:p>
        </p:txBody>
      </p:sp>
      <p:sp>
        <p:nvSpPr>
          <p:cNvPr id="46" name="Text 39"/>
          <p:cNvSpPr/>
          <p:nvPr/>
        </p:nvSpPr>
        <p:spPr>
          <a:xfrm>
            <a:off x="9775111" y="4127420"/>
            <a:ext cx="880049" cy="1551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008" b="1" dirty="0">
                <a:solidFill>
                  <a:srgbClr val="1565C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总长度 &gt; 500m</a:t>
            </a:r>
            <a:endParaRPr lang="en-US" sz="1008" dirty="0"/>
          </a:p>
        </p:txBody>
      </p:sp>
      <p:sp>
        <p:nvSpPr>
          <p:cNvPr id="47" name="Text 40"/>
          <p:cNvSpPr/>
          <p:nvPr/>
        </p:nvSpPr>
        <p:spPr>
          <a:xfrm>
            <a:off x="7906083" y="4523431"/>
            <a:ext cx="551433" cy="16478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071" dirty="0">
                <a:solidFill>
                  <a:srgbClr val="6666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性能要求</a:t>
            </a:r>
            <a:endParaRPr lang="en-US" sz="1071" dirty="0"/>
          </a:p>
        </p:txBody>
      </p:sp>
      <p:sp>
        <p:nvSpPr>
          <p:cNvPr id="48" name="Text 41"/>
          <p:cNvSpPr/>
          <p:nvPr/>
        </p:nvSpPr>
        <p:spPr>
          <a:xfrm>
            <a:off x="9748109" y="4523430"/>
            <a:ext cx="908903" cy="15510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008" b="1" dirty="0">
                <a:solidFill>
                  <a:srgbClr val="1565C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不低于附近屏体</a:t>
            </a:r>
            <a:endParaRPr lang="en-US" sz="1008" dirty="0"/>
          </a:p>
        </p:txBody>
      </p:sp>
      <p:sp>
        <p:nvSpPr>
          <p:cNvPr id="49" name="Shape 42"/>
          <p:cNvSpPr/>
          <p:nvPr/>
        </p:nvSpPr>
        <p:spPr>
          <a:xfrm>
            <a:off x="7906083" y="4955442"/>
            <a:ext cx="2850054" cy="823522"/>
          </a:xfrm>
          <a:prstGeom prst="rect">
            <a:avLst/>
          </a:prstGeom>
          <a:solidFill>
            <a:srgbClr val="FFF9E6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50" name="Shape 43"/>
          <p:cNvSpPr/>
          <p:nvPr/>
        </p:nvSpPr>
        <p:spPr>
          <a:xfrm>
            <a:off x="7906083" y="4955442"/>
            <a:ext cx="36001" cy="823522"/>
          </a:xfrm>
          <a:prstGeom prst="rect">
            <a:avLst/>
          </a:prstGeom>
          <a:solidFill>
            <a:srgbClr val="FFC107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51" name="Text 44"/>
          <p:cNvSpPr/>
          <p:nvPr/>
        </p:nvSpPr>
        <p:spPr>
          <a:xfrm>
            <a:off x="7906083" y="4955442"/>
            <a:ext cx="2850054" cy="805333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555555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对比旧规：</a:t>
            </a:r>
            <a:r>
              <a:rPr lang="en-US" sz="1008" dirty="0">
                <a:solidFill>
                  <a:srgbClr val="5555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旧版规范要求长度&gt;1000m才需设置，新规将标准缩紧至500m，大幅提升了消防逃生能力。</a:t>
            </a:r>
            <a:endParaRPr lang="en-US" sz="1008" dirty="0"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图片 64" descr="preencoded.png">
            <a:extLst>
              <a:ext uri="{FF2B5EF4-FFF2-40B4-BE49-F238E27FC236}">
                <a16:creationId xmlns:a16="http://schemas.microsoft.com/office/drawing/2014/main" id="{02B9F811-7CCA-9722-463F-D7162CD598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2" y="-1"/>
            <a:ext cx="11520311" cy="6480175"/>
          </a:xfrm>
          <a:custGeom>
            <a:avLst/>
            <a:gdLst>
              <a:gd name="csX0" fmla="*/ 9601713 w 11520311"/>
              <a:gd name="csY0" fmla="*/ 215878 h 6480175"/>
              <a:gd name="csX1" fmla="*/ 9601713 w 11520311"/>
              <a:gd name="csY1" fmla="*/ 1007933 h 6480175"/>
              <a:gd name="csX2" fmla="*/ 11304540 w 11520311"/>
              <a:gd name="csY2" fmla="*/ 1007933 h 6480175"/>
              <a:gd name="csX3" fmla="*/ 11304540 w 11520311"/>
              <a:gd name="csY3" fmla="*/ 215878 h 6480175"/>
              <a:gd name="csX4" fmla="*/ 0 w 11520311"/>
              <a:gd name="csY4" fmla="*/ 0 h 6480175"/>
              <a:gd name="csX5" fmla="*/ 11520311 w 11520311"/>
              <a:gd name="csY5" fmla="*/ 0 h 6480175"/>
              <a:gd name="csX6" fmla="*/ 11520311 w 11520311"/>
              <a:gd name="csY6" fmla="*/ 6480175 h 6480175"/>
              <a:gd name="csX7" fmla="*/ 0 w 11520311"/>
              <a:gd name="csY7" fmla="*/ 6480175 h 64801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520311" h="6480175">
                <a:moveTo>
                  <a:pt x="9601713" y="215878"/>
                </a:moveTo>
                <a:lnTo>
                  <a:pt x="9601713" y="1007933"/>
                </a:lnTo>
                <a:lnTo>
                  <a:pt x="11304540" y="1007933"/>
                </a:lnTo>
                <a:lnTo>
                  <a:pt x="11304540" y="215878"/>
                </a:lnTo>
                <a:close/>
                <a:moveTo>
                  <a:pt x="0" y="0"/>
                </a:moveTo>
                <a:lnTo>
                  <a:pt x="11520311" y="0"/>
                </a:lnTo>
                <a:lnTo>
                  <a:pt x="11520311" y="6480175"/>
                </a:lnTo>
                <a:lnTo>
                  <a:pt x="0" y="6480175"/>
                </a:lnTo>
                <a:close/>
              </a:path>
            </a:pathLst>
          </a:custGeom>
        </p:spPr>
      </p:pic>
      <p:sp>
        <p:nvSpPr>
          <p:cNvPr id="4" name="Text 0"/>
          <p:cNvSpPr/>
          <p:nvPr/>
        </p:nvSpPr>
        <p:spPr>
          <a:xfrm>
            <a:off x="540896" y="450012"/>
            <a:ext cx="227626" cy="2326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512" b="1" dirty="0">
                <a:solidFill>
                  <a:srgbClr val="1565C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04</a:t>
            </a:r>
            <a:endParaRPr lang="en-US" sz="1512" dirty="0"/>
          </a:p>
        </p:txBody>
      </p:sp>
      <p:sp>
        <p:nvSpPr>
          <p:cNvPr id="5" name="Text 1"/>
          <p:cNvSpPr/>
          <p:nvPr/>
        </p:nvSpPr>
        <p:spPr>
          <a:xfrm>
            <a:off x="990909" y="450012"/>
            <a:ext cx="4320117" cy="23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512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产品分类——公路全封闭声屏障主流结构形式</a:t>
            </a:r>
            <a:endParaRPr lang="en-US" sz="1512" dirty="0"/>
          </a:p>
        </p:txBody>
      </p:sp>
      <p:sp>
        <p:nvSpPr>
          <p:cNvPr id="6" name="Shape 2"/>
          <p:cNvSpPr/>
          <p:nvPr/>
        </p:nvSpPr>
        <p:spPr>
          <a:xfrm>
            <a:off x="540896" y="1260033"/>
            <a:ext cx="10440282" cy="529186"/>
          </a:xfrm>
          <a:prstGeom prst="rect">
            <a:avLst/>
          </a:prstGeom>
          <a:solidFill>
            <a:srgbClr val="E3F0FB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7" name="Shape 3"/>
          <p:cNvSpPr/>
          <p:nvPr/>
        </p:nvSpPr>
        <p:spPr>
          <a:xfrm>
            <a:off x="540897" y="1260033"/>
            <a:ext cx="54002" cy="529186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8" name="Text 4"/>
          <p:cNvSpPr/>
          <p:nvPr/>
        </p:nvSpPr>
        <p:spPr>
          <a:xfrm>
            <a:off x="765902" y="1395037"/>
            <a:ext cx="7694414" cy="2167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197" dirty="0">
                <a:solidFill>
                  <a:srgbClr val="1A3A6B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依据跨度、结构形式与应用场景，公路全封闭声屏障形成了完整的产品分类体系，不同工况对应不同的结构选型。</a:t>
            </a:r>
            <a:endParaRPr lang="en-US" sz="1197" dirty="0"/>
          </a:p>
        </p:txBody>
      </p:sp>
      <p:sp>
        <p:nvSpPr>
          <p:cNvPr id="9" name="Text 5"/>
          <p:cNvSpPr/>
          <p:nvPr/>
        </p:nvSpPr>
        <p:spPr>
          <a:xfrm>
            <a:off x="540896" y="1969225"/>
            <a:ext cx="5544150" cy="193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60" b="1" dirty="0">
                <a:solidFill>
                  <a:srgbClr val="1565C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跨度规格体系（新版全封闭国标图集）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45397" y="2369736"/>
            <a:ext cx="2758047" cy="396011"/>
          </a:xfrm>
          <a:prstGeom prst="rect">
            <a:avLst/>
          </a:prstGeom>
          <a:solidFill>
            <a:srgbClr val="1A3A6B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sz="2142"/>
          </a:p>
        </p:txBody>
      </p:sp>
      <p:sp>
        <p:nvSpPr>
          <p:cNvPr id="11" name="Text 7"/>
          <p:cNvSpPr/>
          <p:nvPr/>
        </p:nvSpPr>
        <p:spPr>
          <a:xfrm>
            <a:off x="545397" y="2381938"/>
            <a:ext cx="2758047" cy="371607"/>
          </a:xfrm>
          <a:prstGeom prst="rect">
            <a:avLst/>
          </a:prstGeom>
          <a:noFill/>
          <a:ln/>
        </p:spPr>
        <p:txBody>
          <a:bodyPr wrap="square" lIns="160644" tIns="107203" rIns="160644" bIns="107203" rtlCol="0" anchor="ctr">
            <a:spAutoFit/>
          </a:bodyPr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道路类型</a:t>
            </a:r>
            <a:endParaRPr lang="en-US" sz="1008" dirty="0"/>
          </a:p>
        </p:txBody>
      </p:sp>
      <p:sp>
        <p:nvSpPr>
          <p:cNvPr id="12" name="Shape 8"/>
          <p:cNvSpPr/>
          <p:nvPr/>
        </p:nvSpPr>
        <p:spPr>
          <a:xfrm>
            <a:off x="3303444" y="2369736"/>
            <a:ext cx="1203783" cy="396011"/>
          </a:xfrm>
          <a:prstGeom prst="rect">
            <a:avLst/>
          </a:prstGeom>
          <a:solidFill>
            <a:srgbClr val="1A3A6B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sz="2142"/>
          </a:p>
        </p:txBody>
      </p:sp>
      <p:sp>
        <p:nvSpPr>
          <p:cNvPr id="13" name="Text 9"/>
          <p:cNvSpPr/>
          <p:nvPr/>
        </p:nvSpPr>
        <p:spPr>
          <a:xfrm>
            <a:off x="3548356" y="2381938"/>
            <a:ext cx="713956" cy="371607"/>
          </a:xfrm>
          <a:prstGeom prst="rect">
            <a:avLst/>
          </a:prstGeom>
          <a:noFill/>
          <a:ln/>
        </p:spPr>
        <p:txBody>
          <a:bodyPr wrap="none" lIns="160644" tIns="107203" rIns="160644" bIns="107203" rtlCol="0" anchor="ctr">
            <a:spAutoFit/>
          </a:bodyPr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车道数</a:t>
            </a:r>
            <a:endParaRPr lang="en-US" sz="1008" dirty="0"/>
          </a:p>
        </p:txBody>
      </p:sp>
      <p:sp>
        <p:nvSpPr>
          <p:cNvPr id="14" name="Shape 10"/>
          <p:cNvSpPr/>
          <p:nvPr/>
        </p:nvSpPr>
        <p:spPr>
          <a:xfrm>
            <a:off x="4505046" y="2369736"/>
            <a:ext cx="1575500" cy="396011"/>
          </a:xfrm>
          <a:prstGeom prst="rect">
            <a:avLst/>
          </a:prstGeom>
          <a:solidFill>
            <a:srgbClr val="1A3A6B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sz="2142"/>
          </a:p>
        </p:txBody>
      </p:sp>
      <p:sp>
        <p:nvSpPr>
          <p:cNvPr id="15" name="Text 11"/>
          <p:cNvSpPr/>
          <p:nvPr/>
        </p:nvSpPr>
        <p:spPr>
          <a:xfrm>
            <a:off x="4870896" y="2381938"/>
            <a:ext cx="843799" cy="371607"/>
          </a:xfrm>
          <a:prstGeom prst="rect">
            <a:avLst/>
          </a:prstGeom>
          <a:noFill/>
          <a:ln/>
        </p:spPr>
        <p:txBody>
          <a:bodyPr wrap="none" lIns="160644" tIns="107203" rIns="160644" bIns="107203" rtlCol="0" anchor="ctr">
            <a:spAutoFit/>
          </a:bodyPr>
          <a:lstStyle/>
          <a:p>
            <a:pPr algn="ctr"/>
            <a:r>
              <a:rPr lang="en-US" sz="1008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标准跨度</a:t>
            </a:r>
            <a:endParaRPr lang="en-US" sz="1008" dirty="0"/>
          </a:p>
        </p:txBody>
      </p:sp>
      <p:sp>
        <p:nvSpPr>
          <p:cNvPr id="16" name="Text 12"/>
          <p:cNvSpPr/>
          <p:nvPr/>
        </p:nvSpPr>
        <p:spPr>
          <a:xfrm>
            <a:off x="545396" y="2775974"/>
            <a:ext cx="2765641" cy="328306"/>
          </a:xfrm>
          <a:prstGeom prst="rect">
            <a:avLst/>
          </a:prstGeom>
          <a:noFill/>
          <a:ln/>
        </p:spPr>
        <p:txBody>
          <a:bodyPr wrap="square" lIns="160644" tIns="85762" rIns="160644" bIns="85762" rtlCol="0" anchor="ctr">
            <a:spAutoFit/>
          </a:bodyPr>
          <a:lstStyle/>
          <a:p>
            <a:pPr algn="ctr"/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桥梁</a:t>
            </a:r>
            <a:endParaRPr lang="en-US" sz="1008" dirty="0"/>
          </a:p>
        </p:txBody>
      </p:sp>
      <p:sp>
        <p:nvSpPr>
          <p:cNvPr id="17" name="Text 13"/>
          <p:cNvSpPr/>
          <p:nvPr/>
        </p:nvSpPr>
        <p:spPr>
          <a:xfrm>
            <a:off x="3549974" y="2775974"/>
            <a:ext cx="713956" cy="328306"/>
          </a:xfrm>
          <a:prstGeom prst="rect">
            <a:avLst/>
          </a:prstGeom>
          <a:noFill/>
          <a:ln/>
        </p:spPr>
        <p:txBody>
          <a:bodyPr wrap="none" lIns="160644" tIns="85762" rIns="160644" bIns="85762" rtlCol="0" anchor="ctr">
            <a:spAutoFit/>
          </a:bodyPr>
          <a:lstStyle/>
          <a:p>
            <a:pPr algn="ctr"/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双车道</a:t>
            </a:r>
            <a:endParaRPr lang="en-US" sz="1008" dirty="0"/>
          </a:p>
        </p:txBody>
      </p:sp>
      <p:sp>
        <p:nvSpPr>
          <p:cNvPr id="18" name="Text 14"/>
          <p:cNvSpPr/>
          <p:nvPr/>
        </p:nvSpPr>
        <p:spPr>
          <a:xfrm>
            <a:off x="4942742" y="2780814"/>
            <a:ext cx="697926" cy="318623"/>
          </a:xfrm>
          <a:prstGeom prst="rect">
            <a:avLst/>
          </a:prstGeom>
          <a:noFill/>
          <a:ln/>
        </p:spPr>
        <p:txBody>
          <a:bodyPr wrap="none" lIns="160644" tIns="85762" rIns="160644" bIns="85762" rtlCol="0" anchor="ctr">
            <a:spAutoFit/>
          </a:bodyPr>
          <a:lstStyle/>
          <a:p>
            <a:pPr algn="ctr"/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10.1m</a:t>
            </a:r>
            <a:endParaRPr lang="en-US" sz="945" dirty="0"/>
          </a:p>
        </p:txBody>
      </p:sp>
      <p:sp>
        <p:nvSpPr>
          <p:cNvPr id="19" name="Shape 15"/>
          <p:cNvSpPr/>
          <p:nvPr/>
        </p:nvSpPr>
        <p:spPr>
          <a:xfrm>
            <a:off x="545396" y="3114505"/>
            <a:ext cx="5535149" cy="348759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20" name="Text 16"/>
          <p:cNvSpPr/>
          <p:nvPr/>
        </p:nvSpPr>
        <p:spPr>
          <a:xfrm>
            <a:off x="545396" y="3124733"/>
            <a:ext cx="2765641" cy="328306"/>
          </a:xfrm>
          <a:prstGeom prst="rect">
            <a:avLst/>
          </a:prstGeom>
          <a:noFill/>
          <a:ln/>
        </p:spPr>
        <p:txBody>
          <a:bodyPr wrap="square" lIns="160644" tIns="85762" rIns="160644" bIns="85762" rtlCol="0" anchor="ctr">
            <a:spAutoFit/>
          </a:bodyPr>
          <a:lstStyle/>
          <a:p>
            <a:pPr algn="ctr"/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桥梁</a:t>
            </a:r>
            <a:endParaRPr lang="en-US" sz="1008" dirty="0"/>
          </a:p>
        </p:txBody>
      </p:sp>
      <p:sp>
        <p:nvSpPr>
          <p:cNvPr id="21" name="Text 17"/>
          <p:cNvSpPr/>
          <p:nvPr/>
        </p:nvSpPr>
        <p:spPr>
          <a:xfrm>
            <a:off x="3549974" y="3124733"/>
            <a:ext cx="713956" cy="328306"/>
          </a:xfrm>
          <a:prstGeom prst="rect">
            <a:avLst/>
          </a:prstGeom>
          <a:noFill/>
          <a:ln/>
        </p:spPr>
        <p:txBody>
          <a:bodyPr wrap="none" lIns="160644" tIns="85762" rIns="160644" bIns="85762" rtlCol="0" anchor="ctr">
            <a:spAutoFit/>
          </a:bodyPr>
          <a:lstStyle/>
          <a:p>
            <a:pPr algn="ctr"/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四车道</a:t>
            </a:r>
            <a:endParaRPr lang="en-US" sz="1008" dirty="0"/>
          </a:p>
        </p:txBody>
      </p:sp>
      <p:sp>
        <p:nvSpPr>
          <p:cNvPr id="22" name="Text 18"/>
          <p:cNvSpPr/>
          <p:nvPr/>
        </p:nvSpPr>
        <p:spPr>
          <a:xfrm>
            <a:off x="4942742" y="3129573"/>
            <a:ext cx="697926" cy="318623"/>
          </a:xfrm>
          <a:prstGeom prst="rect">
            <a:avLst/>
          </a:prstGeom>
          <a:noFill/>
          <a:ln/>
        </p:spPr>
        <p:txBody>
          <a:bodyPr wrap="none" lIns="160644" tIns="85762" rIns="160644" bIns="85762" rtlCol="0" anchor="ctr">
            <a:spAutoFit/>
          </a:bodyPr>
          <a:lstStyle/>
          <a:p>
            <a:pPr algn="ctr"/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17.6m</a:t>
            </a:r>
            <a:endParaRPr lang="en-US" sz="945" dirty="0"/>
          </a:p>
        </p:txBody>
      </p:sp>
      <p:sp>
        <p:nvSpPr>
          <p:cNvPr id="23" name="Text 19"/>
          <p:cNvSpPr/>
          <p:nvPr/>
        </p:nvSpPr>
        <p:spPr>
          <a:xfrm>
            <a:off x="545396" y="3473493"/>
            <a:ext cx="2765641" cy="328306"/>
          </a:xfrm>
          <a:prstGeom prst="rect">
            <a:avLst/>
          </a:prstGeom>
          <a:noFill/>
          <a:ln/>
        </p:spPr>
        <p:txBody>
          <a:bodyPr wrap="square" lIns="160644" tIns="85762" rIns="160644" bIns="85762" rtlCol="0" anchor="ctr">
            <a:spAutoFit/>
          </a:bodyPr>
          <a:lstStyle/>
          <a:p>
            <a:pPr algn="ctr"/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桥梁</a:t>
            </a:r>
            <a:endParaRPr lang="en-US" sz="1008" dirty="0"/>
          </a:p>
        </p:txBody>
      </p:sp>
      <p:sp>
        <p:nvSpPr>
          <p:cNvPr id="24" name="Text 20"/>
          <p:cNvSpPr/>
          <p:nvPr/>
        </p:nvSpPr>
        <p:spPr>
          <a:xfrm>
            <a:off x="3549974" y="3473493"/>
            <a:ext cx="713956" cy="328306"/>
          </a:xfrm>
          <a:prstGeom prst="rect">
            <a:avLst/>
          </a:prstGeom>
          <a:noFill/>
          <a:ln/>
        </p:spPr>
        <p:txBody>
          <a:bodyPr wrap="none" lIns="160644" tIns="85762" rIns="160644" bIns="85762" rtlCol="0" anchor="ctr">
            <a:spAutoFit/>
          </a:bodyPr>
          <a:lstStyle/>
          <a:p>
            <a:pPr algn="ctr"/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六车道</a:t>
            </a:r>
            <a:endParaRPr lang="en-US" sz="1008" dirty="0"/>
          </a:p>
        </p:txBody>
      </p:sp>
      <p:sp>
        <p:nvSpPr>
          <p:cNvPr id="25" name="Text 21"/>
          <p:cNvSpPr/>
          <p:nvPr/>
        </p:nvSpPr>
        <p:spPr>
          <a:xfrm>
            <a:off x="4942742" y="3478333"/>
            <a:ext cx="697926" cy="318623"/>
          </a:xfrm>
          <a:prstGeom prst="rect">
            <a:avLst/>
          </a:prstGeom>
          <a:noFill/>
          <a:ln/>
        </p:spPr>
        <p:txBody>
          <a:bodyPr wrap="none" lIns="160644" tIns="85762" rIns="160644" bIns="85762" rtlCol="0" anchor="ctr">
            <a:spAutoFit/>
          </a:bodyPr>
          <a:lstStyle/>
          <a:p>
            <a:pPr algn="ctr"/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27.6m</a:t>
            </a:r>
            <a:endParaRPr lang="en-US" sz="945" dirty="0"/>
          </a:p>
        </p:txBody>
      </p:sp>
      <p:sp>
        <p:nvSpPr>
          <p:cNvPr id="26" name="Shape 22"/>
          <p:cNvSpPr/>
          <p:nvPr/>
        </p:nvSpPr>
        <p:spPr>
          <a:xfrm>
            <a:off x="545396" y="3812024"/>
            <a:ext cx="5535149" cy="348759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27" name="Text 23"/>
          <p:cNvSpPr/>
          <p:nvPr/>
        </p:nvSpPr>
        <p:spPr>
          <a:xfrm>
            <a:off x="545396" y="3822252"/>
            <a:ext cx="2765641" cy="328306"/>
          </a:xfrm>
          <a:prstGeom prst="rect">
            <a:avLst/>
          </a:prstGeom>
          <a:noFill/>
          <a:ln/>
        </p:spPr>
        <p:txBody>
          <a:bodyPr wrap="square" lIns="160644" tIns="85762" rIns="160644" bIns="85762" rtlCol="0" anchor="ctr">
            <a:spAutoFit/>
          </a:bodyPr>
          <a:lstStyle/>
          <a:p>
            <a:pPr algn="ctr"/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桥梁</a:t>
            </a:r>
            <a:endParaRPr lang="en-US" sz="1008" dirty="0"/>
          </a:p>
        </p:txBody>
      </p:sp>
      <p:sp>
        <p:nvSpPr>
          <p:cNvPr id="28" name="Text 24"/>
          <p:cNvSpPr/>
          <p:nvPr/>
        </p:nvSpPr>
        <p:spPr>
          <a:xfrm>
            <a:off x="3549974" y="3822252"/>
            <a:ext cx="713956" cy="328306"/>
          </a:xfrm>
          <a:prstGeom prst="rect">
            <a:avLst/>
          </a:prstGeom>
          <a:noFill/>
          <a:ln/>
        </p:spPr>
        <p:txBody>
          <a:bodyPr wrap="none" lIns="160644" tIns="85762" rIns="160644" bIns="85762" rtlCol="0" anchor="ctr">
            <a:spAutoFit/>
          </a:bodyPr>
          <a:lstStyle/>
          <a:p>
            <a:pPr algn="ctr"/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八车道</a:t>
            </a:r>
            <a:endParaRPr lang="en-US" sz="1008" dirty="0"/>
          </a:p>
        </p:txBody>
      </p:sp>
      <p:sp>
        <p:nvSpPr>
          <p:cNvPr id="29" name="Text 25"/>
          <p:cNvSpPr/>
          <p:nvPr/>
        </p:nvSpPr>
        <p:spPr>
          <a:xfrm>
            <a:off x="4942742" y="3827092"/>
            <a:ext cx="697926" cy="318623"/>
          </a:xfrm>
          <a:prstGeom prst="rect">
            <a:avLst/>
          </a:prstGeom>
          <a:noFill/>
          <a:ln/>
        </p:spPr>
        <p:txBody>
          <a:bodyPr wrap="none" lIns="160644" tIns="85762" rIns="160644" bIns="85762" rtlCol="0" anchor="ctr">
            <a:spAutoFit/>
          </a:bodyPr>
          <a:lstStyle/>
          <a:p>
            <a:pPr algn="ctr"/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35.2m</a:t>
            </a:r>
            <a:endParaRPr lang="en-US" sz="945" dirty="0"/>
          </a:p>
        </p:txBody>
      </p:sp>
      <p:sp>
        <p:nvSpPr>
          <p:cNvPr id="30" name="Text 26"/>
          <p:cNvSpPr/>
          <p:nvPr/>
        </p:nvSpPr>
        <p:spPr>
          <a:xfrm>
            <a:off x="545396" y="4171011"/>
            <a:ext cx="2765641" cy="328306"/>
          </a:xfrm>
          <a:prstGeom prst="rect">
            <a:avLst/>
          </a:prstGeom>
          <a:noFill/>
          <a:ln/>
        </p:spPr>
        <p:txBody>
          <a:bodyPr wrap="square" lIns="160644" tIns="85762" rIns="160644" bIns="85762" rtlCol="0" anchor="ctr">
            <a:spAutoFit/>
          </a:bodyPr>
          <a:lstStyle/>
          <a:p>
            <a:pPr algn="ctr"/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路基</a:t>
            </a:r>
            <a:endParaRPr lang="en-US" sz="1008" dirty="0"/>
          </a:p>
        </p:txBody>
      </p:sp>
      <p:sp>
        <p:nvSpPr>
          <p:cNvPr id="31" name="Text 27"/>
          <p:cNvSpPr/>
          <p:nvPr/>
        </p:nvSpPr>
        <p:spPr>
          <a:xfrm>
            <a:off x="3549974" y="4171011"/>
            <a:ext cx="713956" cy="328306"/>
          </a:xfrm>
          <a:prstGeom prst="rect">
            <a:avLst/>
          </a:prstGeom>
          <a:noFill/>
          <a:ln/>
        </p:spPr>
        <p:txBody>
          <a:bodyPr wrap="none" lIns="160644" tIns="85762" rIns="160644" bIns="85762" rtlCol="0" anchor="ctr">
            <a:spAutoFit/>
          </a:bodyPr>
          <a:lstStyle/>
          <a:p>
            <a:pPr algn="ctr"/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双车道</a:t>
            </a:r>
            <a:endParaRPr lang="en-US" sz="1008" dirty="0"/>
          </a:p>
        </p:txBody>
      </p:sp>
      <p:sp>
        <p:nvSpPr>
          <p:cNvPr id="32" name="Text 28"/>
          <p:cNvSpPr/>
          <p:nvPr/>
        </p:nvSpPr>
        <p:spPr>
          <a:xfrm>
            <a:off x="4998848" y="4175851"/>
            <a:ext cx="585715" cy="318623"/>
          </a:xfrm>
          <a:prstGeom prst="rect">
            <a:avLst/>
          </a:prstGeom>
          <a:noFill/>
          <a:ln/>
        </p:spPr>
        <p:txBody>
          <a:bodyPr wrap="none" lIns="160644" tIns="85762" rIns="160644" bIns="85762" rtlCol="0" anchor="ctr">
            <a:spAutoFit/>
          </a:bodyPr>
          <a:lstStyle/>
          <a:p>
            <a:pPr algn="ctr"/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11m</a:t>
            </a:r>
            <a:endParaRPr lang="en-US" sz="945" dirty="0"/>
          </a:p>
        </p:txBody>
      </p:sp>
      <p:sp>
        <p:nvSpPr>
          <p:cNvPr id="33" name="Shape 29"/>
          <p:cNvSpPr/>
          <p:nvPr/>
        </p:nvSpPr>
        <p:spPr>
          <a:xfrm>
            <a:off x="545396" y="4509544"/>
            <a:ext cx="5535149" cy="348759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4" name="Text 30"/>
          <p:cNvSpPr/>
          <p:nvPr/>
        </p:nvSpPr>
        <p:spPr>
          <a:xfrm>
            <a:off x="545396" y="4519771"/>
            <a:ext cx="2765641" cy="328306"/>
          </a:xfrm>
          <a:prstGeom prst="rect">
            <a:avLst/>
          </a:prstGeom>
          <a:noFill/>
          <a:ln/>
        </p:spPr>
        <p:txBody>
          <a:bodyPr wrap="square" lIns="160644" tIns="85762" rIns="160644" bIns="85762" rtlCol="0" anchor="ctr">
            <a:spAutoFit/>
          </a:bodyPr>
          <a:lstStyle/>
          <a:p>
            <a:pPr algn="ctr"/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路基</a:t>
            </a:r>
            <a:endParaRPr lang="en-US" sz="1008" dirty="0"/>
          </a:p>
        </p:txBody>
      </p:sp>
      <p:sp>
        <p:nvSpPr>
          <p:cNvPr id="35" name="Text 31"/>
          <p:cNvSpPr/>
          <p:nvPr/>
        </p:nvSpPr>
        <p:spPr>
          <a:xfrm>
            <a:off x="3549974" y="4519771"/>
            <a:ext cx="713956" cy="328306"/>
          </a:xfrm>
          <a:prstGeom prst="rect">
            <a:avLst/>
          </a:prstGeom>
          <a:noFill/>
          <a:ln/>
        </p:spPr>
        <p:txBody>
          <a:bodyPr wrap="none" lIns="160644" tIns="85762" rIns="160644" bIns="85762" rtlCol="0" anchor="ctr">
            <a:spAutoFit/>
          </a:bodyPr>
          <a:lstStyle/>
          <a:p>
            <a:pPr algn="ctr"/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四车道</a:t>
            </a:r>
            <a:endParaRPr lang="en-US" sz="1008" dirty="0"/>
          </a:p>
        </p:txBody>
      </p:sp>
      <p:sp>
        <p:nvSpPr>
          <p:cNvPr id="36" name="Text 32"/>
          <p:cNvSpPr/>
          <p:nvPr/>
        </p:nvSpPr>
        <p:spPr>
          <a:xfrm>
            <a:off x="4942742" y="4524612"/>
            <a:ext cx="697926" cy="318623"/>
          </a:xfrm>
          <a:prstGeom prst="rect">
            <a:avLst/>
          </a:prstGeom>
          <a:noFill/>
          <a:ln/>
        </p:spPr>
        <p:txBody>
          <a:bodyPr wrap="none" lIns="160644" tIns="85762" rIns="160644" bIns="85762" rtlCol="0" anchor="ctr">
            <a:spAutoFit/>
          </a:bodyPr>
          <a:lstStyle/>
          <a:p>
            <a:pPr algn="ctr"/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18.5m</a:t>
            </a:r>
            <a:endParaRPr lang="en-US" sz="945" dirty="0"/>
          </a:p>
        </p:txBody>
      </p:sp>
      <p:sp>
        <p:nvSpPr>
          <p:cNvPr id="37" name="Text 33"/>
          <p:cNvSpPr/>
          <p:nvPr/>
        </p:nvSpPr>
        <p:spPr>
          <a:xfrm>
            <a:off x="545396" y="4868530"/>
            <a:ext cx="2765641" cy="328306"/>
          </a:xfrm>
          <a:prstGeom prst="rect">
            <a:avLst/>
          </a:prstGeom>
          <a:noFill/>
          <a:ln/>
        </p:spPr>
        <p:txBody>
          <a:bodyPr wrap="square" lIns="160644" tIns="85762" rIns="160644" bIns="85762" rtlCol="0" anchor="ctr">
            <a:spAutoFit/>
          </a:bodyPr>
          <a:lstStyle/>
          <a:p>
            <a:pPr algn="ctr"/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路基</a:t>
            </a:r>
            <a:endParaRPr lang="en-US" sz="1008" dirty="0"/>
          </a:p>
        </p:txBody>
      </p:sp>
      <p:sp>
        <p:nvSpPr>
          <p:cNvPr id="38" name="Text 34"/>
          <p:cNvSpPr/>
          <p:nvPr/>
        </p:nvSpPr>
        <p:spPr>
          <a:xfrm>
            <a:off x="3549974" y="4868530"/>
            <a:ext cx="713956" cy="328306"/>
          </a:xfrm>
          <a:prstGeom prst="rect">
            <a:avLst/>
          </a:prstGeom>
          <a:noFill/>
          <a:ln/>
        </p:spPr>
        <p:txBody>
          <a:bodyPr wrap="none" lIns="160644" tIns="85762" rIns="160644" bIns="85762" rtlCol="0" anchor="ctr">
            <a:spAutoFit/>
          </a:bodyPr>
          <a:lstStyle/>
          <a:p>
            <a:pPr algn="ctr"/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六车道</a:t>
            </a:r>
            <a:endParaRPr lang="en-US" sz="1008" dirty="0"/>
          </a:p>
        </p:txBody>
      </p:sp>
      <p:sp>
        <p:nvSpPr>
          <p:cNvPr id="39" name="Text 35"/>
          <p:cNvSpPr/>
          <p:nvPr/>
        </p:nvSpPr>
        <p:spPr>
          <a:xfrm>
            <a:off x="4942742" y="4873371"/>
            <a:ext cx="697926" cy="318623"/>
          </a:xfrm>
          <a:prstGeom prst="rect">
            <a:avLst/>
          </a:prstGeom>
          <a:noFill/>
          <a:ln/>
        </p:spPr>
        <p:txBody>
          <a:bodyPr wrap="none" lIns="160644" tIns="85762" rIns="160644" bIns="85762" rtlCol="0" anchor="ctr">
            <a:spAutoFit/>
          </a:bodyPr>
          <a:lstStyle/>
          <a:p>
            <a:pPr algn="ctr"/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29.6m</a:t>
            </a:r>
            <a:endParaRPr lang="en-US" sz="945" dirty="0"/>
          </a:p>
        </p:txBody>
      </p:sp>
      <p:sp>
        <p:nvSpPr>
          <p:cNvPr id="40" name="Shape 36"/>
          <p:cNvSpPr/>
          <p:nvPr/>
        </p:nvSpPr>
        <p:spPr>
          <a:xfrm>
            <a:off x="545396" y="5207062"/>
            <a:ext cx="5535149" cy="348759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41" name="Text 37"/>
          <p:cNvSpPr/>
          <p:nvPr/>
        </p:nvSpPr>
        <p:spPr>
          <a:xfrm>
            <a:off x="545396" y="5217289"/>
            <a:ext cx="2765641" cy="328306"/>
          </a:xfrm>
          <a:prstGeom prst="rect">
            <a:avLst/>
          </a:prstGeom>
          <a:noFill/>
          <a:ln/>
        </p:spPr>
        <p:txBody>
          <a:bodyPr wrap="square" lIns="160644" tIns="85762" rIns="160644" bIns="85762" rtlCol="0" anchor="ctr">
            <a:spAutoFit/>
          </a:bodyPr>
          <a:lstStyle/>
          <a:p>
            <a:pPr algn="ctr"/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路基</a:t>
            </a:r>
            <a:endParaRPr lang="en-US" sz="1008" dirty="0"/>
          </a:p>
        </p:txBody>
      </p:sp>
      <p:sp>
        <p:nvSpPr>
          <p:cNvPr id="42" name="Text 38"/>
          <p:cNvSpPr/>
          <p:nvPr/>
        </p:nvSpPr>
        <p:spPr>
          <a:xfrm>
            <a:off x="3549974" y="5217289"/>
            <a:ext cx="713956" cy="328306"/>
          </a:xfrm>
          <a:prstGeom prst="rect">
            <a:avLst/>
          </a:prstGeom>
          <a:noFill/>
          <a:ln/>
        </p:spPr>
        <p:txBody>
          <a:bodyPr wrap="none" lIns="160644" tIns="85762" rIns="160644" bIns="85762" rtlCol="0" anchor="ctr">
            <a:spAutoFit/>
          </a:bodyPr>
          <a:lstStyle/>
          <a:p>
            <a:pPr algn="ctr"/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八车道</a:t>
            </a:r>
            <a:endParaRPr lang="en-US" sz="1008" dirty="0"/>
          </a:p>
        </p:txBody>
      </p:sp>
      <p:sp>
        <p:nvSpPr>
          <p:cNvPr id="43" name="Text 39"/>
          <p:cNvSpPr/>
          <p:nvPr/>
        </p:nvSpPr>
        <p:spPr>
          <a:xfrm>
            <a:off x="4942742" y="5222130"/>
            <a:ext cx="697926" cy="318623"/>
          </a:xfrm>
          <a:prstGeom prst="rect">
            <a:avLst/>
          </a:prstGeom>
          <a:noFill/>
          <a:ln/>
        </p:spPr>
        <p:txBody>
          <a:bodyPr wrap="none" lIns="160644" tIns="85762" rIns="160644" bIns="85762" rtlCol="0" anchor="ctr">
            <a:spAutoFit/>
          </a:bodyPr>
          <a:lstStyle/>
          <a:p>
            <a:pPr algn="ctr"/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37.2m</a:t>
            </a:r>
            <a:endParaRPr lang="en-US" sz="945" dirty="0"/>
          </a:p>
        </p:txBody>
      </p:sp>
      <p:sp>
        <p:nvSpPr>
          <p:cNvPr id="44" name="Text 40"/>
          <p:cNvSpPr/>
          <p:nvPr/>
        </p:nvSpPr>
        <p:spPr>
          <a:xfrm>
            <a:off x="545396" y="5566050"/>
            <a:ext cx="2765641" cy="328306"/>
          </a:xfrm>
          <a:prstGeom prst="rect">
            <a:avLst/>
          </a:prstGeom>
          <a:noFill/>
          <a:ln/>
        </p:spPr>
        <p:txBody>
          <a:bodyPr wrap="square" lIns="160644" tIns="85762" rIns="160644" bIns="85762" rtlCol="0" anchor="ctr">
            <a:spAutoFit/>
          </a:bodyPr>
          <a:lstStyle/>
          <a:p>
            <a:pPr algn="ctr"/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特殊（主线连接匝道）</a:t>
            </a:r>
            <a:endParaRPr lang="en-US" sz="1008" dirty="0"/>
          </a:p>
        </p:txBody>
      </p:sp>
      <p:sp>
        <p:nvSpPr>
          <p:cNvPr id="45" name="Text 41"/>
          <p:cNvSpPr/>
          <p:nvPr/>
        </p:nvSpPr>
        <p:spPr>
          <a:xfrm>
            <a:off x="3687031" y="5566050"/>
            <a:ext cx="439842" cy="328306"/>
          </a:xfrm>
          <a:prstGeom prst="rect">
            <a:avLst/>
          </a:prstGeom>
          <a:noFill/>
          <a:ln/>
        </p:spPr>
        <p:txBody>
          <a:bodyPr wrap="none" lIns="160644" tIns="85762" rIns="160644" bIns="85762" rtlCol="0" anchor="ctr">
            <a:spAutoFit/>
          </a:bodyPr>
          <a:lstStyle/>
          <a:p>
            <a:pPr algn="ctr"/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</a:t>
            </a:r>
            <a:endParaRPr lang="en-US" sz="1008" dirty="0"/>
          </a:p>
        </p:txBody>
      </p:sp>
      <p:sp>
        <p:nvSpPr>
          <p:cNvPr id="46" name="Text 42"/>
          <p:cNvSpPr/>
          <p:nvPr/>
        </p:nvSpPr>
        <p:spPr>
          <a:xfrm>
            <a:off x="4835342" y="5570890"/>
            <a:ext cx="912728" cy="318623"/>
          </a:xfrm>
          <a:prstGeom prst="rect">
            <a:avLst/>
          </a:prstGeom>
          <a:noFill/>
          <a:ln/>
        </p:spPr>
        <p:txBody>
          <a:bodyPr wrap="none" lIns="160644" tIns="85762" rIns="160644" bIns="85762" rtlCol="0" anchor="ctr">
            <a:spAutoFit/>
          </a:bodyPr>
          <a:lstStyle/>
          <a:p>
            <a:pPr algn="ctr"/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35m–60m</a:t>
            </a:r>
            <a:endParaRPr lang="en-US" sz="945" dirty="0"/>
          </a:p>
        </p:txBody>
      </p:sp>
      <p:sp>
        <p:nvSpPr>
          <p:cNvPr id="47" name="Text 43"/>
          <p:cNvSpPr/>
          <p:nvPr/>
        </p:nvSpPr>
        <p:spPr>
          <a:xfrm>
            <a:off x="6445055" y="1969225"/>
            <a:ext cx="4536123" cy="193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60" b="1" dirty="0">
                <a:solidFill>
                  <a:srgbClr val="1565C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柱脚结构分类</a:t>
            </a:r>
            <a:endParaRPr lang="en-US" sz="1260" dirty="0"/>
          </a:p>
        </p:txBody>
      </p:sp>
      <p:sp>
        <p:nvSpPr>
          <p:cNvPr id="48" name="Shape 44"/>
          <p:cNvSpPr/>
          <p:nvPr/>
        </p:nvSpPr>
        <p:spPr>
          <a:xfrm>
            <a:off x="6445055" y="2545240"/>
            <a:ext cx="4536123" cy="1697459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49" name="Shape 45"/>
          <p:cNvSpPr/>
          <p:nvPr/>
        </p:nvSpPr>
        <p:spPr>
          <a:xfrm>
            <a:off x="6445055" y="2545241"/>
            <a:ext cx="4536123" cy="36001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50" name="Shape 46"/>
          <p:cNvSpPr/>
          <p:nvPr/>
        </p:nvSpPr>
        <p:spPr>
          <a:xfrm>
            <a:off x="10972177" y="2545240"/>
            <a:ext cx="9001" cy="1697459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51" name="Shape 47"/>
          <p:cNvSpPr/>
          <p:nvPr/>
        </p:nvSpPr>
        <p:spPr>
          <a:xfrm>
            <a:off x="6445055" y="4233700"/>
            <a:ext cx="4536123" cy="900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52" name="Shape 48"/>
          <p:cNvSpPr/>
          <p:nvPr/>
        </p:nvSpPr>
        <p:spPr>
          <a:xfrm>
            <a:off x="6445055" y="2545240"/>
            <a:ext cx="9001" cy="1697459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53" name="Text 49"/>
          <p:cNvSpPr/>
          <p:nvPr/>
        </p:nvSpPr>
        <p:spPr>
          <a:xfrm>
            <a:off x="6625060" y="2828325"/>
            <a:ext cx="4176113" cy="213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386" b="1" dirty="0">
                <a:solidFill>
                  <a:srgbClr val="1A3A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刚接柱脚</a:t>
            </a:r>
            <a:endParaRPr lang="en-US" sz="1386" dirty="0"/>
          </a:p>
        </p:txBody>
      </p:sp>
      <p:sp>
        <p:nvSpPr>
          <p:cNvPr id="54" name="Text 50"/>
          <p:cNvSpPr/>
          <p:nvPr/>
        </p:nvSpPr>
        <p:spPr>
          <a:xfrm>
            <a:off x="6625060" y="3204087"/>
            <a:ext cx="4176113" cy="404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071" dirty="0">
                <a:solidFill>
                  <a:srgbClr val="5555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适用于挡墙宽度充裕的常规场景，结构整体刚度高，能够提供更强的抗风和抗震能力。</a:t>
            </a:r>
            <a:endParaRPr lang="en-US" sz="1071" dirty="0"/>
          </a:p>
        </p:txBody>
      </p:sp>
      <p:sp>
        <p:nvSpPr>
          <p:cNvPr id="55" name="Text 51"/>
          <p:cNvSpPr/>
          <p:nvPr/>
        </p:nvSpPr>
        <p:spPr>
          <a:xfrm>
            <a:off x="6625060" y="3754859"/>
            <a:ext cx="4176113" cy="145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945" i="1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常规路基段及宽挡墙桥梁段首选结构形式。</a:t>
            </a:r>
            <a:endParaRPr lang="en-US" sz="945" dirty="0"/>
          </a:p>
        </p:txBody>
      </p:sp>
      <p:sp>
        <p:nvSpPr>
          <p:cNvPr id="56" name="Shape 52"/>
          <p:cNvSpPr/>
          <p:nvPr/>
        </p:nvSpPr>
        <p:spPr>
          <a:xfrm>
            <a:off x="6445055" y="4400204"/>
            <a:ext cx="4536123" cy="1719961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57" name="Shape 53"/>
          <p:cNvSpPr/>
          <p:nvPr/>
        </p:nvSpPr>
        <p:spPr>
          <a:xfrm>
            <a:off x="6445055" y="4400205"/>
            <a:ext cx="4536123" cy="36001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58" name="Shape 54"/>
          <p:cNvSpPr/>
          <p:nvPr/>
        </p:nvSpPr>
        <p:spPr>
          <a:xfrm>
            <a:off x="10972177" y="4400204"/>
            <a:ext cx="9001" cy="171996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59" name="Shape 55"/>
          <p:cNvSpPr/>
          <p:nvPr/>
        </p:nvSpPr>
        <p:spPr>
          <a:xfrm>
            <a:off x="6445055" y="6111164"/>
            <a:ext cx="4536123" cy="900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60" name="Shape 56"/>
          <p:cNvSpPr/>
          <p:nvPr/>
        </p:nvSpPr>
        <p:spPr>
          <a:xfrm>
            <a:off x="6445055" y="4400204"/>
            <a:ext cx="9001" cy="171996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61" name="Text 57"/>
          <p:cNvSpPr/>
          <p:nvPr/>
        </p:nvSpPr>
        <p:spPr>
          <a:xfrm>
            <a:off x="6625060" y="4717042"/>
            <a:ext cx="4176113" cy="213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386" b="1" dirty="0">
                <a:solidFill>
                  <a:srgbClr val="1A3A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铰接柱脚</a:t>
            </a:r>
            <a:endParaRPr lang="en-US" sz="1386" dirty="0"/>
          </a:p>
        </p:txBody>
      </p:sp>
      <p:sp>
        <p:nvSpPr>
          <p:cNvPr id="62" name="Text 58"/>
          <p:cNvSpPr/>
          <p:nvPr/>
        </p:nvSpPr>
        <p:spPr>
          <a:xfrm>
            <a:off x="6625060" y="5092802"/>
            <a:ext cx="4176113" cy="404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071" dirty="0">
                <a:solidFill>
                  <a:srgbClr val="5555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对挡墙截面宽度要求更小，能够有效减小传递至基础的弯矩，适用于挡墙较窄的桥梁场景。</a:t>
            </a:r>
            <a:endParaRPr lang="en-US" sz="1071" dirty="0"/>
          </a:p>
        </p:txBody>
      </p:sp>
      <p:sp>
        <p:nvSpPr>
          <p:cNvPr id="63" name="Text 59"/>
          <p:cNvSpPr/>
          <p:nvPr/>
        </p:nvSpPr>
        <p:spPr>
          <a:xfrm>
            <a:off x="6625060" y="5643574"/>
            <a:ext cx="4176113" cy="1454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945" i="1" dirty="0">
                <a:solidFill>
                  <a:srgbClr val="888888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典型应用：上海S4入城段、长春南四环等项目。</a:t>
            </a:r>
            <a:endParaRPr lang="en-US" sz="945" dirty="0"/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图片 62" descr="preencoded.png">
            <a:extLst>
              <a:ext uri="{FF2B5EF4-FFF2-40B4-BE49-F238E27FC236}">
                <a16:creationId xmlns:a16="http://schemas.microsoft.com/office/drawing/2014/main" id="{BD353068-DCBB-AF5E-B8FC-9BF30B1E49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2" y="-1"/>
            <a:ext cx="11520311" cy="6480175"/>
          </a:xfrm>
          <a:custGeom>
            <a:avLst/>
            <a:gdLst>
              <a:gd name="csX0" fmla="*/ 9601713 w 11520311"/>
              <a:gd name="csY0" fmla="*/ 215878 h 6480175"/>
              <a:gd name="csX1" fmla="*/ 9601713 w 11520311"/>
              <a:gd name="csY1" fmla="*/ 1007933 h 6480175"/>
              <a:gd name="csX2" fmla="*/ 11304540 w 11520311"/>
              <a:gd name="csY2" fmla="*/ 1007933 h 6480175"/>
              <a:gd name="csX3" fmla="*/ 11304540 w 11520311"/>
              <a:gd name="csY3" fmla="*/ 215878 h 6480175"/>
              <a:gd name="csX4" fmla="*/ 0 w 11520311"/>
              <a:gd name="csY4" fmla="*/ 0 h 6480175"/>
              <a:gd name="csX5" fmla="*/ 11520311 w 11520311"/>
              <a:gd name="csY5" fmla="*/ 0 h 6480175"/>
              <a:gd name="csX6" fmla="*/ 11520311 w 11520311"/>
              <a:gd name="csY6" fmla="*/ 6480175 h 6480175"/>
              <a:gd name="csX7" fmla="*/ 0 w 11520311"/>
              <a:gd name="csY7" fmla="*/ 6480175 h 64801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520311" h="6480175">
                <a:moveTo>
                  <a:pt x="9601713" y="215878"/>
                </a:moveTo>
                <a:lnTo>
                  <a:pt x="9601713" y="1007933"/>
                </a:lnTo>
                <a:lnTo>
                  <a:pt x="11304540" y="1007933"/>
                </a:lnTo>
                <a:lnTo>
                  <a:pt x="11304540" y="215878"/>
                </a:lnTo>
                <a:close/>
                <a:moveTo>
                  <a:pt x="0" y="0"/>
                </a:moveTo>
                <a:lnTo>
                  <a:pt x="11520311" y="0"/>
                </a:lnTo>
                <a:lnTo>
                  <a:pt x="11520311" y="6480175"/>
                </a:lnTo>
                <a:lnTo>
                  <a:pt x="0" y="6480175"/>
                </a:lnTo>
                <a:close/>
              </a:path>
            </a:pathLst>
          </a:custGeom>
        </p:spPr>
      </p:pic>
      <p:sp>
        <p:nvSpPr>
          <p:cNvPr id="4" name="Text 0"/>
          <p:cNvSpPr/>
          <p:nvPr/>
        </p:nvSpPr>
        <p:spPr>
          <a:xfrm>
            <a:off x="540896" y="450012"/>
            <a:ext cx="227626" cy="2326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512" b="1" dirty="0">
                <a:solidFill>
                  <a:srgbClr val="1565C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05</a:t>
            </a:r>
            <a:endParaRPr lang="en-US" sz="1512" dirty="0"/>
          </a:p>
        </p:txBody>
      </p:sp>
      <p:sp>
        <p:nvSpPr>
          <p:cNvPr id="5" name="Text 1"/>
          <p:cNvSpPr/>
          <p:nvPr/>
        </p:nvSpPr>
        <p:spPr>
          <a:xfrm>
            <a:off x="990909" y="450012"/>
            <a:ext cx="4752128" cy="23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512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痛点一——屏体脱落事故频发，安全隐患触目惊心</a:t>
            </a:r>
            <a:endParaRPr lang="en-US" sz="1512" dirty="0"/>
          </a:p>
        </p:txBody>
      </p:sp>
      <p:sp>
        <p:nvSpPr>
          <p:cNvPr id="6" name="Shape 2"/>
          <p:cNvSpPr/>
          <p:nvPr/>
        </p:nvSpPr>
        <p:spPr>
          <a:xfrm>
            <a:off x="540896" y="1260034"/>
            <a:ext cx="10440282" cy="788365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7" name="Shape 3"/>
          <p:cNvSpPr/>
          <p:nvPr/>
        </p:nvSpPr>
        <p:spPr>
          <a:xfrm>
            <a:off x="540897" y="1260034"/>
            <a:ext cx="54002" cy="788365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8" name="Text 4"/>
          <p:cNvSpPr/>
          <p:nvPr/>
        </p:nvSpPr>
        <p:spPr>
          <a:xfrm>
            <a:off x="765903" y="1395037"/>
            <a:ext cx="9990270" cy="216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197" dirty="0">
                <a:solidFill>
                  <a:srgbClr val="B71C1C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传统声屏障因工艺缺陷与设计不足，在强风或碰撞冲击下极易发生整体脱落，造成严重的人员伤亡与社会影响，安全问题已成行业最紧迫的痛点。</a:t>
            </a:r>
            <a:endParaRPr lang="en-US" sz="1197" dirty="0"/>
          </a:p>
        </p:txBody>
      </p:sp>
      <p:sp>
        <p:nvSpPr>
          <p:cNvPr id="9" name="Text 5"/>
          <p:cNvSpPr/>
          <p:nvPr/>
        </p:nvSpPr>
        <p:spPr>
          <a:xfrm>
            <a:off x="540896" y="2228404"/>
            <a:ext cx="6552177" cy="193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60" b="1" dirty="0">
                <a:solidFill>
                  <a:srgbClr val="1A3A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典型事故案例时间线</a:t>
            </a:r>
            <a:endParaRPr lang="en-US" sz="1260" dirty="0"/>
          </a:p>
        </p:txBody>
      </p:sp>
      <p:sp>
        <p:nvSpPr>
          <p:cNvPr id="10" name="Shape 6"/>
          <p:cNvSpPr/>
          <p:nvPr/>
        </p:nvSpPr>
        <p:spPr>
          <a:xfrm>
            <a:off x="545396" y="2628914"/>
            <a:ext cx="981449" cy="432012"/>
          </a:xfrm>
          <a:prstGeom prst="rect">
            <a:avLst/>
          </a:prstGeom>
          <a:solidFill>
            <a:srgbClr val="1A3A6B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sz="2142"/>
          </a:p>
        </p:txBody>
      </p:sp>
      <p:sp>
        <p:nvSpPr>
          <p:cNvPr id="11" name="Text 7"/>
          <p:cNvSpPr/>
          <p:nvPr/>
        </p:nvSpPr>
        <p:spPr>
          <a:xfrm>
            <a:off x="545397" y="2637468"/>
            <a:ext cx="584112" cy="414906"/>
          </a:xfrm>
          <a:prstGeom prst="rect">
            <a:avLst/>
          </a:prstGeom>
          <a:noFill/>
          <a:ln/>
        </p:spPr>
        <p:txBody>
          <a:bodyPr wrap="none" lIns="160644" tIns="128643" rIns="160644" bIns="128643" rtlCol="0" anchor="ctr">
            <a:spAutoFit/>
          </a:bodyPr>
          <a:lstStyle/>
          <a:p>
            <a:r>
              <a:rPr lang="en-US" sz="1008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时间</a:t>
            </a:r>
            <a:endParaRPr lang="en-US" sz="1008" dirty="0"/>
          </a:p>
        </p:txBody>
      </p:sp>
      <p:sp>
        <p:nvSpPr>
          <p:cNvPr id="12" name="Shape 8"/>
          <p:cNvSpPr/>
          <p:nvPr/>
        </p:nvSpPr>
        <p:spPr>
          <a:xfrm>
            <a:off x="1526844" y="2628914"/>
            <a:ext cx="1635795" cy="432012"/>
          </a:xfrm>
          <a:prstGeom prst="rect">
            <a:avLst/>
          </a:prstGeom>
          <a:solidFill>
            <a:srgbClr val="1A3A6B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sz="2142"/>
          </a:p>
        </p:txBody>
      </p:sp>
      <p:sp>
        <p:nvSpPr>
          <p:cNvPr id="13" name="Text 9"/>
          <p:cNvSpPr/>
          <p:nvPr/>
        </p:nvSpPr>
        <p:spPr>
          <a:xfrm>
            <a:off x="1526844" y="2637468"/>
            <a:ext cx="1635795" cy="414906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r>
              <a:rPr lang="en-US" sz="1008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地点</a:t>
            </a:r>
            <a:endParaRPr lang="en-US" sz="1008" dirty="0"/>
          </a:p>
        </p:txBody>
      </p:sp>
      <p:sp>
        <p:nvSpPr>
          <p:cNvPr id="14" name="Shape 10"/>
          <p:cNvSpPr/>
          <p:nvPr/>
        </p:nvSpPr>
        <p:spPr>
          <a:xfrm>
            <a:off x="3162639" y="2628914"/>
            <a:ext cx="2617242" cy="432012"/>
          </a:xfrm>
          <a:prstGeom prst="rect">
            <a:avLst/>
          </a:prstGeom>
          <a:solidFill>
            <a:srgbClr val="1A3A6B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sz="2142"/>
          </a:p>
        </p:txBody>
      </p:sp>
      <p:sp>
        <p:nvSpPr>
          <p:cNvPr id="15" name="Text 11"/>
          <p:cNvSpPr/>
          <p:nvPr/>
        </p:nvSpPr>
        <p:spPr>
          <a:xfrm>
            <a:off x="3162639" y="2637468"/>
            <a:ext cx="2617242" cy="414906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r>
              <a:rPr lang="en-US" sz="1008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事故描述</a:t>
            </a:r>
            <a:endParaRPr lang="en-US" sz="1008" dirty="0"/>
          </a:p>
        </p:txBody>
      </p:sp>
      <p:sp>
        <p:nvSpPr>
          <p:cNvPr id="16" name="Shape 12"/>
          <p:cNvSpPr/>
          <p:nvPr/>
        </p:nvSpPr>
        <p:spPr>
          <a:xfrm>
            <a:off x="5779881" y="2628914"/>
            <a:ext cx="1308692" cy="432012"/>
          </a:xfrm>
          <a:prstGeom prst="rect">
            <a:avLst/>
          </a:prstGeom>
          <a:solidFill>
            <a:srgbClr val="1A3A6B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sz="2142"/>
          </a:p>
        </p:txBody>
      </p:sp>
      <p:sp>
        <p:nvSpPr>
          <p:cNvPr id="17" name="Text 13"/>
          <p:cNvSpPr/>
          <p:nvPr/>
        </p:nvSpPr>
        <p:spPr>
          <a:xfrm>
            <a:off x="5779882" y="2637468"/>
            <a:ext cx="584112" cy="414906"/>
          </a:xfrm>
          <a:prstGeom prst="rect">
            <a:avLst/>
          </a:prstGeom>
          <a:noFill/>
          <a:ln/>
        </p:spPr>
        <p:txBody>
          <a:bodyPr wrap="none" lIns="160644" tIns="128643" rIns="160644" bIns="128643" rtlCol="0" anchor="ctr">
            <a:spAutoFit/>
          </a:bodyPr>
          <a:lstStyle/>
          <a:p>
            <a:r>
              <a:rPr lang="en-US" sz="1008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后果</a:t>
            </a:r>
            <a:endParaRPr lang="en-US" sz="1008" dirty="0"/>
          </a:p>
        </p:txBody>
      </p:sp>
      <p:sp>
        <p:nvSpPr>
          <p:cNvPr id="18" name="Text 14"/>
          <p:cNvSpPr/>
          <p:nvPr/>
        </p:nvSpPr>
        <p:spPr>
          <a:xfrm>
            <a:off x="545396" y="3077529"/>
            <a:ext cx="981449" cy="596814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2016年10月</a:t>
            </a:r>
            <a:endParaRPr lang="en-US" sz="945" dirty="0"/>
          </a:p>
        </p:txBody>
      </p:sp>
      <p:sp>
        <p:nvSpPr>
          <p:cNvPr id="19" name="Text 15"/>
          <p:cNvSpPr/>
          <p:nvPr/>
        </p:nvSpPr>
        <p:spPr>
          <a:xfrm>
            <a:off x="1526844" y="3159410"/>
            <a:ext cx="1635795" cy="433051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某城市高架</a:t>
            </a:r>
            <a:endParaRPr lang="en-US" sz="1008" dirty="0"/>
          </a:p>
        </p:txBody>
      </p:sp>
      <p:sp>
        <p:nvSpPr>
          <p:cNvPr id="20" name="Text 16"/>
          <p:cNvSpPr/>
          <p:nvPr/>
        </p:nvSpPr>
        <p:spPr>
          <a:xfrm>
            <a:off x="3162639" y="3159410"/>
            <a:ext cx="2617242" cy="433051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突然掉落的声屏障砸中18岁大学生</a:t>
            </a:r>
            <a:endParaRPr lang="en-US" sz="1008" dirty="0"/>
          </a:p>
        </p:txBody>
      </p:sp>
      <p:sp>
        <p:nvSpPr>
          <p:cNvPr id="21" name="Text 17"/>
          <p:cNvSpPr/>
          <p:nvPr/>
        </p:nvSpPr>
        <p:spPr>
          <a:xfrm>
            <a:off x="5779881" y="3164796"/>
            <a:ext cx="1308692" cy="422279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人员昏迷</a:t>
            </a:r>
            <a:endParaRPr lang="en-US" sz="945" dirty="0"/>
          </a:p>
        </p:txBody>
      </p:sp>
      <p:sp>
        <p:nvSpPr>
          <p:cNvPr id="22" name="Shape 18"/>
          <p:cNvSpPr/>
          <p:nvPr/>
        </p:nvSpPr>
        <p:spPr>
          <a:xfrm>
            <a:off x="545397" y="3690943"/>
            <a:ext cx="6543176" cy="63001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23" name="Text 19"/>
          <p:cNvSpPr/>
          <p:nvPr/>
        </p:nvSpPr>
        <p:spPr>
          <a:xfrm>
            <a:off x="545396" y="3794812"/>
            <a:ext cx="981449" cy="422279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2018年1月</a:t>
            </a:r>
            <a:endParaRPr lang="en-US" sz="945" dirty="0"/>
          </a:p>
        </p:txBody>
      </p:sp>
      <p:sp>
        <p:nvSpPr>
          <p:cNvPr id="24" name="Text 20"/>
          <p:cNvSpPr/>
          <p:nvPr/>
        </p:nvSpPr>
        <p:spPr>
          <a:xfrm>
            <a:off x="1526844" y="3789427"/>
            <a:ext cx="1635795" cy="433051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上海南北高架永兴路</a:t>
            </a:r>
            <a:endParaRPr lang="en-US" sz="1008" dirty="0"/>
          </a:p>
        </p:txBody>
      </p:sp>
      <p:sp>
        <p:nvSpPr>
          <p:cNvPr id="25" name="Text 21"/>
          <p:cNvSpPr/>
          <p:nvPr/>
        </p:nvSpPr>
        <p:spPr>
          <a:xfrm>
            <a:off x="3162639" y="3789427"/>
            <a:ext cx="2617242" cy="433051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大货车碰撞声屏障</a:t>
            </a:r>
            <a:endParaRPr lang="en-US" sz="1008" dirty="0"/>
          </a:p>
        </p:txBody>
      </p:sp>
      <p:sp>
        <p:nvSpPr>
          <p:cNvPr id="26" name="Text 22"/>
          <p:cNvSpPr/>
          <p:nvPr/>
        </p:nvSpPr>
        <p:spPr>
          <a:xfrm>
            <a:off x="5779881" y="3707545"/>
            <a:ext cx="1308692" cy="596814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驾驶室严重变形，2人重伤</a:t>
            </a:r>
            <a:endParaRPr lang="en-US" sz="945" dirty="0"/>
          </a:p>
        </p:txBody>
      </p:sp>
      <p:sp>
        <p:nvSpPr>
          <p:cNvPr id="27" name="Text 23"/>
          <p:cNvSpPr/>
          <p:nvPr/>
        </p:nvSpPr>
        <p:spPr>
          <a:xfrm>
            <a:off x="545396" y="4323576"/>
            <a:ext cx="981449" cy="422279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2020年8月</a:t>
            </a:r>
            <a:endParaRPr lang="en-US" sz="945" dirty="0"/>
          </a:p>
        </p:txBody>
      </p:sp>
      <p:sp>
        <p:nvSpPr>
          <p:cNvPr id="28" name="Text 24"/>
          <p:cNvSpPr/>
          <p:nvPr/>
        </p:nvSpPr>
        <p:spPr>
          <a:xfrm>
            <a:off x="1526844" y="4318192"/>
            <a:ext cx="1635795" cy="433051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昆明高架桥</a:t>
            </a:r>
            <a:endParaRPr lang="en-US" sz="1008" dirty="0"/>
          </a:p>
        </p:txBody>
      </p:sp>
      <p:sp>
        <p:nvSpPr>
          <p:cNvPr id="29" name="Text 25"/>
          <p:cNvSpPr/>
          <p:nvPr/>
        </p:nvSpPr>
        <p:spPr>
          <a:xfrm>
            <a:off x="3162639" y="4318192"/>
            <a:ext cx="2617242" cy="433051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隔音板掉落砸到行驶车辆</a:t>
            </a:r>
            <a:endParaRPr lang="en-US" sz="1008" dirty="0"/>
          </a:p>
        </p:txBody>
      </p:sp>
      <p:sp>
        <p:nvSpPr>
          <p:cNvPr id="30" name="Text 26"/>
          <p:cNvSpPr/>
          <p:nvPr/>
        </p:nvSpPr>
        <p:spPr>
          <a:xfrm>
            <a:off x="5779881" y="4323578"/>
            <a:ext cx="1308692" cy="422279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险些"砍头"</a:t>
            </a:r>
            <a:endParaRPr lang="en-US" sz="945" dirty="0"/>
          </a:p>
        </p:txBody>
      </p:sp>
      <p:sp>
        <p:nvSpPr>
          <p:cNvPr id="31" name="Shape 27"/>
          <p:cNvSpPr/>
          <p:nvPr/>
        </p:nvSpPr>
        <p:spPr>
          <a:xfrm>
            <a:off x="545397" y="4748472"/>
            <a:ext cx="6543176" cy="63001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2" name="Text 28"/>
          <p:cNvSpPr/>
          <p:nvPr/>
        </p:nvSpPr>
        <p:spPr>
          <a:xfrm>
            <a:off x="545396" y="4852341"/>
            <a:ext cx="981449" cy="422279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2023年1月</a:t>
            </a:r>
            <a:endParaRPr lang="en-US" sz="945" dirty="0"/>
          </a:p>
        </p:txBody>
      </p:sp>
      <p:sp>
        <p:nvSpPr>
          <p:cNvPr id="33" name="Text 29"/>
          <p:cNvSpPr/>
          <p:nvPr/>
        </p:nvSpPr>
        <p:spPr>
          <a:xfrm>
            <a:off x="1526844" y="4846956"/>
            <a:ext cx="1635795" cy="433051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上海申嘉湖高速</a:t>
            </a:r>
            <a:endParaRPr lang="en-US" sz="1008" dirty="0"/>
          </a:p>
        </p:txBody>
      </p:sp>
      <p:sp>
        <p:nvSpPr>
          <p:cNvPr id="34" name="Text 30"/>
          <p:cNvSpPr/>
          <p:nvPr/>
        </p:nvSpPr>
        <p:spPr>
          <a:xfrm>
            <a:off x="3162639" y="4846956"/>
            <a:ext cx="2617242" cy="433051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集卡碰擦声屏障，从20余米高架掉落</a:t>
            </a:r>
            <a:endParaRPr lang="en-US" sz="1008" dirty="0"/>
          </a:p>
        </p:txBody>
      </p:sp>
      <p:sp>
        <p:nvSpPr>
          <p:cNvPr id="35" name="Text 31"/>
          <p:cNvSpPr/>
          <p:nvPr/>
        </p:nvSpPr>
        <p:spPr>
          <a:xfrm>
            <a:off x="5779881" y="4765074"/>
            <a:ext cx="1308692" cy="596814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声屏障与立柱悬在半空</a:t>
            </a:r>
            <a:endParaRPr lang="en-US" sz="945" dirty="0"/>
          </a:p>
        </p:txBody>
      </p:sp>
      <p:sp>
        <p:nvSpPr>
          <p:cNvPr id="36" name="Text 32"/>
          <p:cNvSpPr/>
          <p:nvPr/>
        </p:nvSpPr>
        <p:spPr>
          <a:xfrm>
            <a:off x="545396" y="5381104"/>
            <a:ext cx="981449" cy="422279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2025年6月</a:t>
            </a:r>
            <a:endParaRPr lang="en-US" sz="945" dirty="0"/>
          </a:p>
        </p:txBody>
      </p:sp>
      <p:sp>
        <p:nvSpPr>
          <p:cNvPr id="37" name="Text 33"/>
          <p:cNvSpPr/>
          <p:nvPr/>
        </p:nvSpPr>
        <p:spPr>
          <a:xfrm>
            <a:off x="1526844" y="5375720"/>
            <a:ext cx="1635795" cy="433051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深圳南坪快速路</a:t>
            </a:r>
            <a:endParaRPr lang="en-US" sz="1008" dirty="0"/>
          </a:p>
        </p:txBody>
      </p:sp>
      <p:sp>
        <p:nvSpPr>
          <p:cNvPr id="38" name="Text 34"/>
          <p:cNvSpPr/>
          <p:nvPr/>
        </p:nvSpPr>
        <p:spPr>
          <a:xfrm>
            <a:off x="3162639" y="5375720"/>
            <a:ext cx="2617242" cy="433051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货车碰撞导致全封闭声屏障坍塌</a:t>
            </a:r>
            <a:endParaRPr lang="en-US" sz="1008" dirty="0"/>
          </a:p>
        </p:txBody>
      </p:sp>
      <p:sp>
        <p:nvSpPr>
          <p:cNvPr id="39" name="Text 35"/>
          <p:cNvSpPr/>
          <p:nvPr/>
        </p:nvSpPr>
        <p:spPr>
          <a:xfrm>
            <a:off x="5779881" y="5381106"/>
            <a:ext cx="1308692" cy="422279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大面积坍塌</a:t>
            </a:r>
            <a:endParaRPr lang="en-US" sz="945" dirty="0"/>
          </a:p>
        </p:txBody>
      </p:sp>
      <p:sp>
        <p:nvSpPr>
          <p:cNvPr id="40" name="Shape 36"/>
          <p:cNvSpPr/>
          <p:nvPr/>
        </p:nvSpPr>
        <p:spPr>
          <a:xfrm>
            <a:off x="545397" y="5806000"/>
            <a:ext cx="6543176" cy="630018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41" name="Text 37"/>
          <p:cNvSpPr/>
          <p:nvPr/>
        </p:nvSpPr>
        <p:spPr>
          <a:xfrm>
            <a:off x="545396" y="5909869"/>
            <a:ext cx="981449" cy="422279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2026年3月</a:t>
            </a:r>
            <a:endParaRPr lang="en-US" sz="945" dirty="0"/>
          </a:p>
        </p:txBody>
      </p:sp>
      <p:sp>
        <p:nvSpPr>
          <p:cNvPr id="42" name="Text 38"/>
          <p:cNvSpPr/>
          <p:nvPr/>
        </p:nvSpPr>
        <p:spPr>
          <a:xfrm>
            <a:off x="1526844" y="5904483"/>
            <a:ext cx="1635795" cy="433051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上海某高架桥</a:t>
            </a:r>
            <a:endParaRPr lang="en-US" sz="1008" dirty="0"/>
          </a:p>
        </p:txBody>
      </p:sp>
      <p:sp>
        <p:nvSpPr>
          <p:cNvPr id="43" name="Text 39"/>
          <p:cNvSpPr/>
          <p:nvPr/>
        </p:nvSpPr>
        <p:spPr>
          <a:xfrm>
            <a:off x="3162639" y="5904483"/>
            <a:ext cx="2617242" cy="433051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隔音板从高空砸下</a:t>
            </a:r>
            <a:endParaRPr lang="en-US" sz="1008" dirty="0"/>
          </a:p>
        </p:txBody>
      </p:sp>
      <p:sp>
        <p:nvSpPr>
          <p:cNvPr id="44" name="Text 40"/>
          <p:cNvSpPr/>
          <p:nvPr/>
        </p:nvSpPr>
        <p:spPr>
          <a:xfrm>
            <a:off x="5779881" y="5822602"/>
            <a:ext cx="1308692" cy="596814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立柱悬空，交通中断</a:t>
            </a:r>
            <a:endParaRPr lang="en-US" sz="945" dirty="0"/>
          </a:p>
        </p:txBody>
      </p:sp>
      <p:sp>
        <p:nvSpPr>
          <p:cNvPr id="45" name="Shape 41"/>
          <p:cNvSpPr/>
          <p:nvPr/>
        </p:nvSpPr>
        <p:spPr>
          <a:xfrm>
            <a:off x="7453083" y="2228404"/>
            <a:ext cx="3528095" cy="3525845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46" name="Shape 42"/>
          <p:cNvSpPr/>
          <p:nvPr/>
        </p:nvSpPr>
        <p:spPr>
          <a:xfrm>
            <a:off x="7453083" y="2228404"/>
            <a:ext cx="3528095" cy="36001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47" name="Shape 43"/>
          <p:cNvSpPr/>
          <p:nvPr/>
        </p:nvSpPr>
        <p:spPr>
          <a:xfrm>
            <a:off x="10972177" y="2228404"/>
            <a:ext cx="9001" cy="352584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48" name="Shape 44"/>
          <p:cNvSpPr/>
          <p:nvPr/>
        </p:nvSpPr>
        <p:spPr>
          <a:xfrm>
            <a:off x="7453083" y="5745248"/>
            <a:ext cx="3528095" cy="900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49" name="Shape 45"/>
          <p:cNvSpPr/>
          <p:nvPr/>
        </p:nvSpPr>
        <p:spPr>
          <a:xfrm>
            <a:off x="7453082" y="2228404"/>
            <a:ext cx="9001" cy="3525845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50" name="Text 46"/>
          <p:cNvSpPr/>
          <p:nvPr/>
        </p:nvSpPr>
        <p:spPr>
          <a:xfrm>
            <a:off x="7633087" y="2408409"/>
            <a:ext cx="3168086" cy="174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134" b="1" dirty="0">
                <a:solidFill>
                  <a:srgbClr val="D32F2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事故根本原因剖析</a:t>
            </a:r>
            <a:endParaRPr lang="en-US" sz="1134" dirty="0"/>
          </a:p>
        </p:txBody>
      </p:sp>
      <p:sp>
        <p:nvSpPr>
          <p:cNvPr id="51" name="Shape 47"/>
          <p:cNvSpPr/>
          <p:nvPr/>
        </p:nvSpPr>
        <p:spPr>
          <a:xfrm>
            <a:off x="7633087" y="2822419"/>
            <a:ext cx="216006" cy="216006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52" name="Text 48"/>
          <p:cNvSpPr/>
          <p:nvPr/>
        </p:nvSpPr>
        <p:spPr>
          <a:xfrm>
            <a:off x="7707427" y="2862550"/>
            <a:ext cx="67326" cy="1357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882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1</a:t>
            </a:r>
            <a:endParaRPr lang="en-US" sz="882" dirty="0"/>
          </a:p>
        </p:txBody>
      </p:sp>
      <p:sp>
        <p:nvSpPr>
          <p:cNvPr id="53" name="Text 49"/>
          <p:cNvSpPr/>
          <p:nvPr/>
        </p:nvSpPr>
        <p:spPr>
          <a:xfrm>
            <a:off x="7957097" y="2804419"/>
            <a:ext cx="2844077" cy="404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008" b="1" dirty="0">
                <a:solidFill>
                  <a:srgbClr val="D32F2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工艺缺陷：</a:t>
            </a:r>
            <a:r>
              <a:rPr lang="en-US" sz="107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屏体加工工艺差，未充分考虑材料在户外环境下的热胀冷缩效应。</a:t>
            </a:r>
            <a:endParaRPr lang="en-US" sz="1008" dirty="0"/>
          </a:p>
        </p:txBody>
      </p:sp>
      <p:sp>
        <p:nvSpPr>
          <p:cNvPr id="54" name="Shape 50"/>
          <p:cNvSpPr/>
          <p:nvPr/>
        </p:nvSpPr>
        <p:spPr>
          <a:xfrm>
            <a:off x="7633087" y="3418193"/>
            <a:ext cx="216006" cy="216006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55" name="Text 51"/>
          <p:cNvSpPr/>
          <p:nvPr/>
        </p:nvSpPr>
        <p:spPr>
          <a:xfrm>
            <a:off x="7707427" y="3458325"/>
            <a:ext cx="67326" cy="1357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882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2</a:t>
            </a:r>
            <a:endParaRPr lang="en-US" sz="882" dirty="0"/>
          </a:p>
        </p:txBody>
      </p:sp>
      <p:sp>
        <p:nvSpPr>
          <p:cNvPr id="56" name="Text 52"/>
          <p:cNvSpPr/>
          <p:nvPr/>
        </p:nvSpPr>
        <p:spPr>
          <a:xfrm>
            <a:off x="7957097" y="3400193"/>
            <a:ext cx="2844077" cy="404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008" b="1" dirty="0">
                <a:solidFill>
                  <a:srgbClr val="D32F2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设计不足：</a:t>
            </a:r>
            <a:r>
              <a:rPr lang="en-US" sz="107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缺乏防脱落限位结构设计，在强风或车辆碰撞冲击下无法保持结构完整。</a:t>
            </a:r>
            <a:endParaRPr lang="en-US" sz="1008" dirty="0"/>
          </a:p>
        </p:txBody>
      </p:sp>
      <p:sp>
        <p:nvSpPr>
          <p:cNvPr id="57" name="Shape 53"/>
          <p:cNvSpPr/>
          <p:nvPr/>
        </p:nvSpPr>
        <p:spPr>
          <a:xfrm>
            <a:off x="7633087" y="4013967"/>
            <a:ext cx="216006" cy="216006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58" name="Text 54"/>
          <p:cNvSpPr/>
          <p:nvPr/>
        </p:nvSpPr>
        <p:spPr>
          <a:xfrm>
            <a:off x="7707427" y="4054099"/>
            <a:ext cx="67326" cy="135743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US" sz="882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3</a:t>
            </a:r>
            <a:endParaRPr lang="en-US" sz="882" dirty="0"/>
          </a:p>
        </p:txBody>
      </p:sp>
      <p:sp>
        <p:nvSpPr>
          <p:cNvPr id="59" name="Text 55"/>
          <p:cNvSpPr/>
          <p:nvPr/>
        </p:nvSpPr>
        <p:spPr>
          <a:xfrm>
            <a:off x="7957097" y="3995966"/>
            <a:ext cx="2844077" cy="4049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008" b="1" dirty="0">
                <a:solidFill>
                  <a:srgbClr val="D32F2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材料违规：</a:t>
            </a:r>
            <a:r>
              <a:rPr lang="en-US" sz="107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通透板材破碎坠落，不符合国标GB/T29641-2013关于防坠落的安全要求。</a:t>
            </a:r>
            <a:endParaRPr lang="en-US" sz="1008" dirty="0"/>
          </a:p>
        </p:txBody>
      </p:sp>
      <p:sp>
        <p:nvSpPr>
          <p:cNvPr id="60" name="Shape 56"/>
          <p:cNvSpPr/>
          <p:nvPr/>
        </p:nvSpPr>
        <p:spPr>
          <a:xfrm>
            <a:off x="7453083" y="5934253"/>
            <a:ext cx="3528095" cy="506264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61" name="Text 57"/>
          <p:cNvSpPr/>
          <p:nvPr/>
        </p:nvSpPr>
        <p:spPr>
          <a:xfrm>
            <a:off x="7453083" y="5934254"/>
            <a:ext cx="3528095" cy="498961"/>
          </a:xfrm>
          <a:prstGeom prst="rect">
            <a:avLst/>
          </a:prstGeom>
          <a:noFill/>
          <a:ln/>
        </p:spPr>
        <p:txBody>
          <a:bodyPr wrap="square" lIns="160644" tIns="160644" rIns="160644" bIns="160644" rtlCol="0" anchor="t">
            <a:spAutoFit/>
          </a:bodyPr>
          <a:lstStyle/>
          <a:p>
            <a:pPr algn="ctr"/>
            <a:r>
              <a:rPr lang="en-US" sz="1134" b="1" kern="0" spc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安全隐患触目惊心，亟需结构升级！</a:t>
            </a:r>
            <a:endParaRPr lang="en-US" sz="1134" dirty="0"/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图片 48" descr="preencoded.png">
            <a:extLst>
              <a:ext uri="{FF2B5EF4-FFF2-40B4-BE49-F238E27FC236}">
                <a16:creationId xmlns:a16="http://schemas.microsoft.com/office/drawing/2014/main" id="{BF66F813-8136-C329-C10D-7450CBBBD52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2" y="-1"/>
            <a:ext cx="11520311" cy="6480175"/>
          </a:xfrm>
          <a:custGeom>
            <a:avLst/>
            <a:gdLst>
              <a:gd name="csX0" fmla="*/ 9601713 w 11520311"/>
              <a:gd name="csY0" fmla="*/ 215878 h 6480175"/>
              <a:gd name="csX1" fmla="*/ 9601713 w 11520311"/>
              <a:gd name="csY1" fmla="*/ 1007933 h 6480175"/>
              <a:gd name="csX2" fmla="*/ 11304540 w 11520311"/>
              <a:gd name="csY2" fmla="*/ 1007933 h 6480175"/>
              <a:gd name="csX3" fmla="*/ 11304540 w 11520311"/>
              <a:gd name="csY3" fmla="*/ 215878 h 6480175"/>
              <a:gd name="csX4" fmla="*/ 0 w 11520311"/>
              <a:gd name="csY4" fmla="*/ 0 h 6480175"/>
              <a:gd name="csX5" fmla="*/ 11520311 w 11520311"/>
              <a:gd name="csY5" fmla="*/ 0 h 6480175"/>
              <a:gd name="csX6" fmla="*/ 11520311 w 11520311"/>
              <a:gd name="csY6" fmla="*/ 6480175 h 6480175"/>
              <a:gd name="csX7" fmla="*/ 0 w 11520311"/>
              <a:gd name="csY7" fmla="*/ 6480175 h 64801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520311" h="6480175">
                <a:moveTo>
                  <a:pt x="9601713" y="215878"/>
                </a:moveTo>
                <a:lnTo>
                  <a:pt x="9601713" y="1007933"/>
                </a:lnTo>
                <a:lnTo>
                  <a:pt x="11304540" y="1007933"/>
                </a:lnTo>
                <a:lnTo>
                  <a:pt x="11304540" y="215878"/>
                </a:lnTo>
                <a:close/>
                <a:moveTo>
                  <a:pt x="0" y="0"/>
                </a:moveTo>
                <a:lnTo>
                  <a:pt x="11520311" y="0"/>
                </a:lnTo>
                <a:lnTo>
                  <a:pt x="11520311" y="6480175"/>
                </a:lnTo>
                <a:lnTo>
                  <a:pt x="0" y="6480175"/>
                </a:lnTo>
                <a:close/>
              </a:path>
            </a:pathLst>
          </a:custGeom>
        </p:spPr>
      </p:pic>
      <p:sp>
        <p:nvSpPr>
          <p:cNvPr id="4" name="Text 0"/>
          <p:cNvSpPr/>
          <p:nvPr/>
        </p:nvSpPr>
        <p:spPr>
          <a:xfrm>
            <a:off x="540896" y="450012"/>
            <a:ext cx="227626" cy="2326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512" b="1" dirty="0">
                <a:solidFill>
                  <a:srgbClr val="1565C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06</a:t>
            </a:r>
            <a:endParaRPr lang="en-US" sz="1512" dirty="0"/>
          </a:p>
        </p:txBody>
      </p:sp>
      <p:sp>
        <p:nvSpPr>
          <p:cNvPr id="5" name="Text 1"/>
          <p:cNvSpPr/>
          <p:nvPr/>
        </p:nvSpPr>
        <p:spPr>
          <a:xfrm>
            <a:off x="990909" y="450012"/>
            <a:ext cx="4752128" cy="23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512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痛点二——消防排烟困难，封闭空间火灾风险极高</a:t>
            </a:r>
            <a:endParaRPr lang="en-US" sz="1512" dirty="0"/>
          </a:p>
        </p:txBody>
      </p:sp>
      <p:sp>
        <p:nvSpPr>
          <p:cNvPr id="6" name="Shape 2"/>
          <p:cNvSpPr/>
          <p:nvPr/>
        </p:nvSpPr>
        <p:spPr>
          <a:xfrm>
            <a:off x="540896" y="1197032"/>
            <a:ext cx="10440282" cy="529186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7" name="Shape 3"/>
          <p:cNvSpPr/>
          <p:nvPr/>
        </p:nvSpPr>
        <p:spPr>
          <a:xfrm>
            <a:off x="540897" y="1197032"/>
            <a:ext cx="54002" cy="529186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8" name="Text 4"/>
          <p:cNvSpPr/>
          <p:nvPr/>
        </p:nvSpPr>
        <p:spPr>
          <a:xfrm>
            <a:off x="765903" y="1332036"/>
            <a:ext cx="9233297" cy="2167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197" dirty="0">
                <a:solidFill>
                  <a:srgbClr val="B71C1C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全封闭声屏障的封闭空间特性使其在火灾场景下面临极高风险，材料选择不当与防火设计缺失将导致火势迅速蔓延，严重威胁人员逃生。</a:t>
            </a:r>
            <a:endParaRPr lang="en-US" sz="1197" dirty="0"/>
          </a:p>
        </p:txBody>
      </p:sp>
      <p:sp>
        <p:nvSpPr>
          <p:cNvPr id="9" name="Shape 5"/>
          <p:cNvSpPr/>
          <p:nvPr/>
        </p:nvSpPr>
        <p:spPr>
          <a:xfrm>
            <a:off x="540896" y="1906224"/>
            <a:ext cx="10440282" cy="1441796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10" name="Shape 6"/>
          <p:cNvSpPr/>
          <p:nvPr/>
        </p:nvSpPr>
        <p:spPr>
          <a:xfrm>
            <a:off x="540896" y="1906224"/>
            <a:ext cx="10440282" cy="36001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11" name="Shape 7"/>
          <p:cNvSpPr/>
          <p:nvPr/>
        </p:nvSpPr>
        <p:spPr>
          <a:xfrm>
            <a:off x="10972177" y="1906224"/>
            <a:ext cx="9001" cy="144179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12" name="Shape 8"/>
          <p:cNvSpPr/>
          <p:nvPr/>
        </p:nvSpPr>
        <p:spPr>
          <a:xfrm>
            <a:off x="540896" y="3339019"/>
            <a:ext cx="10440282" cy="900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13" name="Shape 9"/>
          <p:cNvSpPr/>
          <p:nvPr/>
        </p:nvSpPr>
        <p:spPr>
          <a:xfrm>
            <a:off x="540896" y="1906224"/>
            <a:ext cx="9001" cy="144179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01" y="2126730"/>
            <a:ext cx="135003" cy="18000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45907" y="2086228"/>
            <a:ext cx="1295226" cy="19389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260" b="1" dirty="0">
                <a:solidFill>
                  <a:srgbClr val="D32F2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典型火灾事故案例</a:t>
            </a:r>
            <a:endParaRPr lang="en-US" sz="1260" dirty="0"/>
          </a:p>
        </p:txBody>
      </p:sp>
      <p:sp>
        <p:nvSpPr>
          <p:cNvPr id="16" name="Text 11"/>
          <p:cNvSpPr/>
          <p:nvPr/>
        </p:nvSpPr>
        <p:spPr>
          <a:xfrm>
            <a:off x="720901" y="2482238"/>
            <a:ext cx="7974872" cy="193964"/>
          </a:xfrm>
          <a:prstGeom prst="rect">
            <a:avLst/>
          </a:prstGeom>
          <a:noFill/>
          <a:ln/>
        </p:spPr>
        <p:txBody>
          <a:bodyPr wrap="none" lIns="214246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008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韩国京仁第二高速公路声屏障火灾：</a:t>
            </a:r>
            <a:r>
              <a:rPr lang="en-US" sz="1071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顶部采用B2级亚克力板（可燃材料），火灾发生后迅速蔓延，造成巨大经济损失与人员伤亡。</a:t>
            </a:r>
            <a:endParaRPr lang="en-US" sz="1008" dirty="0"/>
          </a:p>
        </p:txBody>
      </p:sp>
      <p:sp>
        <p:nvSpPr>
          <p:cNvPr id="17" name="Text 12"/>
          <p:cNvSpPr/>
          <p:nvPr/>
        </p:nvSpPr>
        <p:spPr>
          <a:xfrm>
            <a:off x="720902" y="2802626"/>
            <a:ext cx="7787322" cy="193964"/>
          </a:xfrm>
          <a:prstGeom prst="rect">
            <a:avLst/>
          </a:prstGeom>
          <a:noFill/>
          <a:ln/>
        </p:spPr>
        <p:txBody>
          <a:bodyPr wrap="none" lIns="214246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008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2025年5月，上海首例光伏声屏障着火：</a:t>
            </a:r>
            <a:r>
              <a:rPr lang="en-US" sz="1071" dirty="0">
                <a:solidFill>
                  <a:srgbClr val="44444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冒出大量黑烟，残片与碎渣从顶部掉落，途经车辆纷纷紧急避让，引发社会广泛关注。</a:t>
            </a:r>
            <a:endParaRPr lang="en-US" sz="1008" dirty="0"/>
          </a:p>
        </p:txBody>
      </p:sp>
      <p:sp>
        <p:nvSpPr>
          <p:cNvPr id="18" name="Text 13"/>
          <p:cNvSpPr/>
          <p:nvPr/>
        </p:nvSpPr>
        <p:spPr>
          <a:xfrm>
            <a:off x="720901" y="2482238"/>
            <a:ext cx="129844" cy="1824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008" b="1" dirty="0">
                <a:solidFill>
                  <a:srgbClr val="D32F2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•</a:t>
            </a:r>
            <a:endParaRPr lang="en-US" sz="1008" dirty="0"/>
          </a:p>
        </p:txBody>
      </p:sp>
      <p:sp>
        <p:nvSpPr>
          <p:cNvPr id="19" name="Text 14"/>
          <p:cNvSpPr/>
          <p:nvPr/>
        </p:nvSpPr>
        <p:spPr>
          <a:xfrm>
            <a:off x="720901" y="2802626"/>
            <a:ext cx="129844" cy="1824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008" b="1" dirty="0">
                <a:solidFill>
                  <a:srgbClr val="D32F2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•</a:t>
            </a:r>
            <a:endParaRPr lang="en-US" sz="1008" dirty="0"/>
          </a:p>
        </p:txBody>
      </p:sp>
      <p:sp>
        <p:nvSpPr>
          <p:cNvPr id="20" name="Shape 15"/>
          <p:cNvSpPr/>
          <p:nvPr/>
        </p:nvSpPr>
        <p:spPr>
          <a:xfrm>
            <a:off x="549896" y="3582027"/>
            <a:ext cx="2084436" cy="465762"/>
          </a:xfrm>
          <a:prstGeom prst="rect">
            <a:avLst/>
          </a:prstGeom>
          <a:solidFill>
            <a:srgbClr val="1A3A6B"/>
          </a:solidFill>
          <a:ln w="9144">
            <a:solidFill>
              <a:srgbClr val="1A3A6B"/>
            </a:solidFill>
            <a:prstDash val="solid"/>
          </a:ln>
        </p:spPr>
        <p:txBody>
          <a:bodyPr/>
          <a:lstStyle/>
          <a:p>
            <a:endParaRPr sz="2142"/>
          </a:p>
        </p:txBody>
      </p:sp>
      <p:sp>
        <p:nvSpPr>
          <p:cNvPr id="21" name="Text 16"/>
          <p:cNvSpPr/>
          <p:nvPr/>
        </p:nvSpPr>
        <p:spPr>
          <a:xfrm>
            <a:off x="549896" y="3597741"/>
            <a:ext cx="2084436" cy="434334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r>
              <a:rPr lang="en-US" sz="1134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材料类型</a:t>
            </a:r>
            <a:endParaRPr lang="en-US" sz="1134" dirty="0"/>
          </a:p>
        </p:txBody>
      </p:sp>
      <p:sp>
        <p:nvSpPr>
          <p:cNvPr id="22" name="Shape 17"/>
          <p:cNvSpPr/>
          <p:nvPr/>
        </p:nvSpPr>
        <p:spPr>
          <a:xfrm>
            <a:off x="2634332" y="3582027"/>
            <a:ext cx="1563335" cy="465762"/>
          </a:xfrm>
          <a:prstGeom prst="rect">
            <a:avLst/>
          </a:prstGeom>
          <a:solidFill>
            <a:srgbClr val="1A3A6B"/>
          </a:solidFill>
          <a:ln w="9144">
            <a:solidFill>
              <a:srgbClr val="1A3A6B"/>
            </a:solidFill>
            <a:prstDash val="solid"/>
          </a:ln>
        </p:spPr>
        <p:txBody>
          <a:bodyPr/>
          <a:lstStyle/>
          <a:p>
            <a:endParaRPr sz="2142"/>
          </a:p>
        </p:txBody>
      </p:sp>
      <p:sp>
        <p:nvSpPr>
          <p:cNvPr id="23" name="Text 18"/>
          <p:cNvSpPr/>
          <p:nvPr/>
        </p:nvSpPr>
        <p:spPr>
          <a:xfrm>
            <a:off x="2634333" y="3597741"/>
            <a:ext cx="616172" cy="434334"/>
          </a:xfrm>
          <a:prstGeom prst="rect">
            <a:avLst/>
          </a:prstGeom>
          <a:noFill/>
          <a:ln/>
        </p:spPr>
        <p:txBody>
          <a:bodyPr wrap="none" lIns="160644" tIns="128643" rIns="160644" bIns="128643" rtlCol="0" anchor="ctr">
            <a:spAutoFit/>
          </a:bodyPr>
          <a:lstStyle/>
          <a:p>
            <a:r>
              <a:rPr lang="en-US" sz="1134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燃点</a:t>
            </a:r>
            <a:endParaRPr lang="en-US" sz="1134" dirty="0"/>
          </a:p>
        </p:txBody>
      </p:sp>
      <p:sp>
        <p:nvSpPr>
          <p:cNvPr id="24" name="Shape 19"/>
          <p:cNvSpPr/>
          <p:nvPr/>
        </p:nvSpPr>
        <p:spPr>
          <a:xfrm>
            <a:off x="4197667" y="3582027"/>
            <a:ext cx="4690005" cy="465762"/>
          </a:xfrm>
          <a:prstGeom prst="rect">
            <a:avLst/>
          </a:prstGeom>
          <a:solidFill>
            <a:srgbClr val="1A3A6B"/>
          </a:solidFill>
          <a:ln w="9144">
            <a:solidFill>
              <a:srgbClr val="1A3A6B"/>
            </a:solidFill>
            <a:prstDash val="solid"/>
          </a:ln>
        </p:spPr>
        <p:txBody>
          <a:bodyPr/>
          <a:lstStyle/>
          <a:p>
            <a:endParaRPr sz="2142"/>
          </a:p>
        </p:txBody>
      </p:sp>
      <p:sp>
        <p:nvSpPr>
          <p:cNvPr id="25" name="Text 20"/>
          <p:cNvSpPr/>
          <p:nvPr/>
        </p:nvSpPr>
        <p:spPr>
          <a:xfrm>
            <a:off x="4197667" y="3597741"/>
            <a:ext cx="4690005" cy="434334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r>
              <a:rPr lang="en-US" sz="1134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火灾特性</a:t>
            </a:r>
            <a:endParaRPr lang="en-US" sz="1134" dirty="0"/>
          </a:p>
        </p:txBody>
      </p:sp>
      <p:sp>
        <p:nvSpPr>
          <p:cNvPr id="26" name="Shape 21"/>
          <p:cNvSpPr/>
          <p:nvPr/>
        </p:nvSpPr>
        <p:spPr>
          <a:xfrm>
            <a:off x="8887673" y="3582027"/>
            <a:ext cx="2084506" cy="465762"/>
          </a:xfrm>
          <a:prstGeom prst="rect">
            <a:avLst/>
          </a:prstGeom>
          <a:solidFill>
            <a:srgbClr val="1A3A6B"/>
          </a:solidFill>
          <a:ln w="9144">
            <a:solidFill>
              <a:srgbClr val="1A3A6B"/>
            </a:solidFill>
            <a:prstDash val="solid"/>
          </a:ln>
        </p:spPr>
        <p:txBody>
          <a:bodyPr/>
          <a:lstStyle/>
          <a:p>
            <a:endParaRPr sz="2142"/>
          </a:p>
        </p:txBody>
      </p:sp>
      <p:sp>
        <p:nvSpPr>
          <p:cNvPr id="27" name="Text 22"/>
          <p:cNvSpPr/>
          <p:nvPr/>
        </p:nvSpPr>
        <p:spPr>
          <a:xfrm>
            <a:off x="8887673" y="3597741"/>
            <a:ext cx="2084506" cy="434334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r>
              <a:rPr lang="en-US" sz="1134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风险等级</a:t>
            </a:r>
            <a:endParaRPr lang="en-US" sz="1134" dirty="0"/>
          </a:p>
        </p:txBody>
      </p:sp>
      <p:sp>
        <p:nvSpPr>
          <p:cNvPr id="28" name="Text 23"/>
          <p:cNvSpPr/>
          <p:nvPr/>
        </p:nvSpPr>
        <p:spPr>
          <a:xfrm>
            <a:off x="693900" y="4164793"/>
            <a:ext cx="1074012" cy="1732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8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亚克力板（B2级）</a:t>
            </a:r>
            <a:endParaRPr lang="en-US" sz="1008" dirty="0"/>
          </a:p>
        </p:txBody>
      </p:sp>
      <p:sp>
        <p:nvSpPr>
          <p:cNvPr id="29" name="Text 24"/>
          <p:cNvSpPr/>
          <p:nvPr/>
        </p:nvSpPr>
        <p:spPr>
          <a:xfrm>
            <a:off x="2634332" y="4046384"/>
            <a:ext cx="1563335" cy="443823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7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低</a:t>
            </a:r>
            <a:endParaRPr lang="en-US" sz="1071" dirty="0"/>
          </a:p>
        </p:txBody>
      </p:sp>
      <p:sp>
        <p:nvSpPr>
          <p:cNvPr id="30" name="Text 25"/>
          <p:cNvSpPr/>
          <p:nvPr/>
        </p:nvSpPr>
        <p:spPr>
          <a:xfrm>
            <a:off x="4197667" y="4046384"/>
            <a:ext cx="4690005" cy="443823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7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快速形成易熔带，但燃烧后迅速蔓延，产生滴落物</a:t>
            </a:r>
            <a:endParaRPr lang="en-US" sz="1071" dirty="0"/>
          </a:p>
        </p:txBody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7176" y="4205292"/>
            <a:ext cx="144004" cy="144004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171180" y="4164793"/>
            <a:ext cx="389530" cy="1732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8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高风险</a:t>
            </a:r>
            <a:endParaRPr lang="en-US" sz="1008" dirty="0"/>
          </a:p>
        </p:txBody>
      </p:sp>
      <p:sp>
        <p:nvSpPr>
          <p:cNvPr id="33" name="Shape 27"/>
          <p:cNvSpPr/>
          <p:nvPr/>
        </p:nvSpPr>
        <p:spPr>
          <a:xfrm>
            <a:off x="549897" y="4488801"/>
            <a:ext cx="10422282" cy="441012"/>
          </a:xfrm>
          <a:prstGeom prst="rect">
            <a:avLst/>
          </a:prstGeom>
          <a:solidFill>
            <a:srgbClr val="F5F8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4" name="Text 28"/>
          <p:cNvSpPr/>
          <p:nvPr/>
        </p:nvSpPr>
        <p:spPr>
          <a:xfrm>
            <a:off x="693901" y="4605804"/>
            <a:ext cx="301365" cy="1732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8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PC板</a:t>
            </a:r>
            <a:endParaRPr lang="en-US" sz="1008" dirty="0"/>
          </a:p>
        </p:txBody>
      </p:sp>
      <p:sp>
        <p:nvSpPr>
          <p:cNvPr id="35" name="Text 29"/>
          <p:cNvSpPr/>
          <p:nvPr/>
        </p:nvSpPr>
        <p:spPr>
          <a:xfrm>
            <a:off x="2634332" y="4487396"/>
            <a:ext cx="1563335" cy="443823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7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580℃</a:t>
            </a:r>
            <a:endParaRPr lang="en-US" sz="1071" dirty="0"/>
          </a:p>
        </p:txBody>
      </p:sp>
      <p:sp>
        <p:nvSpPr>
          <p:cNvPr id="36" name="Text 30"/>
          <p:cNvSpPr/>
          <p:nvPr/>
        </p:nvSpPr>
        <p:spPr>
          <a:xfrm>
            <a:off x="4197667" y="4487396"/>
            <a:ext cx="4690005" cy="443823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7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自身不易燃，但火灾时烟雾无法排出，阻碍逃生</a:t>
            </a:r>
            <a:endParaRPr lang="en-US" sz="1071" dirty="0"/>
          </a:p>
        </p:txBody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7176" y="4646304"/>
            <a:ext cx="144004" cy="144004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9171180" y="4605804"/>
            <a:ext cx="389530" cy="1732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8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高风险</a:t>
            </a:r>
            <a:endParaRPr lang="en-US" sz="1008" dirty="0"/>
          </a:p>
        </p:txBody>
      </p:sp>
      <p:sp>
        <p:nvSpPr>
          <p:cNvPr id="39" name="Text 32"/>
          <p:cNvSpPr/>
          <p:nvPr/>
        </p:nvSpPr>
        <p:spPr>
          <a:xfrm>
            <a:off x="693901" y="5046816"/>
            <a:ext cx="1381789" cy="1732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8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防火隔离带材料（A级）</a:t>
            </a:r>
            <a:endParaRPr lang="en-US" sz="1008" dirty="0"/>
          </a:p>
        </p:txBody>
      </p:sp>
      <p:sp>
        <p:nvSpPr>
          <p:cNvPr id="40" name="Text 33"/>
          <p:cNvSpPr/>
          <p:nvPr/>
        </p:nvSpPr>
        <p:spPr>
          <a:xfrm>
            <a:off x="2634332" y="4930658"/>
            <a:ext cx="1563335" cy="443823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7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不燃</a:t>
            </a:r>
            <a:endParaRPr lang="en-US" sz="1071" dirty="0"/>
          </a:p>
        </p:txBody>
      </p:sp>
      <p:sp>
        <p:nvSpPr>
          <p:cNvPr id="41" name="Text 34"/>
          <p:cNvSpPr/>
          <p:nvPr/>
        </p:nvSpPr>
        <p:spPr>
          <a:xfrm>
            <a:off x="4197667" y="4930658"/>
            <a:ext cx="4690005" cy="443823"/>
          </a:xfrm>
          <a:prstGeom prst="rect">
            <a:avLst/>
          </a:prstGeom>
          <a:noFill/>
          <a:ln/>
        </p:spPr>
        <p:txBody>
          <a:bodyPr wrap="square" lIns="160644" tIns="128643" rIns="160644" bIns="128643" rtlCol="0" anchor="ctr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7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有效阻隔火势蔓延，保障结构安全</a:t>
            </a:r>
            <a:endParaRPr lang="en-US" sz="1071" dirty="0"/>
          </a:p>
        </p:txBody>
      </p:sp>
      <p:pic>
        <p:nvPicPr>
          <p:cNvPr id="4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27176" y="5087317"/>
            <a:ext cx="144004" cy="14400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9171180" y="5046816"/>
            <a:ext cx="259686" cy="17325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8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合规</a:t>
            </a:r>
            <a:endParaRPr lang="en-US" sz="1008" dirty="0"/>
          </a:p>
        </p:txBody>
      </p:sp>
      <p:sp>
        <p:nvSpPr>
          <p:cNvPr id="44" name="Shape 36"/>
          <p:cNvSpPr/>
          <p:nvPr/>
        </p:nvSpPr>
        <p:spPr>
          <a:xfrm>
            <a:off x="540896" y="5654332"/>
            <a:ext cx="10440282" cy="785271"/>
          </a:xfrm>
          <a:prstGeom prst="rect">
            <a:avLst/>
          </a:prstGeom>
          <a:solidFill>
            <a:srgbClr val="E3F0FB"/>
          </a:solidFill>
          <a:ln w="9144">
            <a:solidFill>
              <a:srgbClr val="1565C0"/>
            </a:solidFill>
            <a:prstDash val="solid"/>
          </a:ln>
        </p:spPr>
        <p:txBody>
          <a:bodyPr/>
          <a:lstStyle/>
          <a:p>
            <a:endParaRPr sz="2142"/>
          </a:p>
        </p:txBody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0902" y="5868087"/>
            <a:ext cx="189005" cy="216006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044911" y="5789335"/>
            <a:ext cx="9756263" cy="174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134" b="1" dirty="0">
                <a:solidFill>
                  <a:srgbClr val="1565C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规范要求 (GB/T 51335)</a:t>
            </a:r>
            <a:endParaRPr lang="en-US" sz="1134" dirty="0"/>
          </a:p>
        </p:txBody>
      </p:sp>
      <p:sp>
        <p:nvSpPr>
          <p:cNvPr id="47" name="Text 38"/>
          <p:cNvSpPr/>
          <p:nvPr/>
        </p:nvSpPr>
        <p:spPr>
          <a:xfrm>
            <a:off x="1044910" y="6070594"/>
            <a:ext cx="8497519" cy="184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7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明确要求封闭式声屏障支撑构件耐火极限不得低于 </a:t>
            </a:r>
            <a:r>
              <a:rPr lang="en-US" sz="1008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1.0h</a:t>
            </a:r>
            <a:r>
              <a:rPr lang="en-US" sz="107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；每100米必须设置4米（2跨）防火隔离带，采用耐火极限达到 </a:t>
            </a:r>
            <a:r>
              <a:rPr lang="en-US" sz="1008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3h</a:t>
            </a:r>
            <a:r>
              <a:rPr lang="en-US" sz="107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 的专用隔离材料。</a:t>
            </a:r>
            <a:endParaRPr lang="en-US" sz="1071" dirty="0"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 descr="preencoded.png">
            <a:extLst>
              <a:ext uri="{FF2B5EF4-FFF2-40B4-BE49-F238E27FC236}">
                <a16:creationId xmlns:a16="http://schemas.microsoft.com/office/drawing/2014/main" id="{CCBDAEBA-8B0E-D88E-F709-B9FE730B83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2" y="-1"/>
            <a:ext cx="11520311" cy="6480175"/>
          </a:xfrm>
          <a:custGeom>
            <a:avLst/>
            <a:gdLst>
              <a:gd name="csX0" fmla="*/ 9601713 w 11520311"/>
              <a:gd name="csY0" fmla="*/ 215878 h 6480175"/>
              <a:gd name="csX1" fmla="*/ 9601713 w 11520311"/>
              <a:gd name="csY1" fmla="*/ 1007933 h 6480175"/>
              <a:gd name="csX2" fmla="*/ 11304540 w 11520311"/>
              <a:gd name="csY2" fmla="*/ 1007933 h 6480175"/>
              <a:gd name="csX3" fmla="*/ 11304540 w 11520311"/>
              <a:gd name="csY3" fmla="*/ 215878 h 6480175"/>
              <a:gd name="csX4" fmla="*/ 0 w 11520311"/>
              <a:gd name="csY4" fmla="*/ 0 h 6480175"/>
              <a:gd name="csX5" fmla="*/ 11520311 w 11520311"/>
              <a:gd name="csY5" fmla="*/ 0 h 6480175"/>
              <a:gd name="csX6" fmla="*/ 11520311 w 11520311"/>
              <a:gd name="csY6" fmla="*/ 6480175 h 6480175"/>
              <a:gd name="csX7" fmla="*/ 0 w 11520311"/>
              <a:gd name="csY7" fmla="*/ 6480175 h 64801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520311" h="6480175">
                <a:moveTo>
                  <a:pt x="9601713" y="215878"/>
                </a:moveTo>
                <a:lnTo>
                  <a:pt x="9601713" y="1007933"/>
                </a:lnTo>
                <a:lnTo>
                  <a:pt x="11304540" y="1007933"/>
                </a:lnTo>
                <a:lnTo>
                  <a:pt x="11304540" y="215878"/>
                </a:lnTo>
                <a:close/>
                <a:moveTo>
                  <a:pt x="0" y="0"/>
                </a:moveTo>
                <a:lnTo>
                  <a:pt x="11520311" y="0"/>
                </a:lnTo>
                <a:lnTo>
                  <a:pt x="11520311" y="6480175"/>
                </a:lnTo>
                <a:lnTo>
                  <a:pt x="0" y="6480175"/>
                </a:lnTo>
                <a:close/>
              </a:path>
            </a:pathLst>
          </a:custGeom>
        </p:spPr>
      </p:pic>
      <p:sp>
        <p:nvSpPr>
          <p:cNvPr id="4" name="Text 0"/>
          <p:cNvSpPr/>
          <p:nvPr/>
        </p:nvSpPr>
        <p:spPr>
          <a:xfrm>
            <a:off x="540896" y="450012"/>
            <a:ext cx="227626" cy="2326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512" b="1" dirty="0">
                <a:solidFill>
                  <a:srgbClr val="1565C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07</a:t>
            </a:r>
            <a:endParaRPr lang="en-US" sz="1512" dirty="0"/>
          </a:p>
        </p:txBody>
      </p:sp>
      <p:sp>
        <p:nvSpPr>
          <p:cNvPr id="5" name="Text 1"/>
          <p:cNvSpPr/>
          <p:nvPr/>
        </p:nvSpPr>
        <p:spPr>
          <a:xfrm>
            <a:off x="990909" y="450012"/>
            <a:ext cx="4752128" cy="23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512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痛点三——降噪失效与眩光污染，功能性严重缺失</a:t>
            </a:r>
            <a:endParaRPr lang="en-US" sz="1512" dirty="0"/>
          </a:p>
        </p:txBody>
      </p:sp>
      <p:sp>
        <p:nvSpPr>
          <p:cNvPr id="6" name="Shape 2"/>
          <p:cNvSpPr/>
          <p:nvPr/>
        </p:nvSpPr>
        <p:spPr>
          <a:xfrm>
            <a:off x="540896" y="1170032"/>
            <a:ext cx="10440282" cy="788365"/>
          </a:xfrm>
          <a:prstGeom prst="rect">
            <a:avLst/>
          </a:prstGeom>
          <a:solidFill>
            <a:srgbClr val="E3F0FB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7" name="Shape 3"/>
          <p:cNvSpPr/>
          <p:nvPr/>
        </p:nvSpPr>
        <p:spPr>
          <a:xfrm>
            <a:off x="540897" y="1170032"/>
            <a:ext cx="54002" cy="788365"/>
          </a:xfrm>
          <a:prstGeom prst="rect">
            <a:avLst/>
          </a:prstGeom>
          <a:solidFill>
            <a:srgbClr val="1565C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8" name="Text 4"/>
          <p:cNvSpPr/>
          <p:nvPr/>
        </p:nvSpPr>
        <p:spPr>
          <a:xfrm>
            <a:off x="765903" y="1305035"/>
            <a:ext cx="9990270" cy="216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197" dirty="0">
                <a:solidFill>
                  <a:srgbClr val="1A3A6B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设计缺陷导致全封闭声屏障未能发挥应有的降噪功能，反而引发高层住宅噪音加剧；同时，未经处理的透明板产生强烈眩光，严重威胁行车安全。</a:t>
            </a:r>
            <a:endParaRPr lang="en-US" sz="1197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896" y="2178902"/>
            <a:ext cx="225006" cy="1800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55905" y="2138400"/>
            <a:ext cx="2340063" cy="193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60" b="1" dirty="0">
                <a:solidFill>
                  <a:srgbClr val="1565C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降噪不达标——三大漏声路径</a:t>
            </a:r>
            <a:endParaRPr lang="en-US" sz="1260" dirty="0"/>
          </a:p>
        </p:txBody>
      </p:sp>
      <p:sp>
        <p:nvSpPr>
          <p:cNvPr id="11" name="Shape 6"/>
          <p:cNvSpPr/>
          <p:nvPr/>
        </p:nvSpPr>
        <p:spPr>
          <a:xfrm>
            <a:off x="540897" y="2489411"/>
            <a:ext cx="3360079" cy="154987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12" name="Shape 7"/>
          <p:cNvSpPr/>
          <p:nvPr/>
        </p:nvSpPr>
        <p:spPr>
          <a:xfrm>
            <a:off x="540897" y="2489412"/>
            <a:ext cx="3360079" cy="36001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13" name="Shape 8"/>
          <p:cNvSpPr/>
          <p:nvPr/>
        </p:nvSpPr>
        <p:spPr>
          <a:xfrm>
            <a:off x="3891975" y="2489411"/>
            <a:ext cx="9001" cy="154987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14" name="Shape 9"/>
          <p:cNvSpPr/>
          <p:nvPr/>
        </p:nvSpPr>
        <p:spPr>
          <a:xfrm>
            <a:off x="540897" y="4030280"/>
            <a:ext cx="3360079" cy="900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15" name="Shape 10"/>
          <p:cNvSpPr/>
          <p:nvPr/>
        </p:nvSpPr>
        <p:spPr>
          <a:xfrm>
            <a:off x="540896" y="2489411"/>
            <a:ext cx="9001" cy="154987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901" y="2706542"/>
            <a:ext cx="121504" cy="162005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14407" y="2669416"/>
            <a:ext cx="875240" cy="1745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134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顶部镂空逸散</a:t>
            </a:r>
            <a:endParaRPr lang="en-US" sz="1134" dirty="0"/>
          </a:p>
        </p:txBody>
      </p:sp>
      <p:sp>
        <p:nvSpPr>
          <p:cNvPr id="18" name="Text 12"/>
          <p:cNvSpPr/>
          <p:nvPr/>
        </p:nvSpPr>
        <p:spPr>
          <a:xfrm>
            <a:off x="720901" y="2995675"/>
            <a:ext cx="3000070" cy="381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008" dirty="0">
                <a:solidFill>
                  <a:srgbClr val="5555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传统全封闭顶部采用简单镂空设计，噪声从顶部大量逸散，导致高层住宅噪声反而比安装声屏障前更大。</a:t>
            </a:r>
            <a:endParaRPr lang="en-US" sz="1008" dirty="0"/>
          </a:p>
        </p:txBody>
      </p:sp>
      <p:sp>
        <p:nvSpPr>
          <p:cNvPr id="19" name="Shape 13"/>
          <p:cNvSpPr/>
          <p:nvPr/>
        </p:nvSpPr>
        <p:spPr>
          <a:xfrm>
            <a:off x="4080981" y="2489411"/>
            <a:ext cx="3360079" cy="154987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20" name="Shape 14"/>
          <p:cNvSpPr/>
          <p:nvPr/>
        </p:nvSpPr>
        <p:spPr>
          <a:xfrm>
            <a:off x="4080981" y="2489412"/>
            <a:ext cx="3360079" cy="36001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21" name="Shape 15"/>
          <p:cNvSpPr/>
          <p:nvPr/>
        </p:nvSpPr>
        <p:spPr>
          <a:xfrm>
            <a:off x="7432059" y="2489411"/>
            <a:ext cx="9001" cy="154987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22" name="Shape 16"/>
          <p:cNvSpPr/>
          <p:nvPr/>
        </p:nvSpPr>
        <p:spPr>
          <a:xfrm>
            <a:off x="4080981" y="4030280"/>
            <a:ext cx="3360079" cy="900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23" name="Shape 17"/>
          <p:cNvSpPr/>
          <p:nvPr/>
        </p:nvSpPr>
        <p:spPr>
          <a:xfrm>
            <a:off x="4080980" y="2489411"/>
            <a:ext cx="9001" cy="154987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0985" y="2706542"/>
            <a:ext cx="162005" cy="16200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494992" y="2669416"/>
            <a:ext cx="583493" cy="1745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134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两侧绕射</a:t>
            </a:r>
            <a:endParaRPr lang="en-US" sz="1134" dirty="0"/>
          </a:p>
        </p:txBody>
      </p:sp>
      <p:sp>
        <p:nvSpPr>
          <p:cNvPr id="26" name="Text 19"/>
          <p:cNvSpPr/>
          <p:nvPr/>
        </p:nvSpPr>
        <p:spPr>
          <a:xfrm>
            <a:off x="4260986" y="2995675"/>
            <a:ext cx="3000070" cy="381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008" dirty="0">
                <a:solidFill>
                  <a:srgbClr val="5555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声屏障两端绕射路径未经优化，噪声绕过屏体传播至敏感点，未能形成有效的声影区。</a:t>
            </a:r>
            <a:endParaRPr lang="en-US" sz="1008" dirty="0"/>
          </a:p>
        </p:txBody>
      </p:sp>
      <p:sp>
        <p:nvSpPr>
          <p:cNvPr id="27" name="Shape 20"/>
          <p:cNvSpPr/>
          <p:nvPr/>
        </p:nvSpPr>
        <p:spPr>
          <a:xfrm>
            <a:off x="7621064" y="2489411"/>
            <a:ext cx="3360115" cy="154987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28" name="Shape 21"/>
          <p:cNvSpPr/>
          <p:nvPr/>
        </p:nvSpPr>
        <p:spPr>
          <a:xfrm>
            <a:off x="7621064" y="2489412"/>
            <a:ext cx="3360115" cy="36001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29" name="Shape 22"/>
          <p:cNvSpPr/>
          <p:nvPr/>
        </p:nvSpPr>
        <p:spPr>
          <a:xfrm>
            <a:off x="10972177" y="2489411"/>
            <a:ext cx="9001" cy="154987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0" name="Shape 23"/>
          <p:cNvSpPr/>
          <p:nvPr/>
        </p:nvSpPr>
        <p:spPr>
          <a:xfrm>
            <a:off x="7621064" y="4030280"/>
            <a:ext cx="3360115" cy="900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1" name="Shape 24"/>
          <p:cNvSpPr/>
          <p:nvPr/>
        </p:nvSpPr>
        <p:spPr>
          <a:xfrm>
            <a:off x="7621063" y="2489411"/>
            <a:ext cx="9001" cy="154987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2" name="Text 25"/>
          <p:cNvSpPr/>
          <p:nvPr/>
        </p:nvSpPr>
        <p:spPr>
          <a:xfrm>
            <a:off x="7873070" y="2669416"/>
            <a:ext cx="875240" cy="1745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134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板间缝隙漏声</a:t>
            </a:r>
            <a:endParaRPr lang="en-US" sz="1134" dirty="0"/>
          </a:p>
        </p:txBody>
      </p:sp>
      <p:sp>
        <p:nvSpPr>
          <p:cNvPr id="33" name="Text 26"/>
          <p:cNvSpPr/>
          <p:nvPr/>
        </p:nvSpPr>
        <p:spPr>
          <a:xfrm>
            <a:off x="7801069" y="2995675"/>
            <a:ext cx="3000105" cy="381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8000"/>
              </a:lnSpc>
            </a:pPr>
            <a:r>
              <a:rPr lang="en-US" sz="1008" dirty="0">
                <a:solidFill>
                  <a:srgbClr val="5555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屏体拼接缝隙处理不当，密封胶条老化或缺失，形成噪声泄漏通道，大幅降低整体隔声量。</a:t>
            </a:r>
            <a:endParaRPr lang="en-US" sz="1008" dirty="0"/>
          </a:p>
        </p:txBody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897" y="4259788"/>
            <a:ext cx="180005" cy="180005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810904" y="4219286"/>
            <a:ext cx="2160058" cy="1938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260" b="1" dirty="0">
                <a:solidFill>
                  <a:srgbClr val="1565C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透明眩光——驾驶安全隐患</a:t>
            </a:r>
            <a:endParaRPr lang="en-US" sz="1260" dirty="0"/>
          </a:p>
        </p:txBody>
      </p:sp>
      <p:sp>
        <p:nvSpPr>
          <p:cNvPr id="36" name="Shape 28"/>
          <p:cNvSpPr/>
          <p:nvPr/>
        </p:nvSpPr>
        <p:spPr>
          <a:xfrm>
            <a:off x="540896" y="4570295"/>
            <a:ext cx="10440282" cy="154987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7" name="Shape 29"/>
          <p:cNvSpPr/>
          <p:nvPr/>
        </p:nvSpPr>
        <p:spPr>
          <a:xfrm>
            <a:off x="540896" y="4570295"/>
            <a:ext cx="10440282" cy="900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8" name="Shape 30"/>
          <p:cNvSpPr/>
          <p:nvPr/>
        </p:nvSpPr>
        <p:spPr>
          <a:xfrm>
            <a:off x="10972177" y="4570295"/>
            <a:ext cx="9001" cy="1549870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9" name="Shape 31"/>
          <p:cNvSpPr/>
          <p:nvPr/>
        </p:nvSpPr>
        <p:spPr>
          <a:xfrm>
            <a:off x="540896" y="6111164"/>
            <a:ext cx="10440282" cy="900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40" name="Shape 32"/>
          <p:cNvSpPr/>
          <p:nvPr/>
        </p:nvSpPr>
        <p:spPr>
          <a:xfrm>
            <a:off x="540897" y="4570295"/>
            <a:ext cx="36001" cy="1549870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sz="2142"/>
          </a:p>
        </p:txBody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0901" y="5075222"/>
            <a:ext cx="540015" cy="540015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1710929" y="5030011"/>
            <a:ext cx="5790047" cy="2137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44000"/>
              </a:lnSpc>
            </a:pPr>
            <a:r>
              <a:rPr lang="en-US" sz="1071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透明单元板未进行防眩光处理，在阳光直射或对向车灯照射下产生强烈的镜面反射和光斑效应。</a:t>
            </a:r>
            <a:endParaRPr lang="en-US" sz="1071" dirty="0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10928" y="5461319"/>
            <a:ext cx="202505" cy="162005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2003436" y="5424193"/>
            <a:ext cx="5859158" cy="1745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134" b="1" dirty="0">
                <a:solidFill>
                  <a:srgbClr val="D32F2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驾驶员进入全封闭区域时瞬间"晃眼"，严重影响视线，极易引发追尾等安全事故！</a:t>
            </a:r>
            <a:endParaRPr lang="en-US" sz="1134" dirty="0"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图片 58" descr="preencoded.png">
            <a:extLst>
              <a:ext uri="{FF2B5EF4-FFF2-40B4-BE49-F238E27FC236}">
                <a16:creationId xmlns:a16="http://schemas.microsoft.com/office/drawing/2014/main" id="{793D8109-62AD-456C-9BDB-60589BFB43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2" y="-1"/>
            <a:ext cx="11520311" cy="6480175"/>
          </a:xfrm>
          <a:custGeom>
            <a:avLst/>
            <a:gdLst>
              <a:gd name="csX0" fmla="*/ 9601713 w 11520311"/>
              <a:gd name="csY0" fmla="*/ 215878 h 6480175"/>
              <a:gd name="csX1" fmla="*/ 9601713 w 11520311"/>
              <a:gd name="csY1" fmla="*/ 1007933 h 6480175"/>
              <a:gd name="csX2" fmla="*/ 11304540 w 11520311"/>
              <a:gd name="csY2" fmla="*/ 1007933 h 6480175"/>
              <a:gd name="csX3" fmla="*/ 11304540 w 11520311"/>
              <a:gd name="csY3" fmla="*/ 215878 h 6480175"/>
              <a:gd name="csX4" fmla="*/ 0 w 11520311"/>
              <a:gd name="csY4" fmla="*/ 0 h 6480175"/>
              <a:gd name="csX5" fmla="*/ 11520311 w 11520311"/>
              <a:gd name="csY5" fmla="*/ 0 h 6480175"/>
              <a:gd name="csX6" fmla="*/ 11520311 w 11520311"/>
              <a:gd name="csY6" fmla="*/ 6480175 h 6480175"/>
              <a:gd name="csX7" fmla="*/ 0 w 11520311"/>
              <a:gd name="csY7" fmla="*/ 6480175 h 64801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520311" h="6480175">
                <a:moveTo>
                  <a:pt x="9601713" y="215878"/>
                </a:moveTo>
                <a:lnTo>
                  <a:pt x="9601713" y="1007933"/>
                </a:lnTo>
                <a:lnTo>
                  <a:pt x="11304540" y="1007933"/>
                </a:lnTo>
                <a:lnTo>
                  <a:pt x="11304540" y="215878"/>
                </a:lnTo>
                <a:close/>
                <a:moveTo>
                  <a:pt x="0" y="0"/>
                </a:moveTo>
                <a:lnTo>
                  <a:pt x="11520311" y="0"/>
                </a:lnTo>
                <a:lnTo>
                  <a:pt x="11520311" y="6480175"/>
                </a:lnTo>
                <a:lnTo>
                  <a:pt x="0" y="6480175"/>
                </a:lnTo>
                <a:close/>
              </a:path>
            </a:pathLst>
          </a:custGeom>
        </p:spPr>
      </p:pic>
      <p:sp>
        <p:nvSpPr>
          <p:cNvPr id="4" name="Text 0"/>
          <p:cNvSpPr/>
          <p:nvPr/>
        </p:nvSpPr>
        <p:spPr>
          <a:xfrm>
            <a:off x="540896" y="450012"/>
            <a:ext cx="227626" cy="23269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512" b="1" dirty="0">
                <a:solidFill>
                  <a:srgbClr val="1565C0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08</a:t>
            </a:r>
            <a:endParaRPr lang="en-US" sz="1512" dirty="0"/>
          </a:p>
        </p:txBody>
      </p:sp>
      <p:sp>
        <p:nvSpPr>
          <p:cNvPr id="5" name="Text 1"/>
          <p:cNvSpPr/>
          <p:nvPr/>
        </p:nvSpPr>
        <p:spPr>
          <a:xfrm>
            <a:off x="990909" y="450012"/>
            <a:ext cx="5184140" cy="232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r>
              <a:rPr lang="en-US" sz="1512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痛点四——防腐工艺落后，耐久性不足与维保成本失控</a:t>
            </a:r>
            <a:endParaRPr lang="en-US" sz="1512" dirty="0"/>
          </a:p>
        </p:txBody>
      </p:sp>
      <p:sp>
        <p:nvSpPr>
          <p:cNvPr id="6" name="Shape 2"/>
          <p:cNvSpPr/>
          <p:nvPr/>
        </p:nvSpPr>
        <p:spPr>
          <a:xfrm>
            <a:off x="540896" y="1170032"/>
            <a:ext cx="10440282" cy="432012"/>
          </a:xfrm>
          <a:prstGeom prst="rect">
            <a:avLst/>
          </a:prstGeom>
          <a:solidFill>
            <a:srgbClr val="FFF0F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7" name="Shape 3"/>
          <p:cNvSpPr/>
          <p:nvPr/>
        </p:nvSpPr>
        <p:spPr>
          <a:xfrm>
            <a:off x="540897" y="1170032"/>
            <a:ext cx="54002" cy="432012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8" name="Text 4"/>
          <p:cNvSpPr/>
          <p:nvPr/>
        </p:nvSpPr>
        <p:spPr>
          <a:xfrm>
            <a:off x="720901" y="1278035"/>
            <a:ext cx="7857920" cy="184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71" dirty="0">
                <a:solidFill>
                  <a:srgbClr val="B71C1C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传统防腐工艺无法抵御恶劣户外环境的长期侵蚀，导致钢结构与屏体快速锈蚀老化，使用寿命大幅缩短，后期维保成本严重失控。</a:t>
            </a:r>
            <a:endParaRPr lang="en-US" sz="1071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0896" y="1774173"/>
            <a:ext cx="162005" cy="16200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74903" y="1737047"/>
            <a:ext cx="1166986" cy="1745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134" b="1" dirty="0">
                <a:solidFill>
                  <a:srgbClr val="1A3A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防腐工艺寿命对比</a:t>
            </a:r>
            <a:endParaRPr lang="en-US" sz="1134" dirty="0"/>
          </a:p>
        </p:txBody>
      </p:sp>
      <p:sp>
        <p:nvSpPr>
          <p:cNvPr id="11" name="Shape 6"/>
          <p:cNvSpPr/>
          <p:nvPr/>
        </p:nvSpPr>
        <p:spPr>
          <a:xfrm>
            <a:off x="545397" y="2067806"/>
            <a:ext cx="2086228" cy="396011"/>
          </a:xfrm>
          <a:prstGeom prst="rect">
            <a:avLst/>
          </a:prstGeom>
          <a:solidFill>
            <a:srgbClr val="1A3A6B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sz="2142"/>
          </a:p>
        </p:txBody>
      </p:sp>
      <p:sp>
        <p:nvSpPr>
          <p:cNvPr id="12" name="Text 7"/>
          <p:cNvSpPr/>
          <p:nvPr/>
        </p:nvSpPr>
        <p:spPr>
          <a:xfrm>
            <a:off x="545397" y="2080008"/>
            <a:ext cx="2086228" cy="371607"/>
          </a:xfrm>
          <a:prstGeom prst="rect">
            <a:avLst/>
          </a:prstGeom>
          <a:noFill/>
          <a:ln/>
        </p:spPr>
        <p:txBody>
          <a:bodyPr wrap="square" lIns="160644" tIns="107203" rIns="160644" bIns="107203" rtlCol="0" anchor="ctr">
            <a:spAutoFit/>
          </a:bodyPr>
          <a:lstStyle/>
          <a:p>
            <a:r>
              <a:rPr lang="en-US" sz="1008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工艺类型</a:t>
            </a:r>
            <a:endParaRPr lang="en-US" sz="1008" dirty="0"/>
          </a:p>
        </p:txBody>
      </p:sp>
      <p:sp>
        <p:nvSpPr>
          <p:cNvPr id="13" name="Shape 8"/>
          <p:cNvSpPr/>
          <p:nvPr/>
        </p:nvSpPr>
        <p:spPr>
          <a:xfrm>
            <a:off x="2631625" y="2067806"/>
            <a:ext cx="3650935" cy="396011"/>
          </a:xfrm>
          <a:prstGeom prst="rect">
            <a:avLst/>
          </a:prstGeom>
          <a:solidFill>
            <a:srgbClr val="1A3A6B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sz="2142"/>
          </a:p>
        </p:txBody>
      </p:sp>
      <p:sp>
        <p:nvSpPr>
          <p:cNvPr id="14" name="Text 9"/>
          <p:cNvSpPr/>
          <p:nvPr/>
        </p:nvSpPr>
        <p:spPr>
          <a:xfrm>
            <a:off x="2631625" y="2080008"/>
            <a:ext cx="3650935" cy="371607"/>
          </a:xfrm>
          <a:prstGeom prst="rect">
            <a:avLst/>
          </a:prstGeom>
          <a:noFill/>
          <a:ln/>
        </p:spPr>
        <p:txBody>
          <a:bodyPr wrap="square" lIns="160644" tIns="107203" rIns="160644" bIns="107203" rtlCol="0" anchor="ctr">
            <a:spAutoFit/>
          </a:bodyPr>
          <a:lstStyle/>
          <a:p>
            <a:r>
              <a:rPr lang="en-US" sz="1008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具体描述</a:t>
            </a:r>
            <a:endParaRPr lang="en-US" sz="1008" dirty="0"/>
          </a:p>
        </p:txBody>
      </p:sp>
      <p:sp>
        <p:nvSpPr>
          <p:cNvPr id="15" name="Shape 10"/>
          <p:cNvSpPr/>
          <p:nvPr/>
        </p:nvSpPr>
        <p:spPr>
          <a:xfrm>
            <a:off x="6282559" y="2067806"/>
            <a:ext cx="1564671" cy="396011"/>
          </a:xfrm>
          <a:prstGeom prst="rect">
            <a:avLst/>
          </a:prstGeom>
          <a:solidFill>
            <a:srgbClr val="1A3A6B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sz="2142"/>
          </a:p>
        </p:txBody>
      </p:sp>
      <p:sp>
        <p:nvSpPr>
          <p:cNvPr id="16" name="Text 11"/>
          <p:cNvSpPr/>
          <p:nvPr/>
        </p:nvSpPr>
        <p:spPr>
          <a:xfrm>
            <a:off x="6282560" y="2080008"/>
            <a:ext cx="843799" cy="371607"/>
          </a:xfrm>
          <a:prstGeom prst="rect">
            <a:avLst/>
          </a:prstGeom>
          <a:noFill/>
          <a:ln/>
        </p:spPr>
        <p:txBody>
          <a:bodyPr wrap="none" lIns="160644" tIns="107203" rIns="160644" bIns="107203" rtlCol="0" anchor="ctr">
            <a:spAutoFit/>
          </a:bodyPr>
          <a:lstStyle/>
          <a:p>
            <a:r>
              <a:rPr lang="en-US" sz="1008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使用年限</a:t>
            </a:r>
            <a:endParaRPr lang="en-US" sz="1008" dirty="0"/>
          </a:p>
        </p:txBody>
      </p:sp>
      <p:sp>
        <p:nvSpPr>
          <p:cNvPr id="17" name="Shape 12"/>
          <p:cNvSpPr/>
          <p:nvPr/>
        </p:nvSpPr>
        <p:spPr>
          <a:xfrm>
            <a:off x="7847230" y="2067806"/>
            <a:ext cx="3129448" cy="396011"/>
          </a:xfrm>
          <a:prstGeom prst="rect">
            <a:avLst/>
          </a:prstGeom>
          <a:solidFill>
            <a:srgbClr val="1A3A6B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 sz="2142"/>
          </a:p>
        </p:txBody>
      </p:sp>
      <p:sp>
        <p:nvSpPr>
          <p:cNvPr id="18" name="Text 13"/>
          <p:cNvSpPr/>
          <p:nvPr/>
        </p:nvSpPr>
        <p:spPr>
          <a:xfrm>
            <a:off x="7847230" y="2080008"/>
            <a:ext cx="3129448" cy="371607"/>
          </a:xfrm>
          <a:prstGeom prst="rect">
            <a:avLst/>
          </a:prstGeom>
          <a:noFill/>
          <a:ln/>
        </p:spPr>
        <p:txBody>
          <a:bodyPr wrap="square" lIns="160644" tIns="107203" rIns="160644" bIns="107203" rtlCol="0" anchor="ctr">
            <a:spAutoFit/>
          </a:bodyPr>
          <a:lstStyle/>
          <a:p>
            <a:r>
              <a:rPr lang="en-US" sz="1008" b="1" dirty="0">
                <a:solidFill>
                  <a:srgbClr val="FFFFF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主要缺陷</a:t>
            </a:r>
            <a:endParaRPr lang="en-US" sz="1008" dirty="0"/>
          </a:p>
        </p:txBody>
      </p:sp>
      <p:sp>
        <p:nvSpPr>
          <p:cNvPr id="19" name="Text 14"/>
          <p:cNvSpPr/>
          <p:nvPr/>
        </p:nvSpPr>
        <p:spPr>
          <a:xfrm>
            <a:off x="684901" y="2553818"/>
            <a:ext cx="487313" cy="1536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油漆工艺</a:t>
            </a:r>
            <a:endParaRPr lang="en-US" sz="945" dirty="0"/>
          </a:p>
        </p:txBody>
      </p:sp>
      <p:sp>
        <p:nvSpPr>
          <p:cNvPr id="20" name="Text 15"/>
          <p:cNvSpPr/>
          <p:nvPr/>
        </p:nvSpPr>
        <p:spPr>
          <a:xfrm>
            <a:off x="2631625" y="2462627"/>
            <a:ext cx="3650935" cy="380391"/>
          </a:xfrm>
          <a:prstGeom prst="rect">
            <a:avLst/>
          </a:prstGeom>
          <a:noFill/>
          <a:ln/>
        </p:spPr>
        <p:txBody>
          <a:bodyPr wrap="square" lIns="160644" tIns="107203" rIns="160644" bIns="107203" rtlCol="0" anchor="ctr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底漆 + 中间漆 + 面漆</a:t>
            </a:r>
            <a:endParaRPr lang="en-US" sz="1008" dirty="0"/>
          </a:p>
        </p:txBody>
      </p:sp>
      <p:sp>
        <p:nvSpPr>
          <p:cNvPr id="21" name="Text 16"/>
          <p:cNvSpPr/>
          <p:nvPr/>
        </p:nvSpPr>
        <p:spPr>
          <a:xfrm>
            <a:off x="6282559" y="2467724"/>
            <a:ext cx="1564671" cy="370196"/>
          </a:xfrm>
          <a:prstGeom prst="rect">
            <a:avLst/>
          </a:prstGeom>
          <a:noFill/>
          <a:ln/>
        </p:spPr>
        <p:txBody>
          <a:bodyPr wrap="square" lIns="160644" tIns="107203" rIns="160644" bIns="107203" rtlCol="0" anchor="ctr">
            <a:spAutoFit/>
          </a:bodyPr>
          <a:lstStyle/>
          <a:p>
            <a:pPr>
              <a:lnSpc>
                <a:spcPct val="112000"/>
              </a:lnSpc>
            </a:pPr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5~10年</a:t>
            </a:r>
            <a:endParaRPr lang="en-US" sz="945" dirty="0"/>
          </a:p>
        </p:txBody>
      </p:sp>
      <p:sp>
        <p:nvSpPr>
          <p:cNvPr id="22" name="Text 17"/>
          <p:cNvSpPr/>
          <p:nvPr/>
        </p:nvSpPr>
        <p:spPr>
          <a:xfrm>
            <a:off x="7847230" y="2462628"/>
            <a:ext cx="3129448" cy="380391"/>
          </a:xfrm>
          <a:prstGeom prst="rect">
            <a:avLst/>
          </a:prstGeom>
          <a:noFill/>
          <a:ln/>
        </p:spPr>
        <p:txBody>
          <a:bodyPr wrap="square" lIns="160644" tIns="107203" rIns="160644" bIns="107203" rtlCol="0" anchor="ctr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加工质量难以把控，户外环境下快速脱落</a:t>
            </a:r>
            <a:endParaRPr lang="en-US" sz="1008" dirty="0"/>
          </a:p>
        </p:txBody>
      </p:sp>
      <p:sp>
        <p:nvSpPr>
          <p:cNvPr id="23" name="Shape 18"/>
          <p:cNvSpPr/>
          <p:nvPr/>
        </p:nvSpPr>
        <p:spPr>
          <a:xfrm>
            <a:off x="545397" y="2841826"/>
            <a:ext cx="10431281" cy="378011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24" name="Text 19"/>
          <p:cNvSpPr/>
          <p:nvPr/>
        </p:nvSpPr>
        <p:spPr>
          <a:xfrm>
            <a:off x="684900" y="2931829"/>
            <a:ext cx="730969" cy="1536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热浸镀锌工艺</a:t>
            </a:r>
            <a:endParaRPr lang="en-US" sz="945" dirty="0"/>
          </a:p>
        </p:txBody>
      </p:sp>
      <p:sp>
        <p:nvSpPr>
          <p:cNvPr id="25" name="Text 20"/>
          <p:cNvSpPr/>
          <p:nvPr/>
        </p:nvSpPr>
        <p:spPr>
          <a:xfrm>
            <a:off x="2631625" y="2840637"/>
            <a:ext cx="3650935" cy="380391"/>
          </a:xfrm>
          <a:prstGeom prst="rect">
            <a:avLst/>
          </a:prstGeom>
          <a:noFill/>
          <a:ln/>
        </p:spPr>
        <p:txBody>
          <a:bodyPr wrap="square" lIns="160644" tIns="107203" rIns="160644" bIns="107203" rtlCol="0" anchor="ctr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酸洗 + 热镀锌 + 粉末</a:t>
            </a:r>
            <a:endParaRPr lang="en-US" sz="1008" dirty="0"/>
          </a:p>
        </p:txBody>
      </p:sp>
      <p:sp>
        <p:nvSpPr>
          <p:cNvPr id="26" name="Text 21"/>
          <p:cNvSpPr/>
          <p:nvPr/>
        </p:nvSpPr>
        <p:spPr>
          <a:xfrm>
            <a:off x="6282559" y="2845734"/>
            <a:ext cx="1564671" cy="370196"/>
          </a:xfrm>
          <a:prstGeom prst="rect">
            <a:avLst/>
          </a:prstGeom>
          <a:noFill/>
          <a:ln/>
        </p:spPr>
        <p:txBody>
          <a:bodyPr wrap="square" lIns="160644" tIns="107203" rIns="160644" bIns="107203" rtlCol="0" anchor="ctr">
            <a:spAutoFit/>
          </a:bodyPr>
          <a:lstStyle/>
          <a:p>
            <a:pPr>
              <a:lnSpc>
                <a:spcPct val="112000"/>
              </a:lnSpc>
            </a:pPr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15~25年</a:t>
            </a:r>
            <a:endParaRPr lang="en-US" sz="945" dirty="0"/>
          </a:p>
        </p:txBody>
      </p:sp>
      <p:sp>
        <p:nvSpPr>
          <p:cNvPr id="27" name="Text 22"/>
          <p:cNvSpPr/>
          <p:nvPr/>
        </p:nvSpPr>
        <p:spPr>
          <a:xfrm>
            <a:off x="7847230" y="2840637"/>
            <a:ext cx="3129448" cy="380391"/>
          </a:xfrm>
          <a:prstGeom prst="rect">
            <a:avLst/>
          </a:prstGeom>
          <a:noFill/>
          <a:ln/>
        </p:spPr>
        <p:txBody>
          <a:bodyPr wrap="square" lIns="160644" tIns="107203" rIns="160644" bIns="107203" rtlCol="0" anchor="ctr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基材锈蚀后镀锌层无法保护，仅能通过油漆维保</a:t>
            </a:r>
            <a:endParaRPr lang="en-US" sz="1008" dirty="0"/>
          </a:p>
        </p:txBody>
      </p:sp>
      <p:sp>
        <p:nvSpPr>
          <p:cNvPr id="28" name="Text 23"/>
          <p:cNvSpPr/>
          <p:nvPr/>
        </p:nvSpPr>
        <p:spPr>
          <a:xfrm>
            <a:off x="684900" y="3309839"/>
            <a:ext cx="730969" cy="15369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12000"/>
              </a:lnSpc>
            </a:pPr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复合防腐工艺</a:t>
            </a:r>
            <a:endParaRPr lang="en-US" sz="945" dirty="0"/>
          </a:p>
        </p:txBody>
      </p:sp>
      <p:sp>
        <p:nvSpPr>
          <p:cNvPr id="29" name="Text 24"/>
          <p:cNvSpPr/>
          <p:nvPr/>
        </p:nvSpPr>
        <p:spPr>
          <a:xfrm>
            <a:off x="2631625" y="3218648"/>
            <a:ext cx="3650935" cy="380391"/>
          </a:xfrm>
          <a:prstGeom prst="rect">
            <a:avLst/>
          </a:prstGeom>
          <a:noFill/>
          <a:ln/>
        </p:spPr>
        <p:txBody>
          <a:bodyPr wrap="square" lIns="160644" tIns="107203" rIns="160644" bIns="107203" rtlCol="0" anchor="ctr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抛丸 + 热镀锌 + 喷砂 + 底漆 + 粉末</a:t>
            </a:r>
            <a:endParaRPr lang="en-US" sz="1008" dirty="0"/>
          </a:p>
        </p:txBody>
      </p:sp>
      <p:sp>
        <p:nvSpPr>
          <p:cNvPr id="30" name="Text 25"/>
          <p:cNvSpPr/>
          <p:nvPr/>
        </p:nvSpPr>
        <p:spPr>
          <a:xfrm>
            <a:off x="6282559" y="3223744"/>
            <a:ext cx="1564671" cy="370196"/>
          </a:xfrm>
          <a:prstGeom prst="rect">
            <a:avLst/>
          </a:prstGeom>
          <a:noFill/>
          <a:ln/>
        </p:spPr>
        <p:txBody>
          <a:bodyPr wrap="square" lIns="160644" tIns="107203" rIns="160644" bIns="107203" rtlCol="0" anchor="ctr">
            <a:spAutoFit/>
          </a:bodyPr>
          <a:lstStyle/>
          <a:p>
            <a:pPr>
              <a:lnSpc>
                <a:spcPct val="112000"/>
              </a:lnSpc>
            </a:pPr>
            <a:r>
              <a:rPr lang="en-US" sz="945" b="1" dirty="0">
                <a:solidFill>
                  <a:srgbClr val="333333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50~80年</a:t>
            </a:r>
            <a:endParaRPr lang="en-US" sz="945" dirty="0"/>
          </a:p>
        </p:txBody>
      </p:sp>
      <p:sp>
        <p:nvSpPr>
          <p:cNvPr id="31" name="Text 26"/>
          <p:cNvSpPr/>
          <p:nvPr/>
        </p:nvSpPr>
        <p:spPr>
          <a:xfrm>
            <a:off x="7847230" y="3218648"/>
            <a:ext cx="3129448" cy="380391"/>
          </a:xfrm>
          <a:prstGeom prst="rect">
            <a:avLst/>
          </a:prstGeom>
          <a:noFill/>
          <a:ln/>
        </p:spPr>
        <p:txBody>
          <a:bodyPr wrap="square" lIns="160644" tIns="107203" rIns="160644" bIns="107203" rtlCol="0" anchor="ctr">
            <a:spAutoFit/>
          </a:bodyPr>
          <a:lstStyle/>
          <a:p>
            <a:pPr>
              <a:lnSpc>
                <a:spcPct val="112000"/>
              </a:lnSpc>
            </a:pPr>
            <a:r>
              <a:rPr lang="en-US" sz="1008" dirty="0">
                <a:solidFill>
                  <a:srgbClr val="333333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—</a:t>
            </a:r>
            <a:endParaRPr lang="en-US" sz="1008" dirty="0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0896" y="3864479"/>
            <a:ext cx="162005" cy="162005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774903" y="3827354"/>
            <a:ext cx="875240" cy="17453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r>
              <a:rPr lang="en-US" sz="1134" b="1" dirty="0">
                <a:solidFill>
                  <a:srgbClr val="1A3A6B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材料老化现状</a:t>
            </a:r>
            <a:endParaRPr lang="en-US" sz="1134" dirty="0"/>
          </a:p>
        </p:txBody>
      </p:sp>
      <p:sp>
        <p:nvSpPr>
          <p:cNvPr id="34" name="Shape 28"/>
          <p:cNvSpPr/>
          <p:nvPr/>
        </p:nvSpPr>
        <p:spPr>
          <a:xfrm>
            <a:off x="540897" y="4288616"/>
            <a:ext cx="3360079" cy="1329786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5" name="Shape 29"/>
          <p:cNvSpPr/>
          <p:nvPr/>
        </p:nvSpPr>
        <p:spPr>
          <a:xfrm>
            <a:off x="540897" y="4288616"/>
            <a:ext cx="3360079" cy="36001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6" name="Shape 30"/>
          <p:cNvSpPr/>
          <p:nvPr/>
        </p:nvSpPr>
        <p:spPr>
          <a:xfrm>
            <a:off x="3891975" y="4288616"/>
            <a:ext cx="9001" cy="132978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7" name="Shape 31"/>
          <p:cNvSpPr/>
          <p:nvPr/>
        </p:nvSpPr>
        <p:spPr>
          <a:xfrm>
            <a:off x="540897" y="5609401"/>
            <a:ext cx="3360079" cy="900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8" name="Shape 32"/>
          <p:cNvSpPr/>
          <p:nvPr/>
        </p:nvSpPr>
        <p:spPr>
          <a:xfrm>
            <a:off x="540896" y="4288616"/>
            <a:ext cx="9001" cy="1329786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39" name="Text 33"/>
          <p:cNvSpPr/>
          <p:nvPr/>
        </p:nvSpPr>
        <p:spPr>
          <a:xfrm>
            <a:off x="675900" y="4423620"/>
            <a:ext cx="3090071" cy="261134"/>
          </a:xfrm>
          <a:prstGeom prst="rect">
            <a:avLst/>
          </a:prstGeom>
          <a:noFill/>
          <a:ln/>
        </p:spPr>
        <p:txBody>
          <a:bodyPr wrap="square" lIns="0" tIns="0" rIns="0" bIns="85762" rtlCol="0" anchor="t">
            <a:spAutoFit/>
          </a:bodyPr>
          <a:lstStyle/>
          <a:p>
            <a:r>
              <a:rPr lang="en-US" sz="1134" b="1" dirty="0">
                <a:solidFill>
                  <a:srgbClr val="D32F2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PC板</a:t>
            </a:r>
            <a:endParaRPr lang="en-US" sz="1134" dirty="0"/>
          </a:p>
        </p:txBody>
      </p:sp>
      <p:sp>
        <p:nvSpPr>
          <p:cNvPr id="40" name="Text 34"/>
          <p:cNvSpPr/>
          <p:nvPr/>
        </p:nvSpPr>
        <p:spPr>
          <a:xfrm>
            <a:off x="675900" y="4830880"/>
            <a:ext cx="3090071" cy="359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5555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在紫外线长期照射下迅速黄化、雾化，透光率从初始90%以上急剧下降，严重影响城市景观与行车视线。</a:t>
            </a:r>
            <a:endParaRPr lang="en-US" sz="1008" dirty="0"/>
          </a:p>
        </p:txBody>
      </p:sp>
      <p:sp>
        <p:nvSpPr>
          <p:cNvPr id="41" name="Shape 35"/>
          <p:cNvSpPr/>
          <p:nvPr/>
        </p:nvSpPr>
        <p:spPr>
          <a:xfrm>
            <a:off x="4080981" y="4288616"/>
            <a:ext cx="3360079" cy="1284784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42" name="Shape 36"/>
          <p:cNvSpPr/>
          <p:nvPr/>
        </p:nvSpPr>
        <p:spPr>
          <a:xfrm>
            <a:off x="4080981" y="4288616"/>
            <a:ext cx="3360079" cy="36001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43" name="Shape 37"/>
          <p:cNvSpPr/>
          <p:nvPr/>
        </p:nvSpPr>
        <p:spPr>
          <a:xfrm>
            <a:off x="7432059" y="4288616"/>
            <a:ext cx="9001" cy="128478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44" name="Shape 38"/>
          <p:cNvSpPr/>
          <p:nvPr/>
        </p:nvSpPr>
        <p:spPr>
          <a:xfrm>
            <a:off x="4080981" y="5564399"/>
            <a:ext cx="3360079" cy="900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45" name="Shape 39"/>
          <p:cNvSpPr/>
          <p:nvPr/>
        </p:nvSpPr>
        <p:spPr>
          <a:xfrm>
            <a:off x="4080980" y="4288616"/>
            <a:ext cx="9001" cy="128478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46" name="Text 40"/>
          <p:cNvSpPr/>
          <p:nvPr/>
        </p:nvSpPr>
        <p:spPr>
          <a:xfrm>
            <a:off x="4215984" y="4423620"/>
            <a:ext cx="3090071" cy="261134"/>
          </a:xfrm>
          <a:prstGeom prst="rect">
            <a:avLst/>
          </a:prstGeom>
          <a:noFill/>
          <a:ln/>
        </p:spPr>
        <p:txBody>
          <a:bodyPr wrap="square" lIns="0" tIns="0" rIns="0" bIns="85762" rtlCol="0" anchor="t">
            <a:spAutoFit/>
          </a:bodyPr>
          <a:lstStyle/>
          <a:p>
            <a:r>
              <a:rPr lang="en-US" sz="1134" b="1" dirty="0">
                <a:solidFill>
                  <a:srgbClr val="D32F2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夹胶玻璃</a:t>
            </a:r>
            <a:endParaRPr lang="en-US" sz="1134" dirty="0"/>
          </a:p>
        </p:txBody>
      </p:sp>
      <p:sp>
        <p:nvSpPr>
          <p:cNvPr id="47" name="Text 41"/>
          <p:cNvSpPr/>
          <p:nvPr/>
        </p:nvSpPr>
        <p:spPr>
          <a:xfrm>
            <a:off x="4215984" y="4830880"/>
            <a:ext cx="3090071" cy="359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5555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易沾灰、易雾化、易破裂，使用10年后透光性大幅衰减，且碎裂后存在严重的安全隐患。</a:t>
            </a:r>
            <a:endParaRPr lang="en-US" sz="1008" dirty="0"/>
          </a:p>
        </p:txBody>
      </p:sp>
      <p:sp>
        <p:nvSpPr>
          <p:cNvPr id="48" name="Shape 42"/>
          <p:cNvSpPr/>
          <p:nvPr/>
        </p:nvSpPr>
        <p:spPr>
          <a:xfrm>
            <a:off x="7621064" y="4288616"/>
            <a:ext cx="3360115" cy="1284784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49" name="Shape 43"/>
          <p:cNvSpPr/>
          <p:nvPr/>
        </p:nvSpPr>
        <p:spPr>
          <a:xfrm>
            <a:off x="7621064" y="4288616"/>
            <a:ext cx="3360115" cy="36001"/>
          </a:xfrm>
          <a:prstGeom prst="rect">
            <a:avLst/>
          </a:prstGeom>
          <a:solidFill>
            <a:srgbClr val="D32F2F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50" name="Shape 44"/>
          <p:cNvSpPr/>
          <p:nvPr/>
        </p:nvSpPr>
        <p:spPr>
          <a:xfrm>
            <a:off x="10972177" y="4288616"/>
            <a:ext cx="9001" cy="128478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51" name="Shape 45"/>
          <p:cNvSpPr/>
          <p:nvPr/>
        </p:nvSpPr>
        <p:spPr>
          <a:xfrm>
            <a:off x="7621064" y="5564399"/>
            <a:ext cx="3360115" cy="9001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52" name="Shape 46"/>
          <p:cNvSpPr/>
          <p:nvPr/>
        </p:nvSpPr>
        <p:spPr>
          <a:xfrm>
            <a:off x="7621063" y="4288616"/>
            <a:ext cx="9001" cy="1284784"/>
          </a:xfrm>
          <a:prstGeom prst="rect">
            <a:avLst/>
          </a:prstGeom>
          <a:solidFill>
            <a:srgbClr val="E0E0E0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53" name="Text 47"/>
          <p:cNvSpPr/>
          <p:nvPr/>
        </p:nvSpPr>
        <p:spPr>
          <a:xfrm>
            <a:off x="7756068" y="4423620"/>
            <a:ext cx="3090107" cy="261134"/>
          </a:xfrm>
          <a:prstGeom prst="rect">
            <a:avLst/>
          </a:prstGeom>
          <a:noFill/>
          <a:ln/>
        </p:spPr>
        <p:txBody>
          <a:bodyPr wrap="square" lIns="0" tIns="0" rIns="0" bIns="85762" rtlCol="0" anchor="t">
            <a:spAutoFit/>
          </a:bodyPr>
          <a:lstStyle/>
          <a:p>
            <a:r>
              <a:rPr lang="en-US" sz="1134" b="1" dirty="0">
                <a:solidFill>
                  <a:srgbClr val="D32F2F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镀锌钢板</a:t>
            </a:r>
            <a:endParaRPr lang="en-US" sz="1134" dirty="0"/>
          </a:p>
        </p:txBody>
      </p:sp>
      <p:sp>
        <p:nvSpPr>
          <p:cNvPr id="54" name="Text 48"/>
          <p:cNvSpPr/>
          <p:nvPr/>
        </p:nvSpPr>
        <p:spPr>
          <a:xfrm>
            <a:off x="7756068" y="4830880"/>
            <a:ext cx="3090107" cy="3593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008" dirty="0">
                <a:solidFill>
                  <a:srgbClr val="555555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在沿海或高腐蚀环境下，钢立柱与屏体面板锈蚀严重，涂层大面积脱落，直接影响结构承载安全。</a:t>
            </a:r>
            <a:endParaRPr lang="en-US" sz="1008" dirty="0"/>
          </a:p>
        </p:txBody>
      </p:sp>
      <p:sp>
        <p:nvSpPr>
          <p:cNvPr id="55" name="Shape 49"/>
          <p:cNvSpPr/>
          <p:nvPr/>
        </p:nvSpPr>
        <p:spPr>
          <a:xfrm>
            <a:off x="540896" y="5798406"/>
            <a:ext cx="10440282" cy="423011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56" name="Text 50"/>
          <p:cNvSpPr/>
          <p:nvPr/>
        </p:nvSpPr>
        <p:spPr>
          <a:xfrm>
            <a:off x="540896" y="5798407"/>
            <a:ext cx="10440282" cy="424587"/>
          </a:xfrm>
          <a:prstGeom prst="rect">
            <a:avLst/>
          </a:prstGeom>
          <a:noFill/>
          <a:ln/>
        </p:spPr>
        <p:txBody>
          <a:bodyPr wrap="square" lIns="214246" tIns="128643" rIns="214246" bIns="128643" rtlCol="0" anchor="t">
            <a:spAutoFit/>
          </a:bodyPr>
          <a:lstStyle/>
          <a:p>
            <a:pPr algn="ctr"/>
            <a:r>
              <a:rPr lang="en-US" sz="1071" kern="0" spc="1" dirty="0">
                <a:solidFill>
                  <a:srgbClr val="FFFFFF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行业现状总结：声屏障质量参差不齐导致后续维保费用大幅增加，</a:t>
            </a:r>
            <a:r>
              <a:rPr lang="en-US" sz="1008" b="1" kern="0" spc="1" dirty="0">
                <a:solidFill>
                  <a:srgbClr val="FFC107"/>
                </a:solidFill>
                <a:latin typeface="Noto Sans SC Bold" pitchFamily="34" charset="0"/>
                <a:ea typeface="Noto Sans SC Bold" pitchFamily="34" charset="-122"/>
                <a:cs typeface="Noto Sans SC Bold" pitchFamily="34" charset="-120"/>
              </a:rPr>
              <a:t>全生命周期综合成本远超优质产品！</a:t>
            </a:r>
            <a:endParaRPr lang="en-US" sz="1071" dirty="0"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preencoded.png">
            <a:extLst>
              <a:ext uri="{FF2B5EF4-FFF2-40B4-BE49-F238E27FC236}">
                <a16:creationId xmlns:a16="http://schemas.microsoft.com/office/drawing/2014/main" id="{08442466-63E3-8CF1-492B-6571526F035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882" y="-1"/>
            <a:ext cx="11520311" cy="6480175"/>
          </a:xfrm>
          <a:custGeom>
            <a:avLst/>
            <a:gdLst>
              <a:gd name="csX0" fmla="*/ 9601713 w 11520311"/>
              <a:gd name="csY0" fmla="*/ 215878 h 6480175"/>
              <a:gd name="csX1" fmla="*/ 9601713 w 11520311"/>
              <a:gd name="csY1" fmla="*/ 1007933 h 6480175"/>
              <a:gd name="csX2" fmla="*/ 11304540 w 11520311"/>
              <a:gd name="csY2" fmla="*/ 1007933 h 6480175"/>
              <a:gd name="csX3" fmla="*/ 11304540 w 11520311"/>
              <a:gd name="csY3" fmla="*/ 215878 h 6480175"/>
              <a:gd name="csX4" fmla="*/ 0 w 11520311"/>
              <a:gd name="csY4" fmla="*/ 0 h 6480175"/>
              <a:gd name="csX5" fmla="*/ 11520311 w 11520311"/>
              <a:gd name="csY5" fmla="*/ 0 h 6480175"/>
              <a:gd name="csX6" fmla="*/ 11520311 w 11520311"/>
              <a:gd name="csY6" fmla="*/ 6480175 h 6480175"/>
              <a:gd name="csX7" fmla="*/ 0 w 11520311"/>
              <a:gd name="csY7" fmla="*/ 6480175 h 648017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520311" h="6480175">
                <a:moveTo>
                  <a:pt x="9601713" y="215878"/>
                </a:moveTo>
                <a:lnTo>
                  <a:pt x="9601713" y="1007933"/>
                </a:lnTo>
                <a:lnTo>
                  <a:pt x="11304540" y="1007933"/>
                </a:lnTo>
                <a:lnTo>
                  <a:pt x="11304540" y="215878"/>
                </a:lnTo>
                <a:close/>
                <a:moveTo>
                  <a:pt x="0" y="0"/>
                </a:moveTo>
                <a:lnTo>
                  <a:pt x="11520311" y="0"/>
                </a:lnTo>
                <a:lnTo>
                  <a:pt x="11520311" y="6480175"/>
                </a:lnTo>
                <a:lnTo>
                  <a:pt x="0" y="6480175"/>
                </a:lnTo>
                <a:close/>
              </a:path>
            </a:pathLst>
          </a:custGeom>
        </p:spPr>
      </p:pic>
      <p:sp>
        <p:nvSpPr>
          <p:cNvPr id="4" name="Text 0"/>
          <p:cNvSpPr/>
          <p:nvPr/>
        </p:nvSpPr>
        <p:spPr>
          <a:xfrm>
            <a:off x="473395" y="2178059"/>
            <a:ext cx="10575285" cy="47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3087" b="1" kern="0" spc="-1" dirty="0">
                <a:solidFill>
                  <a:srgbClr val="1565C0"/>
                </a:solidFill>
                <a:latin typeface="Noto Sans SC Black" pitchFamily="34" charset="0"/>
                <a:ea typeface="Noto Sans SC Black" pitchFamily="34" charset="-122"/>
                <a:cs typeface="Noto Sans SC Black" pitchFamily="34" charset="-120"/>
              </a:rPr>
              <a:t>直面行业痛点，以技术创新守护每一条公路的安全与宁静</a:t>
            </a:r>
            <a:endParaRPr lang="en-US" sz="3087" dirty="0"/>
          </a:p>
        </p:txBody>
      </p:sp>
      <p:sp>
        <p:nvSpPr>
          <p:cNvPr id="5" name="Text 1"/>
          <p:cNvSpPr/>
          <p:nvPr/>
        </p:nvSpPr>
        <p:spPr>
          <a:xfrm>
            <a:off x="473395" y="2983580"/>
            <a:ext cx="10575285" cy="290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1890" dirty="0">
                <a:solidFill>
                  <a:srgbClr val="1A3A6B"/>
                </a:solidFill>
                <a:latin typeface="Noto Sans SC Medium" pitchFamily="34" charset="0"/>
                <a:ea typeface="Noto Sans SC Medium" pitchFamily="34" charset="-122"/>
                <a:cs typeface="Noto Sans SC Medium" pitchFamily="34" charset="-120"/>
              </a:rPr>
              <a:t>中驰股份 · 全链条声屏障解决方案提供商</a:t>
            </a:r>
            <a:endParaRPr lang="en-US" sz="1890" dirty="0"/>
          </a:p>
        </p:txBody>
      </p:sp>
      <p:sp>
        <p:nvSpPr>
          <p:cNvPr id="6" name="Shape 2"/>
          <p:cNvSpPr/>
          <p:nvPr/>
        </p:nvSpPr>
        <p:spPr>
          <a:xfrm>
            <a:off x="882" y="5220141"/>
            <a:ext cx="11520311" cy="1260034"/>
          </a:xfrm>
          <a:prstGeom prst="rect">
            <a:avLst/>
          </a:prstGeom>
          <a:solidFill>
            <a:srgbClr val="1A3A6B"/>
          </a:solidFill>
          <a:ln/>
        </p:spPr>
        <p:txBody>
          <a:bodyPr/>
          <a:lstStyle/>
          <a:p>
            <a:endParaRPr sz="2142"/>
          </a:p>
        </p:txBody>
      </p:sp>
      <p:sp>
        <p:nvSpPr>
          <p:cNvPr id="7" name="Text 3"/>
          <p:cNvSpPr/>
          <p:nvPr/>
        </p:nvSpPr>
        <p:spPr>
          <a:xfrm>
            <a:off x="9504812" y="5749397"/>
            <a:ext cx="1476366" cy="193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lang="en-US" sz="107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解决方案中心 | 联系我们</a:t>
            </a:r>
            <a:endParaRPr lang="en-US" sz="1071" dirty="0"/>
          </a:p>
        </p:txBody>
      </p:sp>
      <p:sp>
        <p:nvSpPr>
          <p:cNvPr id="8" name="Text 4"/>
          <p:cNvSpPr/>
          <p:nvPr/>
        </p:nvSpPr>
        <p:spPr>
          <a:xfrm>
            <a:off x="10535544" y="5979782"/>
            <a:ext cx="445635" cy="19396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lang="en-US" sz="1071" dirty="0">
                <a:solidFill>
                  <a:srgbClr val="FFFFF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2026年</a:t>
            </a:r>
            <a:endParaRPr lang="en-US" sz="1071" dirty="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82" y="-1"/>
            <a:ext cx="15360031" cy="20736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42"/>
          </a:p>
        </p:txBody>
      </p:sp>
      <p:sp>
        <p:nvSpPr>
          <p:cNvPr id="3" name="TextBox 2"/>
          <p:cNvSpPr txBox="1"/>
          <p:nvPr/>
        </p:nvSpPr>
        <p:spPr>
          <a:xfrm>
            <a:off x="634499" y="403211"/>
            <a:ext cx="1976823" cy="32502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12" b="1">
                <a:solidFill>
                  <a:srgbClr val="1A3A6B"/>
                </a:solidFill>
                <a:latin typeface="Microsoft YaHei"/>
              </a:rPr>
              <a:t>中驰智能PPT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82887" y="403211"/>
            <a:ext cx="2085827" cy="3055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86" b="1">
                <a:solidFill>
                  <a:srgbClr val="CA8A04"/>
                </a:solidFill>
                <a:latin typeface="Microsoft YaHei"/>
              </a:rPr>
              <a:t>M1/M2 | 项目生成信息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7304" y="806422"/>
            <a:ext cx="2714205" cy="5964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76" b="1">
                <a:solidFill>
                  <a:srgbClr val="1A3A6B"/>
                </a:solidFill>
                <a:latin typeface="Microsoft YaHei"/>
              </a:rPr>
              <a:t>项目生成信息</a:t>
            </a:r>
          </a:p>
        </p:txBody>
      </p:sp>
      <p:sp>
        <p:nvSpPr>
          <p:cNvPr id="6" name="Rectangle 5"/>
          <p:cNvSpPr/>
          <p:nvPr/>
        </p:nvSpPr>
        <p:spPr>
          <a:xfrm>
            <a:off x="807303" y="1555241"/>
            <a:ext cx="2304062" cy="6912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142"/>
          </a:p>
        </p:txBody>
      </p:sp>
      <p:sp>
        <p:nvSpPr>
          <p:cNvPr id="7" name="TextBox 6"/>
          <p:cNvSpPr txBox="1"/>
          <p:nvPr/>
        </p:nvSpPr>
        <p:spPr>
          <a:xfrm>
            <a:off x="1037710" y="1900851"/>
            <a:ext cx="3496022" cy="4025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16">
                <a:solidFill>
                  <a:srgbClr val="1F2937"/>
                </a:solidFill>
                <a:latin typeface="Microsoft YaHei"/>
              </a:rPr>
              <a:t>项目名称：{{project_name}}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7710" y="2534468"/>
            <a:ext cx="4058675" cy="4025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16">
                <a:solidFill>
                  <a:srgbClr val="1F2937"/>
                </a:solidFill>
                <a:latin typeface="Microsoft YaHei"/>
              </a:rPr>
              <a:t>项目所在地：{{project_location}}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7710" y="3168085"/>
            <a:ext cx="3820277" cy="4025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16">
                <a:solidFill>
                  <a:srgbClr val="1F2937"/>
                </a:solidFill>
                <a:latin typeface="Microsoft YaHei"/>
              </a:rPr>
              <a:t>建设/业主单位：{{owner_unit}}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710" y="3801702"/>
            <a:ext cx="3098477" cy="4025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16">
                <a:solidFill>
                  <a:srgbClr val="1F2937"/>
                </a:solidFill>
                <a:latin typeface="Microsoft YaHei"/>
              </a:rPr>
              <a:t>产品线：{{product_line}}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710" y="4435319"/>
            <a:ext cx="3071675" cy="4025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16">
                <a:solidFill>
                  <a:srgbClr val="1F2937"/>
                </a:solidFill>
                <a:latin typeface="Microsoft YaHei"/>
              </a:rPr>
              <a:t>线路名称：{{line_name}}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710" y="5068937"/>
            <a:ext cx="3788858" cy="4025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16">
                <a:solidFill>
                  <a:srgbClr val="1F2937"/>
                </a:solidFill>
                <a:latin typeface="Microsoft YaHei"/>
              </a:rPr>
              <a:t>现场痛点：{{site_pain_points}}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710" y="5702554"/>
            <a:ext cx="4515980" cy="40254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16">
                <a:solidFill>
                  <a:srgbClr val="1F2937"/>
                </a:solidFill>
                <a:latin typeface="Microsoft YaHei"/>
              </a:rPr>
              <a:t>施工场景：{{construction_scenario}}</a:t>
            </a:r>
          </a:p>
        </p:txBody>
      </p:sp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2d3d0867-56ac-4b91-885a-98830f3a9883"/>
  <p:tag name="COMMONDATA" val="eyJoZGlkIjoiYzdmNGQzMDgyYjljZWJkYmE4MzFmN2Y2ZTVjN2YxYTkifQ=="/>
  <p:tag name="RESOURCE_RECORD_KEY" val="{&quot;29&quot;:[50053212,50000264,50000269,50000088,50053352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元素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包图主题2">
  <a:themeElements>
    <a:clrScheme name="包图主题2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1A89E"/>
      </a:accent1>
      <a:accent2>
        <a:srgbClr val="0C2834"/>
      </a:accent2>
      <a:accent3>
        <a:srgbClr val="015E58"/>
      </a:accent3>
      <a:accent4>
        <a:srgbClr val="07161D"/>
      </a:accent4>
      <a:accent5>
        <a:srgbClr val="004844"/>
      </a:accent5>
      <a:accent6>
        <a:srgbClr val="051116"/>
      </a:accent6>
      <a:hlink>
        <a:srgbClr val="0000FF"/>
      </a:hlink>
      <a:folHlink>
        <a:srgbClr val="FF00FF"/>
      </a:folHlink>
    </a:clrScheme>
    <a:fontScheme name="包图主题2">
      <a:majorFont>
        <a:latin typeface="Helvetica"/>
        <a:ea typeface="Helvetica"/>
        <a:cs typeface="Helvetica"/>
      </a:majorFont>
      <a:minorFont>
        <a:latin typeface="等线"/>
        <a:ea typeface="等线"/>
        <a:cs typeface="等线"/>
      </a:minorFont>
    </a:fontScheme>
    <a:fmtScheme name="包图主题2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等线" panose="02010600030101010101" pitchFamily="2" charset="-122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762</Words>
  <Application>Microsoft Office PowerPoint</Application>
  <PresentationFormat>自定义</PresentationFormat>
  <Paragraphs>234</Paragraphs>
  <Slides>11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4" baseType="lpstr">
      <vt:lpstr>Hei Regular</vt:lpstr>
      <vt:lpstr>Heiti SC Medium</vt:lpstr>
      <vt:lpstr>Noto Sans SC</vt:lpstr>
      <vt:lpstr>Noto Sans SC Black</vt:lpstr>
      <vt:lpstr>Noto Sans SC Bold</vt:lpstr>
      <vt:lpstr>Noto Sans SC Medium</vt:lpstr>
      <vt:lpstr>黑体</vt:lpstr>
      <vt:lpstr>Microsoft YaHei</vt:lpstr>
      <vt:lpstr>微软雅黑 Light</vt:lpstr>
      <vt:lpstr>Arial</vt:lpstr>
      <vt:lpstr>Calibri</vt:lpstr>
      <vt:lpstr>Palatino Linotype</vt:lpstr>
      <vt:lpstr>元素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zm</cp:lastModifiedBy>
  <cp:revision>207</cp:revision>
  <cp:lastPrinted>2024-05-27T04:20:00Z</cp:lastPrinted>
  <dcterms:created xsi:type="dcterms:W3CDTF">2024-05-27T04:50:00Z</dcterms:created>
  <dcterms:modified xsi:type="dcterms:W3CDTF">2026-05-26T06:15:34Z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DE9C49FFB710414A91E48644DEB2DA1B_13</vt:lpwstr>
  </property>
</Properties>
</file>